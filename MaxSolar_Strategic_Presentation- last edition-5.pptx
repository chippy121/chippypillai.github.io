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2" r:id="rId4"/>
    <p:sldId id="258" r:id="rId5"/>
    <p:sldId id="259" r:id="rId6"/>
    <p:sldId id="270" r:id="rId7"/>
    <p:sldId id="272" r:id="rId8"/>
    <p:sldId id="260" r:id="rId9"/>
    <p:sldId id="261" r:id="rId10"/>
    <p:sldId id="286" r:id="rId11"/>
    <p:sldId id="287" r:id="rId12"/>
    <p:sldId id="304" r:id="rId13"/>
    <p:sldId id="289" r:id="rId14"/>
    <p:sldId id="290" r:id="rId15"/>
    <p:sldId id="307" r:id="rId16"/>
    <p:sldId id="291" r:id="rId17"/>
    <p:sldId id="292" r:id="rId18"/>
    <p:sldId id="293" r:id="rId19"/>
    <p:sldId id="294" r:id="rId20"/>
    <p:sldId id="295" r:id="rId21"/>
    <p:sldId id="296" r:id="rId22"/>
    <p:sldId id="269" r:id="rId23"/>
    <p:sldId id="262" r:id="rId24"/>
    <p:sldId id="267" r:id="rId25"/>
    <p:sldId id="268" r:id="rId26"/>
    <p:sldId id="263" r:id="rId27"/>
    <p:sldId id="264" r:id="rId28"/>
    <p:sldId id="311" r:id="rId29"/>
    <p:sldId id="313" r:id="rId30"/>
    <p:sldId id="297" r:id="rId31"/>
    <p:sldId id="274" r:id="rId32"/>
    <p:sldId id="282" r:id="rId33"/>
    <p:sldId id="316" r:id="rId34"/>
    <p:sldId id="317" r:id="rId35"/>
    <p:sldId id="318" r:id="rId36"/>
    <p:sldId id="319" r:id="rId37"/>
    <p:sldId id="314" r:id="rId38"/>
    <p:sldId id="310" r:id="rId39"/>
    <p:sldId id="300" r:id="rId40"/>
    <p:sldId id="301" r:id="rId41"/>
    <p:sldId id="305" r:id="rId42"/>
    <p:sldId id="279" r:id="rId43"/>
    <p:sldId id="315" r:id="rId44"/>
    <p:sldId id="265" r:id="rId45"/>
    <p:sldId id="266" r:id="rId46"/>
    <p:sldId id="285" r:id="rId47"/>
    <p:sldId id="280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4D261-473E-02FD-7BF0-2C3B3B2CFB6E}" v="16" dt="2025-04-04T13:07:21.409"/>
    <p1510:client id="{220C4BA7-2293-B9F4-459A-3EBECE8B0CB7}" v="89" dt="2025-04-04T11:37:25.199"/>
    <p1510:client id="{4542E3F9-14E2-0A49-8471-D70F588C1003}" v="49" dt="2025-04-04T09:56:45.242"/>
    <p1510:client id="{4E6B0AC3-7D9E-47EA-8568-E1CBF3D276A2}" v="610" dt="2025-04-03T18:07:53.002"/>
    <p1510:client id="{60C7D1D5-3FE0-422A-BDBA-5B9A9456BD87}" v="36" dt="2025-04-04T13:23:15.829"/>
    <p1510:client id="{6E39E6AC-FDA5-A4A9-6092-70FD91E6A99A}" v="312" dt="2025-04-04T13:42:55.740"/>
    <p1510:client id="{72BA2617-918C-E103-C6CE-DB991855132C}" v="973" dt="2025-04-04T08:06:33.874"/>
    <p1510:client id="{91A5067A-685C-3B70-8A13-22F175211C35}" v="144" dt="2025-04-04T12:10:41.460"/>
    <p1510:client id="{9D435346-0EF7-4686-BF6C-E1BE061C5C68}" v="860" dt="2025-04-04T13:51:41.525"/>
    <p1510:client id="{C5E58949-DA77-570B-15CC-B07579713124}" v="16" dt="2025-04-03T22:35:11.738"/>
    <p1510:client id="{CCCB765B-56E4-65DA-CF99-C8257B66F95F}" v="404" dt="2025-04-04T13:51:14.143"/>
    <p1510:client id="{DA5D1171-0DE8-2FF1-7696-8AC327796FB0}" v="2119" dt="2025-04-04T13:52:52.446"/>
    <p1510:client id="{E601B1AA-FD08-C15D-27E2-ADBB82EFB4B8}" v="2" dt="2025-04-03T22:48:30.43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Juhani\Omat\Opiskelu\Vaasa\ISAN3040%20Project%20Portfolio%20Management\Task%205%20EV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sz="2000" b="1"/>
              <a:t>Bulls Eye Chart</a:t>
            </a:r>
            <a:endParaRPr lang="fi-FI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SPI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Sheet1!$B$2:$B$15</c:f>
              <c:strCache>
                <c:ptCount val="14"/>
                <c:pt idx="0">
                  <c:v>Project Alpha</c:v>
                </c:pt>
                <c:pt idx="1">
                  <c:v>Project Beta</c:v>
                </c:pt>
                <c:pt idx="2">
                  <c:v>Project Delta</c:v>
                </c:pt>
                <c:pt idx="3">
                  <c:v>Project Nord</c:v>
                </c:pt>
                <c:pt idx="4">
                  <c:v>Project Sky</c:v>
                </c:pt>
                <c:pt idx="5">
                  <c:v>Project Carbon 1</c:v>
                </c:pt>
                <c:pt idx="6">
                  <c:v>Project Carbon 2</c:v>
                </c:pt>
                <c:pt idx="7">
                  <c:v>Project Serve 1</c:v>
                </c:pt>
                <c:pt idx="8">
                  <c:v>Project Delta 2</c:v>
                </c:pt>
                <c:pt idx="9">
                  <c:v>Project IoT</c:v>
                </c:pt>
                <c:pt idx="10">
                  <c:v>Project new segment</c:v>
                </c:pt>
                <c:pt idx="11">
                  <c:v>Project Process Transformation</c:v>
                </c:pt>
                <c:pt idx="12">
                  <c:v>Project Delta 3</c:v>
                </c:pt>
                <c:pt idx="13">
                  <c:v>Project Beta 2</c:v>
                </c:pt>
              </c:strCache>
            </c:strRef>
          </c:cat>
          <c:val>
            <c:numRef>
              <c:f>Sheet1!$N$2:$N$15</c:f>
              <c:numCache>
                <c:formatCode>0.00</c:formatCode>
                <c:ptCount val="14"/>
                <c:pt idx="0">
                  <c:v>1.1052631578947369</c:v>
                </c:pt>
                <c:pt idx="1">
                  <c:v>0.76923076923076927</c:v>
                </c:pt>
                <c:pt idx="2">
                  <c:v>1.0714285714285714</c:v>
                </c:pt>
                <c:pt idx="3">
                  <c:v>0.98684210526315785</c:v>
                </c:pt>
                <c:pt idx="4">
                  <c:v>1.3333333333333333</c:v>
                </c:pt>
                <c:pt idx="5">
                  <c:v>1.05</c:v>
                </c:pt>
                <c:pt idx="6">
                  <c:v>0.96</c:v>
                </c:pt>
                <c:pt idx="7">
                  <c:v>1.0362694300518134</c:v>
                </c:pt>
                <c:pt idx="8">
                  <c:v>0.48684210526315791</c:v>
                </c:pt>
                <c:pt idx="9">
                  <c:v>0.91428571428571426</c:v>
                </c:pt>
                <c:pt idx="10">
                  <c:v>1.0809523809523809</c:v>
                </c:pt>
                <c:pt idx="11">
                  <c:v>1.1040000000000001</c:v>
                </c:pt>
                <c:pt idx="12">
                  <c:v>0.97727272727272729</c:v>
                </c:pt>
                <c:pt idx="13">
                  <c:v>1.1666666666666667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B-4C75-96F4-1CF5F2B00C3C}"/>
            </c:ext>
          </c:extLst>
        </c:ser>
        <c:ser>
          <c:idx val="1"/>
          <c:order val="1"/>
          <c:tx>
            <c:strRef>
              <c:f>Sheet1!$O$1</c:f>
              <c:strCache>
                <c:ptCount val="1"/>
                <c:pt idx="0">
                  <c:v>CPI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Sheet1!$B$2:$B$15</c:f>
              <c:strCache>
                <c:ptCount val="14"/>
                <c:pt idx="0">
                  <c:v>Project Alpha</c:v>
                </c:pt>
                <c:pt idx="1">
                  <c:v>Project Beta</c:v>
                </c:pt>
                <c:pt idx="2">
                  <c:v>Project Delta</c:v>
                </c:pt>
                <c:pt idx="3">
                  <c:v>Project Nord</c:v>
                </c:pt>
                <c:pt idx="4">
                  <c:v>Project Sky</c:v>
                </c:pt>
                <c:pt idx="5">
                  <c:v>Project Carbon 1</c:v>
                </c:pt>
                <c:pt idx="6">
                  <c:v>Project Carbon 2</c:v>
                </c:pt>
                <c:pt idx="7">
                  <c:v>Project Serve 1</c:v>
                </c:pt>
                <c:pt idx="8">
                  <c:v>Project Delta 2</c:v>
                </c:pt>
                <c:pt idx="9">
                  <c:v>Project IoT</c:v>
                </c:pt>
                <c:pt idx="10">
                  <c:v>Project new segment</c:v>
                </c:pt>
                <c:pt idx="11">
                  <c:v>Project Process Transformation</c:v>
                </c:pt>
                <c:pt idx="12">
                  <c:v>Project Delta 3</c:v>
                </c:pt>
                <c:pt idx="13">
                  <c:v>Project Beta 2</c:v>
                </c:pt>
              </c:strCache>
            </c:strRef>
          </c:cat>
          <c:val>
            <c:numRef>
              <c:f>Sheet1!$O$2:$O$15</c:f>
              <c:numCache>
                <c:formatCode>0.00</c:formatCode>
                <c:ptCount val="14"/>
                <c:pt idx="0">
                  <c:v>0.93333333333333335</c:v>
                </c:pt>
                <c:pt idx="1">
                  <c:v>0.8</c:v>
                </c:pt>
                <c:pt idx="2">
                  <c:v>0.8035714285714286</c:v>
                </c:pt>
                <c:pt idx="3">
                  <c:v>1.0273972602739727</c:v>
                </c:pt>
                <c:pt idx="4">
                  <c:v>1.5384615384615385</c:v>
                </c:pt>
                <c:pt idx="5">
                  <c:v>0.67741935483870963</c:v>
                </c:pt>
                <c:pt idx="6">
                  <c:v>1.0434782608695652</c:v>
                </c:pt>
                <c:pt idx="7">
                  <c:v>16</c:v>
                </c:pt>
                <c:pt idx="8">
                  <c:v>9.8666666666666666E-2</c:v>
                </c:pt>
                <c:pt idx="9">
                  <c:v>1.5058823529411764</c:v>
                </c:pt>
                <c:pt idx="10">
                  <c:v>3.3629629629629632</c:v>
                </c:pt>
                <c:pt idx="11">
                  <c:v>0.33658536585365856</c:v>
                </c:pt>
                <c:pt idx="12">
                  <c:v>0.74782608695652175</c:v>
                </c:pt>
                <c:pt idx="13">
                  <c:v>2.0114942528735633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3B-4C75-96F4-1CF5F2B00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5396816"/>
        <c:axId val="1155397296"/>
      </c:radarChart>
      <c:catAx>
        <c:axId val="115539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1155397296"/>
        <c:crosses val="autoZero"/>
        <c:auto val="1"/>
        <c:lblAlgn val="ctr"/>
        <c:lblOffset val="100"/>
        <c:noMultiLvlLbl val="0"/>
      </c:catAx>
      <c:valAx>
        <c:axId val="1155397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115539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F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CCFD6-7ED0-40CF-846A-4BF3167D70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E0E222-44B7-42A4-BFA2-DDD9BDE005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Political: Government policies, regulatory environment.</a:t>
          </a:r>
        </a:p>
      </dgm:t>
    </dgm:pt>
    <dgm:pt modelId="{06D59EFE-28E5-48B5-B5EB-6F98350A39FA}" type="parTrans" cxnId="{7CDD5DE0-15D4-4200-8844-25D162C040CD}">
      <dgm:prSet/>
      <dgm:spPr/>
      <dgm:t>
        <a:bodyPr/>
        <a:lstStyle/>
        <a:p>
          <a:endParaRPr lang="en-US"/>
        </a:p>
      </dgm:t>
    </dgm:pt>
    <dgm:pt modelId="{95F8C357-2168-4CE7-9DE9-82DCA1BCDC91}" type="sibTrans" cxnId="{7CDD5DE0-15D4-4200-8844-25D162C040CD}">
      <dgm:prSet/>
      <dgm:spPr/>
      <dgm:t>
        <a:bodyPr/>
        <a:lstStyle/>
        <a:p>
          <a:endParaRPr lang="en-US"/>
        </a:p>
      </dgm:t>
    </dgm:pt>
    <dgm:pt modelId="{D74269A3-B9C1-40F3-8083-3F10B99E6B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Economic: Economic growth, energy prices, funding.</a:t>
          </a:r>
        </a:p>
      </dgm:t>
    </dgm:pt>
    <dgm:pt modelId="{F14BA159-5F05-4262-9079-99B66A000A22}" type="parTrans" cxnId="{A210DD6D-7914-479D-81CF-A8CBBB304585}">
      <dgm:prSet/>
      <dgm:spPr/>
      <dgm:t>
        <a:bodyPr/>
        <a:lstStyle/>
        <a:p>
          <a:endParaRPr lang="en-US"/>
        </a:p>
      </dgm:t>
    </dgm:pt>
    <dgm:pt modelId="{0233A2A8-7965-456F-A057-97E4CAD884A2}" type="sibTrans" cxnId="{A210DD6D-7914-479D-81CF-A8CBBB304585}">
      <dgm:prSet/>
      <dgm:spPr/>
      <dgm:t>
        <a:bodyPr/>
        <a:lstStyle/>
        <a:p>
          <a:endParaRPr lang="en-US"/>
        </a:p>
      </dgm:t>
    </dgm:pt>
    <dgm:pt modelId="{86138302-08D3-4652-A368-88BEEF8592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Social: Public awareness, community engagement.</a:t>
          </a:r>
        </a:p>
      </dgm:t>
    </dgm:pt>
    <dgm:pt modelId="{C463414D-F703-4D18-A46A-F7A9D455D750}" type="parTrans" cxnId="{00F89088-0C4F-4268-9B10-DF3D81C73D80}">
      <dgm:prSet/>
      <dgm:spPr/>
      <dgm:t>
        <a:bodyPr/>
        <a:lstStyle/>
        <a:p>
          <a:endParaRPr lang="en-US"/>
        </a:p>
      </dgm:t>
    </dgm:pt>
    <dgm:pt modelId="{0273D9B2-FB35-4350-8548-0E896EFA69E9}" type="sibTrans" cxnId="{00F89088-0C4F-4268-9B10-DF3D81C73D80}">
      <dgm:prSet/>
      <dgm:spPr/>
      <dgm:t>
        <a:bodyPr/>
        <a:lstStyle/>
        <a:p>
          <a:endParaRPr lang="en-US"/>
        </a:p>
      </dgm:t>
    </dgm:pt>
    <dgm:pt modelId="{BF423E87-0C43-4F83-8B0B-236EC0DF96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Technological: Innovation, digitalization, R&amp;D.</a:t>
          </a:r>
        </a:p>
      </dgm:t>
    </dgm:pt>
    <dgm:pt modelId="{DA83FFE5-0F1D-4DCB-9D5D-4D5B0D62C5F7}" type="parTrans" cxnId="{A2CEE8D5-0D83-4BA9-A93E-6E5DBD86D4D3}">
      <dgm:prSet/>
      <dgm:spPr/>
      <dgm:t>
        <a:bodyPr/>
        <a:lstStyle/>
        <a:p>
          <a:endParaRPr lang="en-US"/>
        </a:p>
      </dgm:t>
    </dgm:pt>
    <dgm:pt modelId="{ED0AC066-F0A7-4734-A72D-B1D5B858CD4B}" type="sibTrans" cxnId="{A2CEE8D5-0D83-4BA9-A93E-6E5DBD86D4D3}">
      <dgm:prSet/>
      <dgm:spPr/>
      <dgm:t>
        <a:bodyPr/>
        <a:lstStyle/>
        <a:p>
          <a:endParaRPr lang="en-US"/>
        </a:p>
      </dgm:t>
    </dgm:pt>
    <dgm:pt modelId="{C91E1CD9-8BB2-46D9-841A-325B60DBA4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Environmental: Climate change, land use, weather.</a:t>
          </a:r>
        </a:p>
      </dgm:t>
    </dgm:pt>
    <dgm:pt modelId="{12FDDCB2-6C80-4F43-9BF8-DAFF0B65A757}" type="parTrans" cxnId="{0BFDAE34-018C-4EDE-9987-834DE0A91E8C}">
      <dgm:prSet/>
      <dgm:spPr/>
      <dgm:t>
        <a:bodyPr/>
        <a:lstStyle/>
        <a:p>
          <a:endParaRPr lang="en-US"/>
        </a:p>
      </dgm:t>
    </dgm:pt>
    <dgm:pt modelId="{008CA1B4-F84B-4639-95BE-510E0F87D0FD}" type="sibTrans" cxnId="{0BFDAE34-018C-4EDE-9987-834DE0A91E8C}">
      <dgm:prSet/>
      <dgm:spPr/>
      <dgm:t>
        <a:bodyPr/>
        <a:lstStyle/>
        <a:p>
          <a:endParaRPr lang="en-US"/>
        </a:p>
      </dgm:t>
    </dgm:pt>
    <dgm:pt modelId="{7474410F-4C02-41F3-8598-CA8B58CD1D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Legal: Compliance, intellectual property, contracts.</a:t>
          </a:r>
        </a:p>
      </dgm:t>
    </dgm:pt>
    <dgm:pt modelId="{4F1D71EC-9C16-49C9-964D-B6AB3FB04F5D}" type="parTrans" cxnId="{0965C6E7-B43E-4EBA-B583-8CF265CA7985}">
      <dgm:prSet/>
      <dgm:spPr/>
      <dgm:t>
        <a:bodyPr/>
        <a:lstStyle/>
        <a:p>
          <a:endParaRPr lang="en-US"/>
        </a:p>
      </dgm:t>
    </dgm:pt>
    <dgm:pt modelId="{B306A762-E25F-4C27-B643-2B9BB9D5082C}" type="sibTrans" cxnId="{0965C6E7-B43E-4EBA-B583-8CF265CA7985}">
      <dgm:prSet/>
      <dgm:spPr/>
      <dgm:t>
        <a:bodyPr/>
        <a:lstStyle/>
        <a:p>
          <a:endParaRPr lang="en-US"/>
        </a:p>
      </dgm:t>
    </dgm:pt>
    <dgm:pt modelId="{AAC236F4-6BC7-4324-93D9-187C92FD724C}" type="pres">
      <dgm:prSet presAssocID="{2E0CCFD6-7ED0-40CF-846A-4BF3167D7037}" presName="root" presStyleCnt="0">
        <dgm:presLayoutVars>
          <dgm:dir/>
          <dgm:resizeHandles val="exact"/>
        </dgm:presLayoutVars>
      </dgm:prSet>
      <dgm:spPr/>
    </dgm:pt>
    <dgm:pt modelId="{9850D3CC-2F75-473F-A479-01CA0CF3F688}" type="pres">
      <dgm:prSet presAssocID="{8DE0E222-44B7-42A4-BFA2-DDD9BDE00595}" presName="compNode" presStyleCnt="0"/>
      <dgm:spPr/>
    </dgm:pt>
    <dgm:pt modelId="{F9A5AEDE-36F3-4A83-91E5-26ECEB322091}" type="pres">
      <dgm:prSet presAssocID="{8DE0E222-44B7-42A4-BFA2-DDD9BDE00595}" presName="iconBgRect" presStyleLbl="bgShp" presStyleIdx="0" presStyleCnt="6"/>
      <dgm:spPr/>
    </dgm:pt>
    <dgm:pt modelId="{693A925E-1DD5-47A1-8ADD-2BF4C8B375A9}" type="pres">
      <dgm:prSet presAssocID="{8DE0E222-44B7-42A4-BFA2-DDD9BDE0059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6F80F68-9D1F-428F-8C87-B8C4C65CEB76}" type="pres">
      <dgm:prSet presAssocID="{8DE0E222-44B7-42A4-BFA2-DDD9BDE00595}" presName="spaceRect" presStyleCnt="0"/>
      <dgm:spPr/>
    </dgm:pt>
    <dgm:pt modelId="{1859AB1B-E3A7-4E60-BB19-28095AF3E75B}" type="pres">
      <dgm:prSet presAssocID="{8DE0E222-44B7-42A4-BFA2-DDD9BDE00595}" presName="textRect" presStyleLbl="revTx" presStyleIdx="0" presStyleCnt="6">
        <dgm:presLayoutVars>
          <dgm:chMax val="1"/>
          <dgm:chPref val="1"/>
        </dgm:presLayoutVars>
      </dgm:prSet>
      <dgm:spPr/>
    </dgm:pt>
    <dgm:pt modelId="{7AE3F7E1-B8E7-4D34-839F-144C2BC8E100}" type="pres">
      <dgm:prSet presAssocID="{95F8C357-2168-4CE7-9DE9-82DCA1BCDC91}" presName="sibTrans" presStyleCnt="0"/>
      <dgm:spPr/>
    </dgm:pt>
    <dgm:pt modelId="{863F54E4-69CB-4AB5-8B1E-DF448887E45A}" type="pres">
      <dgm:prSet presAssocID="{D74269A3-B9C1-40F3-8083-3F10B99E6BAA}" presName="compNode" presStyleCnt="0"/>
      <dgm:spPr/>
    </dgm:pt>
    <dgm:pt modelId="{EA28EBBD-1AF7-4D03-B1CA-1CC9C352BE08}" type="pres">
      <dgm:prSet presAssocID="{D74269A3-B9C1-40F3-8083-3F10B99E6BAA}" presName="iconBgRect" presStyleLbl="bgShp" presStyleIdx="1" presStyleCnt="6"/>
      <dgm:spPr/>
    </dgm:pt>
    <dgm:pt modelId="{BA02EBBC-03FC-40F0-AF70-D98648459A6B}" type="pres">
      <dgm:prSet presAssocID="{D74269A3-B9C1-40F3-8083-3F10B99E6BA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8BC99D9-023C-445E-BCB8-E19ECC0F06C2}" type="pres">
      <dgm:prSet presAssocID="{D74269A3-B9C1-40F3-8083-3F10B99E6BAA}" presName="spaceRect" presStyleCnt="0"/>
      <dgm:spPr/>
    </dgm:pt>
    <dgm:pt modelId="{84A473B0-3CEE-440D-B231-070B5B073478}" type="pres">
      <dgm:prSet presAssocID="{D74269A3-B9C1-40F3-8083-3F10B99E6BAA}" presName="textRect" presStyleLbl="revTx" presStyleIdx="1" presStyleCnt="6">
        <dgm:presLayoutVars>
          <dgm:chMax val="1"/>
          <dgm:chPref val="1"/>
        </dgm:presLayoutVars>
      </dgm:prSet>
      <dgm:spPr/>
    </dgm:pt>
    <dgm:pt modelId="{05F933AD-2049-4320-925B-D3E2DCEC101B}" type="pres">
      <dgm:prSet presAssocID="{0233A2A8-7965-456F-A057-97E4CAD884A2}" presName="sibTrans" presStyleCnt="0"/>
      <dgm:spPr/>
    </dgm:pt>
    <dgm:pt modelId="{4C094B41-DB39-425C-93FA-E523E86636F2}" type="pres">
      <dgm:prSet presAssocID="{86138302-08D3-4652-A368-88BEEF859297}" presName="compNode" presStyleCnt="0"/>
      <dgm:spPr/>
    </dgm:pt>
    <dgm:pt modelId="{20C74392-B2F1-4B11-BA37-D03106B4A275}" type="pres">
      <dgm:prSet presAssocID="{86138302-08D3-4652-A368-88BEEF859297}" presName="iconBgRect" presStyleLbl="bgShp" presStyleIdx="2" presStyleCnt="6"/>
      <dgm:spPr/>
    </dgm:pt>
    <dgm:pt modelId="{C1DC911B-1C2C-420B-9589-FD3E99C5A38F}" type="pres">
      <dgm:prSet presAssocID="{86138302-08D3-4652-A368-88BEEF85929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9CA2AAF-5CF1-4384-B152-07D3FF1E1E2F}" type="pres">
      <dgm:prSet presAssocID="{86138302-08D3-4652-A368-88BEEF859297}" presName="spaceRect" presStyleCnt="0"/>
      <dgm:spPr/>
    </dgm:pt>
    <dgm:pt modelId="{23A38747-808C-45DC-A1C3-AC59E931B1FA}" type="pres">
      <dgm:prSet presAssocID="{86138302-08D3-4652-A368-88BEEF859297}" presName="textRect" presStyleLbl="revTx" presStyleIdx="2" presStyleCnt="6">
        <dgm:presLayoutVars>
          <dgm:chMax val="1"/>
          <dgm:chPref val="1"/>
        </dgm:presLayoutVars>
      </dgm:prSet>
      <dgm:spPr/>
    </dgm:pt>
    <dgm:pt modelId="{00542FB1-2CE8-43FF-8E38-948E1FBC68E1}" type="pres">
      <dgm:prSet presAssocID="{0273D9B2-FB35-4350-8548-0E896EFA69E9}" presName="sibTrans" presStyleCnt="0"/>
      <dgm:spPr/>
    </dgm:pt>
    <dgm:pt modelId="{3D5BC97F-0FCB-442A-BE0E-A5957E1DB0D3}" type="pres">
      <dgm:prSet presAssocID="{BF423E87-0C43-4F83-8B0B-236EC0DF9603}" presName="compNode" presStyleCnt="0"/>
      <dgm:spPr/>
    </dgm:pt>
    <dgm:pt modelId="{3EE1B0A9-7F18-4F28-84E1-76C3A8E7A49A}" type="pres">
      <dgm:prSet presAssocID="{BF423E87-0C43-4F83-8B0B-236EC0DF9603}" presName="iconBgRect" presStyleLbl="bgShp" presStyleIdx="3" presStyleCnt="6"/>
      <dgm:spPr/>
    </dgm:pt>
    <dgm:pt modelId="{4060D0FC-2DF3-4132-BD40-508EABF7A0E5}" type="pres">
      <dgm:prSet presAssocID="{BF423E87-0C43-4F83-8B0B-236EC0DF960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0C46E027-238F-4C28-9364-CFC80C0C4D2F}" type="pres">
      <dgm:prSet presAssocID="{BF423E87-0C43-4F83-8B0B-236EC0DF9603}" presName="spaceRect" presStyleCnt="0"/>
      <dgm:spPr/>
    </dgm:pt>
    <dgm:pt modelId="{32E8EAA4-D73F-459A-AFDF-D19DCB6E372B}" type="pres">
      <dgm:prSet presAssocID="{BF423E87-0C43-4F83-8B0B-236EC0DF9603}" presName="textRect" presStyleLbl="revTx" presStyleIdx="3" presStyleCnt="6">
        <dgm:presLayoutVars>
          <dgm:chMax val="1"/>
          <dgm:chPref val="1"/>
        </dgm:presLayoutVars>
      </dgm:prSet>
      <dgm:spPr/>
    </dgm:pt>
    <dgm:pt modelId="{1C54D191-D56D-41E5-8423-4CEA0D75E991}" type="pres">
      <dgm:prSet presAssocID="{ED0AC066-F0A7-4734-A72D-B1D5B858CD4B}" presName="sibTrans" presStyleCnt="0"/>
      <dgm:spPr/>
    </dgm:pt>
    <dgm:pt modelId="{93DE3CFE-FA7E-4880-A6D3-BE0183B42243}" type="pres">
      <dgm:prSet presAssocID="{C91E1CD9-8BB2-46D9-841A-325B60DBA45A}" presName="compNode" presStyleCnt="0"/>
      <dgm:spPr/>
    </dgm:pt>
    <dgm:pt modelId="{0A024605-2FB2-46F0-8CC6-0B0148EA54E9}" type="pres">
      <dgm:prSet presAssocID="{C91E1CD9-8BB2-46D9-841A-325B60DBA45A}" presName="iconBgRect" presStyleLbl="bgShp" presStyleIdx="4" presStyleCnt="6"/>
      <dgm:spPr/>
    </dgm:pt>
    <dgm:pt modelId="{D16A19F6-B830-4B8E-800A-84E5DF8062A8}" type="pres">
      <dgm:prSet presAssocID="{C91E1CD9-8BB2-46D9-841A-325B60DBA45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DADFD04B-D921-469F-87BD-087EB3F2AD30}" type="pres">
      <dgm:prSet presAssocID="{C91E1CD9-8BB2-46D9-841A-325B60DBA45A}" presName="spaceRect" presStyleCnt="0"/>
      <dgm:spPr/>
    </dgm:pt>
    <dgm:pt modelId="{EE4FC8B9-369A-4418-B3D1-E08AE4EBD3B8}" type="pres">
      <dgm:prSet presAssocID="{C91E1CD9-8BB2-46D9-841A-325B60DBA45A}" presName="textRect" presStyleLbl="revTx" presStyleIdx="4" presStyleCnt="6">
        <dgm:presLayoutVars>
          <dgm:chMax val="1"/>
          <dgm:chPref val="1"/>
        </dgm:presLayoutVars>
      </dgm:prSet>
      <dgm:spPr/>
    </dgm:pt>
    <dgm:pt modelId="{8BF9E3DE-C871-4DDC-BAF8-3DD5B1706494}" type="pres">
      <dgm:prSet presAssocID="{008CA1B4-F84B-4639-95BE-510E0F87D0FD}" presName="sibTrans" presStyleCnt="0"/>
      <dgm:spPr/>
    </dgm:pt>
    <dgm:pt modelId="{FA268AA6-FB6F-4C4A-A588-640E10263BE4}" type="pres">
      <dgm:prSet presAssocID="{7474410F-4C02-41F3-8598-CA8B58CD1D32}" presName="compNode" presStyleCnt="0"/>
      <dgm:spPr/>
    </dgm:pt>
    <dgm:pt modelId="{5C883693-F6CD-4AB8-81DD-360D358CE00C}" type="pres">
      <dgm:prSet presAssocID="{7474410F-4C02-41F3-8598-CA8B58CD1D32}" presName="iconBgRect" presStyleLbl="bgShp" presStyleIdx="5" presStyleCnt="6"/>
      <dgm:spPr/>
    </dgm:pt>
    <dgm:pt modelId="{A36EA28D-CAF4-4090-80C4-8C2F227E96AF}" type="pres">
      <dgm:prSet presAssocID="{7474410F-4C02-41F3-8598-CA8B58CD1D3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AC52F3-32C0-41BD-8B45-737CA5D5D548}" type="pres">
      <dgm:prSet presAssocID="{7474410F-4C02-41F3-8598-CA8B58CD1D32}" presName="spaceRect" presStyleCnt="0"/>
      <dgm:spPr/>
    </dgm:pt>
    <dgm:pt modelId="{D209ACCD-030F-4CE9-A61A-4D1A69C513B7}" type="pres">
      <dgm:prSet presAssocID="{7474410F-4C02-41F3-8598-CA8B58CD1D3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BFDAE34-018C-4EDE-9987-834DE0A91E8C}" srcId="{2E0CCFD6-7ED0-40CF-846A-4BF3167D7037}" destId="{C91E1CD9-8BB2-46D9-841A-325B60DBA45A}" srcOrd="4" destOrd="0" parTransId="{12FDDCB2-6C80-4F43-9BF8-DAFF0B65A757}" sibTransId="{008CA1B4-F84B-4639-95BE-510E0F87D0FD}"/>
    <dgm:cxn modelId="{F6C9FF3E-E287-4899-8D46-161A849B6FF7}" type="presOf" srcId="{86138302-08D3-4652-A368-88BEEF859297}" destId="{23A38747-808C-45DC-A1C3-AC59E931B1FA}" srcOrd="0" destOrd="0" presId="urn:microsoft.com/office/officeart/2018/5/layout/IconCircleLabelList"/>
    <dgm:cxn modelId="{1F3B3D65-F349-4DE2-A3CC-9C7ECD88759B}" type="presOf" srcId="{2E0CCFD6-7ED0-40CF-846A-4BF3167D7037}" destId="{AAC236F4-6BC7-4324-93D9-187C92FD724C}" srcOrd="0" destOrd="0" presId="urn:microsoft.com/office/officeart/2018/5/layout/IconCircleLabelList"/>
    <dgm:cxn modelId="{A210DD6D-7914-479D-81CF-A8CBBB304585}" srcId="{2E0CCFD6-7ED0-40CF-846A-4BF3167D7037}" destId="{D74269A3-B9C1-40F3-8083-3F10B99E6BAA}" srcOrd="1" destOrd="0" parTransId="{F14BA159-5F05-4262-9079-99B66A000A22}" sibTransId="{0233A2A8-7965-456F-A057-97E4CAD884A2}"/>
    <dgm:cxn modelId="{00F89088-0C4F-4268-9B10-DF3D81C73D80}" srcId="{2E0CCFD6-7ED0-40CF-846A-4BF3167D7037}" destId="{86138302-08D3-4652-A368-88BEEF859297}" srcOrd="2" destOrd="0" parTransId="{C463414D-F703-4D18-A46A-F7A9D455D750}" sibTransId="{0273D9B2-FB35-4350-8548-0E896EFA69E9}"/>
    <dgm:cxn modelId="{1307F2A4-B125-42EB-BDBE-1EFC0E0DD598}" type="presOf" srcId="{8DE0E222-44B7-42A4-BFA2-DDD9BDE00595}" destId="{1859AB1B-E3A7-4E60-BB19-28095AF3E75B}" srcOrd="0" destOrd="0" presId="urn:microsoft.com/office/officeart/2018/5/layout/IconCircleLabelList"/>
    <dgm:cxn modelId="{A2CEE8D5-0D83-4BA9-A93E-6E5DBD86D4D3}" srcId="{2E0CCFD6-7ED0-40CF-846A-4BF3167D7037}" destId="{BF423E87-0C43-4F83-8B0B-236EC0DF9603}" srcOrd="3" destOrd="0" parTransId="{DA83FFE5-0F1D-4DCB-9D5D-4D5B0D62C5F7}" sibTransId="{ED0AC066-F0A7-4734-A72D-B1D5B858CD4B}"/>
    <dgm:cxn modelId="{53D7C2DA-E13D-4AB6-871B-C4C2CB256A87}" type="presOf" srcId="{BF423E87-0C43-4F83-8B0B-236EC0DF9603}" destId="{32E8EAA4-D73F-459A-AFDF-D19DCB6E372B}" srcOrd="0" destOrd="0" presId="urn:microsoft.com/office/officeart/2018/5/layout/IconCircleLabelList"/>
    <dgm:cxn modelId="{7CDD5DE0-15D4-4200-8844-25D162C040CD}" srcId="{2E0CCFD6-7ED0-40CF-846A-4BF3167D7037}" destId="{8DE0E222-44B7-42A4-BFA2-DDD9BDE00595}" srcOrd="0" destOrd="0" parTransId="{06D59EFE-28E5-48B5-B5EB-6F98350A39FA}" sibTransId="{95F8C357-2168-4CE7-9DE9-82DCA1BCDC91}"/>
    <dgm:cxn modelId="{0965C6E7-B43E-4EBA-B583-8CF265CA7985}" srcId="{2E0CCFD6-7ED0-40CF-846A-4BF3167D7037}" destId="{7474410F-4C02-41F3-8598-CA8B58CD1D32}" srcOrd="5" destOrd="0" parTransId="{4F1D71EC-9C16-49C9-964D-B6AB3FB04F5D}" sibTransId="{B306A762-E25F-4C27-B643-2B9BB9D5082C}"/>
    <dgm:cxn modelId="{1B7415F0-CEFB-4C36-93B6-7631C524B08D}" type="presOf" srcId="{7474410F-4C02-41F3-8598-CA8B58CD1D32}" destId="{D209ACCD-030F-4CE9-A61A-4D1A69C513B7}" srcOrd="0" destOrd="0" presId="urn:microsoft.com/office/officeart/2018/5/layout/IconCircleLabelList"/>
    <dgm:cxn modelId="{EC4DD7F0-470F-498A-BE79-DA97BAFD9ADB}" type="presOf" srcId="{D74269A3-B9C1-40F3-8083-3F10B99E6BAA}" destId="{84A473B0-3CEE-440D-B231-070B5B073478}" srcOrd="0" destOrd="0" presId="urn:microsoft.com/office/officeart/2018/5/layout/IconCircleLabelList"/>
    <dgm:cxn modelId="{2F9BA6FD-1418-4CD0-8C0C-78EDFC210D8C}" type="presOf" srcId="{C91E1CD9-8BB2-46D9-841A-325B60DBA45A}" destId="{EE4FC8B9-369A-4418-B3D1-E08AE4EBD3B8}" srcOrd="0" destOrd="0" presId="urn:microsoft.com/office/officeart/2018/5/layout/IconCircleLabelList"/>
    <dgm:cxn modelId="{24295351-50D2-44A7-A33D-A4927D10F72F}" type="presParOf" srcId="{AAC236F4-6BC7-4324-93D9-187C92FD724C}" destId="{9850D3CC-2F75-473F-A479-01CA0CF3F688}" srcOrd="0" destOrd="0" presId="urn:microsoft.com/office/officeart/2018/5/layout/IconCircleLabelList"/>
    <dgm:cxn modelId="{70BF6F3E-83D4-42C6-8A6B-4AF8757CA3E0}" type="presParOf" srcId="{9850D3CC-2F75-473F-A479-01CA0CF3F688}" destId="{F9A5AEDE-36F3-4A83-91E5-26ECEB322091}" srcOrd="0" destOrd="0" presId="urn:microsoft.com/office/officeart/2018/5/layout/IconCircleLabelList"/>
    <dgm:cxn modelId="{D97E0A99-8552-46E2-A6EB-8191A804146C}" type="presParOf" srcId="{9850D3CC-2F75-473F-A479-01CA0CF3F688}" destId="{693A925E-1DD5-47A1-8ADD-2BF4C8B375A9}" srcOrd="1" destOrd="0" presId="urn:microsoft.com/office/officeart/2018/5/layout/IconCircleLabelList"/>
    <dgm:cxn modelId="{5D5DAF22-1C44-435F-A3D3-3F8BE8DB2E02}" type="presParOf" srcId="{9850D3CC-2F75-473F-A479-01CA0CF3F688}" destId="{96F80F68-9D1F-428F-8C87-B8C4C65CEB76}" srcOrd="2" destOrd="0" presId="urn:microsoft.com/office/officeart/2018/5/layout/IconCircleLabelList"/>
    <dgm:cxn modelId="{729DA161-BF40-4135-A527-3BD264F84665}" type="presParOf" srcId="{9850D3CC-2F75-473F-A479-01CA0CF3F688}" destId="{1859AB1B-E3A7-4E60-BB19-28095AF3E75B}" srcOrd="3" destOrd="0" presId="urn:microsoft.com/office/officeart/2018/5/layout/IconCircleLabelList"/>
    <dgm:cxn modelId="{9A9ACF06-3BE6-423B-BD1E-7195A4E031CD}" type="presParOf" srcId="{AAC236F4-6BC7-4324-93D9-187C92FD724C}" destId="{7AE3F7E1-B8E7-4D34-839F-144C2BC8E100}" srcOrd="1" destOrd="0" presId="urn:microsoft.com/office/officeart/2018/5/layout/IconCircleLabelList"/>
    <dgm:cxn modelId="{C4E62E00-FFA8-48F2-B901-AA80C61E3E23}" type="presParOf" srcId="{AAC236F4-6BC7-4324-93D9-187C92FD724C}" destId="{863F54E4-69CB-4AB5-8B1E-DF448887E45A}" srcOrd="2" destOrd="0" presId="urn:microsoft.com/office/officeart/2018/5/layout/IconCircleLabelList"/>
    <dgm:cxn modelId="{B4B3908E-9637-4704-90E3-BFEBBB40C81B}" type="presParOf" srcId="{863F54E4-69CB-4AB5-8B1E-DF448887E45A}" destId="{EA28EBBD-1AF7-4D03-B1CA-1CC9C352BE08}" srcOrd="0" destOrd="0" presId="urn:microsoft.com/office/officeart/2018/5/layout/IconCircleLabelList"/>
    <dgm:cxn modelId="{9A1A692D-87D8-46B6-8FA9-D25FC88671BB}" type="presParOf" srcId="{863F54E4-69CB-4AB5-8B1E-DF448887E45A}" destId="{BA02EBBC-03FC-40F0-AF70-D98648459A6B}" srcOrd="1" destOrd="0" presId="urn:microsoft.com/office/officeart/2018/5/layout/IconCircleLabelList"/>
    <dgm:cxn modelId="{FD1F9444-1AB1-40EA-8A57-BE53240AC30B}" type="presParOf" srcId="{863F54E4-69CB-4AB5-8B1E-DF448887E45A}" destId="{58BC99D9-023C-445E-BCB8-E19ECC0F06C2}" srcOrd="2" destOrd="0" presId="urn:microsoft.com/office/officeart/2018/5/layout/IconCircleLabelList"/>
    <dgm:cxn modelId="{37AA14F3-D833-4515-A704-FEFB97FED81C}" type="presParOf" srcId="{863F54E4-69CB-4AB5-8B1E-DF448887E45A}" destId="{84A473B0-3CEE-440D-B231-070B5B073478}" srcOrd="3" destOrd="0" presId="urn:microsoft.com/office/officeart/2018/5/layout/IconCircleLabelList"/>
    <dgm:cxn modelId="{0EBE68A7-BF4C-4A38-BABC-BD195CA1B527}" type="presParOf" srcId="{AAC236F4-6BC7-4324-93D9-187C92FD724C}" destId="{05F933AD-2049-4320-925B-D3E2DCEC101B}" srcOrd="3" destOrd="0" presId="urn:microsoft.com/office/officeart/2018/5/layout/IconCircleLabelList"/>
    <dgm:cxn modelId="{5BD837B9-B224-468F-BF48-494F53E45113}" type="presParOf" srcId="{AAC236F4-6BC7-4324-93D9-187C92FD724C}" destId="{4C094B41-DB39-425C-93FA-E523E86636F2}" srcOrd="4" destOrd="0" presId="urn:microsoft.com/office/officeart/2018/5/layout/IconCircleLabelList"/>
    <dgm:cxn modelId="{2126DBBC-E5BF-41D3-9F92-8DB115D89894}" type="presParOf" srcId="{4C094B41-DB39-425C-93FA-E523E86636F2}" destId="{20C74392-B2F1-4B11-BA37-D03106B4A275}" srcOrd="0" destOrd="0" presId="urn:microsoft.com/office/officeart/2018/5/layout/IconCircleLabelList"/>
    <dgm:cxn modelId="{5943518C-96A3-41CB-922F-3D5E6574F2E8}" type="presParOf" srcId="{4C094B41-DB39-425C-93FA-E523E86636F2}" destId="{C1DC911B-1C2C-420B-9589-FD3E99C5A38F}" srcOrd="1" destOrd="0" presId="urn:microsoft.com/office/officeart/2018/5/layout/IconCircleLabelList"/>
    <dgm:cxn modelId="{EC6CDC29-0182-47E9-8EF7-0168779EC683}" type="presParOf" srcId="{4C094B41-DB39-425C-93FA-E523E86636F2}" destId="{B9CA2AAF-5CF1-4384-B152-07D3FF1E1E2F}" srcOrd="2" destOrd="0" presId="urn:microsoft.com/office/officeart/2018/5/layout/IconCircleLabelList"/>
    <dgm:cxn modelId="{6FDFC086-CCD9-4FE1-AF67-9F94EB3E9512}" type="presParOf" srcId="{4C094B41-DB39-425C-93FA-E523E86636F2}" destId="{23A38747-808C-45DC-A1C3-AC59E931B1FA}" srcOrd="3" destOrd="0" presId="urn:microsoft.com/office/officeart/2018/5/layout/IconCircleLabelList"/>
    <dgm:cxn modelId="{A2666B8F-453D-459B-9E55-5B52B5B096BB}" type="presParOf" srcId="{AAC236F4-6BC7-4324-93D9-187C92FD724C}" destId="{00542FB1-2CE8-43FF-8E38-948E1FBC68E1}" srcOrd="5" destOrd="0" presId="urn:microsoft.com/office/officeart/2018/5/layout/IconCircleLabelList"/>
    <dgm:cxn modelId="{E3243841-CBBF-485C-833D-80A55E3ED7B1}" type="presParOf" srcId="{AAC236F4-6BC7-4324-93D9-187C92FD724C}" destId="{3D5BC97F-0FCB-442A-BE0E-A5957E1DB0D3}" srcOrd="6" destOrd="0" presId="urn:microsoft.com/office/officeart/2018/5/layout/IconCircleLabelList"/>
    <dgm:cxn modelId="{2D6815A0-490B-4BF7-B3AC-EE6BD40F84B4}" type="presParOf" srcId="{3D5BC97F-0FCB-442A-BE0E-A5957E1DB0D3}" destId="{3EE1B0A9-7F18-4F28-84E1-76C3A8E7A49A}" srcOrd="0" destOrd="0" presId="urn:microsoft.com/office/officeart/2018/5/layout/IconCircleLabelList"/>
    <dgm:cxn modelId="{EB6FD8C1-B6A1-42F8-AB1A-6637061FA55A}" type="presParOf" srcId="{3D5BC97F-0FCB-442A-BE0E-A5957E1DB0D3}" destId="{4060D0FC-2DF3-4132-BD40-508EABF7A0E5}" srcOrd="1" destOrd="0" presId="urn:microsoft.com/office/officeart/2018/5/layout/IconCircleLabelList"/>
    <dgm:cxn modelId="{E17183D0-7346-4022-88A7-19C1FF2B10C2}" type="presParOf" srcId="{3D5BC97F-0FCB-442A-BE0E-A5957E1DB0D3}" destId="{0C46E027-238F-4C28-9364-CFC80C0C4D2F}" srcOrd="2" destOrd="0" presId="urn:microsoft.com/office/officeart/2018/5/layout/IconCircleLabelList"/>
    <dgm:cxn modelId="{59460709-78C6-4890-9187-2BC31B6EAA06}" type="presParOf" srcId="{3D5BC97F-0FCB-442A-BE0E-A5957E1DB0D3}" destId="{32E8EAA4-D73F-459A-AFDF-D19DCB6E372B}" srcOrd="3" destOrd="0" presId="urn:microsoft.com/office/officeart/2018/5/layout/IconCircleLabelList"/>
    <dgm:cxn modelId="{FC9201E5-78A6-400D-B9DC-87911FDAE32E}" type="presParOf" srcId="{AAC236F4-6BC7-4324-93D9-187C92FD724C}" destId="{1C54D191-D56D-41E5-8423-4CEA0D75E991}" srcOrd="7" destOrd="0" presId="urn:microsoft.com/office/officeart/2018/5/layout/IconCircleLabelList"/>
    <dgm:cxn modelId="{3E575171-6D49-4B69-A006-EABE594C91BD}" type="presParOf" srcId="{AAC236F4-6BC7-4324-93D9-187C92FD724C}" destId="{93DE3CFE-FA7E-4880-A6D3-BE0183B42243}" srcOrd="8" destOrd="0" presId="urn:microsoft.com/office/officeart/2018/5/layout/IconCircleLabelList"/>
    <dgm:cxn modelId="{A8C0A2D2-79F8-4CAC-84C1-EF3FC362349D}" type="presParOf" srcId="{93DE3CFE-FA7E-4880-A6D3-BE0183B42243}" destId="{0A024605-2FB2-46F0-8CC6-0B0148EA54E9}" srcOrd="0" destOrd="0" presId="urn:microsoft.com/office/officeart/2018/5/layout/IconCircleLabelList"/>
    <dgm:cxn modelId="{D2C36D43-55E9-4D55-BA72-ED14113E64AB}" type="presParOf" srcId="{93DE3CFE-FA7E-4880-A6D3-BE0183B42243}" destId="{D16A19F6-B830-4B8E-800A-84E5DF8062A8}" srcOrd="1" destOrd="0" presId="urn:microsoft.com/office/officeart/2018/5/layout/IconCircleLabelList"/>
    <dgm:cxn modelId="{BED3069D-3A45-4C32-B2EA-A99BA19E4ADD}" type="presParOf" srcId="{93DE3CFE-FA7E-4880-A6D3-BE0183B42243}" destId="{DADFD04B-D921-469F-87BD-087EB3F2AD30}" srcOrd="2" destOrd="0" presId="urn:microsoft.com/office/officeart/2018/5/layout/IconCircleLabelList"/>
    <dgm:cxn modelId="{1996B2D1-109C-455F-B901-1A9D19F126C9}" type="presParOf" srcId="{93DE3CFE-FA7E-4880-A6D3-BE0183B42243}" destId="{EE4FC8B9-369A-4418-B3D1-E08AE4EBD3B8}" srcOrd="3" destOrd="0" presId="urn:microsoft.com/office/officeart/2018/5/layout/IconCircleLabelList"/>
    <dgm:cxn modelId="{A5C0F5BC-2244-4097-B4D7-DC0A4A1D4E3D}" type="presParOf" srcId="{AAC236F4-6BC7-4324-93D9-187C92FD724C}" destId="{8BF9E3DE-C871-4DDC-BAF8-3DD5B1706494}" srcOrd="9" destOrd="0" presId="urn:microsoft.com/office/officeart/2018/5/layout/IconCircleLabelList"/>
    <dgm:cxn modelId="{CF728526-D4F2-49F8-B789-0EC464B2507D}" type="presParOf" srcId="{AAC236F4-6BC7-4324-93D9-187C92FD724C}" destId="{FA268AA6-FB6F-4C4A-A588-640E10263BE4}" srcOrd="10" destOrd="0" presId="urn:microsoft.com/office/officeart/2018/5/layout/IconCircleLabelList"/>
    <dgm:cxn modelId="{80A6DC2C-1056-44EE-B943-1342567874E8}" type="presParOf" srcId="{FA268AA6-FB6F-4C4A-A588-640E10263BE4}" destId="{5C883693-F6CD-4AB8-81DD-360D358CE00C}" srcOrd="0" destOrd="0" presId="urn:microsoft.com/office/officeart/2018/5/layout/IconCircleLabelList"/>
    <dgm:cxn modelId="{D9D26CFC-90F8-4EB7-82DB-0392A65F4A18}" type="presParOf" srcId="{FA268AA6-FB6F-4C4A-A588-640E10263BE4}" destId="{A36EA28D-CAF4-4090-80C4-8C2F227E96AF}" srcOrd="1" destOrd="0" presId="urn:microsoft.com/office/officeart/2018/5/layout/IconCircleLabelList"/>
    <dgm:cxn modelId="{DD3E7C52-7642-496A-98AD-0B68272A7778}" type="presParOf" srcId="{FA268AA6-FB6F-4C4A-A588-640E10263BE4}" destId="{98AC52F3-32C0-41BD-8B45-737CA5D5D548}" srcOrd="2" destOrd="0" presId="urn:microsoft.com/office/officeart/2018/5/layout/IconCircleLabelList"/>
    <dgm:cxn modelId="{631666A9-0F60-4153-AF85-5F424076092F}" type="presParOf" srcId="{FA268AA6-FB6F-4C4A-A588-640E10263BE4}" destId="{D209ACCD-030F-4CE9-A61A-4D1A69C513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EEA981-0A9E-4BE8-9CA6-76761C8966E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F218171-618B-45F7-87ED-57D26499D361}">
      <dgm:prSet/>
      <dgm:spPr/>
      <dgm:t>
        <a:bodyPr/>
        <a:lstStyle/>
        <a:p>
          <a:r>
            <a:rPr lang="en-US" b="1"/>
            <a:t>Strategic Fit</a:t>
          </a:r>
          <a:r>
            <a:rPr lang="en-US"/>
            <a:t>: A score of 6.0 indicates strong alignment with </a:t>
          </a:r>
          <a:r>
            <a:rPr lang="en-US" err="1"/>
            <a:t>MaxSolar’s</a:t>
          </a:r>
          <a:r>
            <a:rPr lang="en-US"/>
            <a:t> corporate strategy.</a:t>
          </a:r>
        </a:p>
      </dgm:t>
    </dgm:pt>
    <dgm:pt modelId="{66A3C8D4-3248-42B3-9568-CE3247B42914}" type="parTrans" cxnId="{B23BA205-ED0F-48E1-858C-F5E5C31537D6}">
      <dgm:prSet/>
      <dgm:spPr/>
      <dgm:t>
        <a:bodyPr/>
        <a:lstStyle/>
        <a:p>
          <a:endParaRPr lang="en-US"/>
        </a:p>
      </dgm:t>
    </dgm:pt>
    <dgm:pt modelId="{BEB913C3-274B-4D12-AF60-DCC9DFBF9ED1}" type="sibTrans" cxnId="{B23BA205-ED0F-48E1-858C-F5E5C31537D6}">
      <dgm:prSet/>
      <dgm:spPr/>
      <dgm:t>
        <a:bodyPr/>
        <a:lstStyle/>
        <a:p>
          <a:endParaRPr lang="en-US"/>
        </a:p>
      </dgm:t>
    </dgm:pt>
    <dgm:pt modelId="{494C6D7F-1C5C-4E4E-8FE2-9C0D4142F9E2}">
      <dgm:prSet/>
      <dgm:spPr/>
      <dgm:t>
        <a:bodyPr/>
        <a:lstStyle/>
        <a:p>
          <a:r>
            <a:rPr lang="en-US" b="1"/>
            <a:t>PTQ</a:t>
          </a:r>
          <a:r>
            <a:rPr lang="en-US"/>
            <a:t>: A score of 5.5 suggests effective project termination processes, but there is room for improvement.</a:t>
          </a:r>
        </a:p>
      </dgm:t>
    </dgm:pt>
    <dgm:pt modelId="{F7E4A3A9-7A51-4921-BDB8-E77FFD97865B}" type="parTrans" cxnId="{758C32B1-053B-474A-8990-9367DF27DD4E}">
      <dgm:prSet/>
      <dgm:spPr/>
      <dgm:t>
        <a:bodyPr/>
        <a:lstStyle/>
        <a:p>
          <a:endParaRPr lang="en-US"/>
        </a:p>
      </dgm:t>
    </dgm:pt>
    <dgm:pt modelId="{ACD2DFDA-9901-40F5-A8F4-C12C48379BCF}" type="sibTrans" cxnId="{758C32B1-053B-474A-8990-9367DF27DD4E}">
      <dgm:prSet/>
      <dgm:spPr/>
      <dgm:t>
        <a:bodyPr/>
        <a:lstStyle/>
        <a:p>
          <a:endParaRPr lang="en-US"/>
        </a:p>
      </dgm:t>
    </dgm:pt>
    <dgm:pt modelId="{B5E87A23-8452-438E-82DA-8D13E3301351}">
      <dgm:prSet/>
      <dgm:spPr/>
      <dgm:t>
        <a:bodyPr/>
        <a:lstStyle/>
        <a:p>
          <a:r>
            <a:rPr lang="en-US" b="1"/>
            <a:t>SMI</a:t>
          </a:r>
          <a:r>
            <a:rPr lang="en-US"/>
            <a:t>: A score of 5.0 indicates moderate senior management involvement, which is likely beneficial but could be optimized.</a:t>
          </a:r>
        </a:p>
      </dgm:t>
    </dgm:pt>
    <dgm:pt modelId="{C8553125-43D8-4EA5-9444-81D7C9D2E2F9}" type="parTrans" cxnId="{58CE95CE-E96B-42A0-B510-FAC233261D0D}">
      <dgm:prSet/>
      <dgm:spPr/>
      <dgm:t>
        <a:bodyPr/>
        <a:lstStyle/>
        <a:p>
          <a:endParaRPr lang="en-US"/>
        </a:p>
      </dgm:t>
    </dgm:pt>
    <dgm:pt modelId="{16A43971-4781-4EFA-854F-778D30968A61}" type="sibTrans" cxnId="{58CE95CE-E96B-42A0-B510-FAC233261D0D}">
      <dgm:prSet/>
      <dgm:spPr/>
      <dgm:t>
        <a:bodyPr/>
        <a:lstStyle/>
        <a:p>
          <a:endParaRPr lang="en-US"/>
        </a:p>
      </dgm:t>
    </dgm:pt>
    <dgm:pt modelId="{B321B6C9-C1A4-4041-87B8-E8DBA0C3CA17}">
      <dgm:prSet/>
      <dgm:spPr/>
      <dgm:t>
        <a:bodyPr/>
        <a:lstStyle/>
        <a:p>
          <a:r>
            <a:rPr lang="en-US" b="1"/>
            <a:t>Overall Score</a:t>
          </a:r>
          <a:r>
            <a:rPr lang="en-US"/>
            <a:t>: A total weighted score of </a:t>
          </a:r>
          <a:r>
            <a:rPr lang="en-US" b="1"/>
            <a:t>5.45</a:t>
          </a:r>
          <a:r>
            <a:rPr lang="en-US"/>
            <a:t> (out of 7) suggests that </a:t>
          </a:r>
          <a:r>
            <a:rPr lang="en-US" err="1"/>
            <a:t>MaxSolar’s</a:t>
          </a:r>
          <a:r>
            <a:rPr lang="en-US"/>
            <a:t> project portfolio is performing well but could improve in areas like PTQ and SMI.</a:t>
          </a:r>
        </a:p>
      </dgm:t>
    </dgm:pt>
    <dgm:pt modelId="{30DA9D6E-6132-4BD3-B5A7-6A0F9CF76D1E}" type="parTrans" cxnId="{CA7CFC7B-3D9A-4ADC-A705-46F6E0CFA2A6}">
      <dgm:prSet/>
      <dgm:spPr/>
      <dgm:t>
        <a:bodyPr/>
        <a:lstStyle/>
        <a:p>
          <a:endParaRPr lang="en-US"/>
        </a:p>
      </dgm:t>
    </dgm:pt>
    <dgm:pt modelId="{58145633-1E42-42D7-8A15-308DE3D693FF}" type="sibTrans" cxnId="{CA7CFC7B-3D9A-4ADC-A705-46F6E0CFA2A6}">
      <dgm:prSet/>
      <dgm:spPr/>
      <dgm:t>
        <a:bodyPr/>
        <a:lstStyle/>
        <a:p>
          <a:endParaRPr lang="en-US"/>
        </a:p>
      </dgm:t>
    </dgm:pt>
    <dgm:pt modelId="{F17E4123-BC90-4F80-AE91-99BEA74D5827}" type="pres">
      <dgm:prSet presAssocID="{39EEA981-0A9E-4BE8-9CA6-76761C8966EE}" presName="outerComposite" presStyleCnt="0">
        <dgm:presLayoutVars>
          <dgm:chMax val="5"/>
          <dgm:dir/>
          <dgm:resizeHandles val="exact"/>
        </dgm:presLayoutVars>
      </dgm:prSet>
      <dgm:spPr/>
    </dgm:pt>
    <dgm:pt modelId="{F4E0EE82-64E9-40C6-B351-ADD45DD1AD63}" type="pres">
      <dgm:prSet presAssocID="{39EEA981-0A9E-4BE8-9CA6-76761C8966EE}" presName="dummyMaxCanvas" presStyleCnt="0">
        <dgm:presLayoutVars/>
      </dgm:prSet>
      <dgm:spPr/>
    </dgm:pt>
    <dgm:pt modelId="{54DD1464-0771-4C14-A3B3-487883DAE5E9}" type="pres">
      <dgm:prSet presAssocID="{39EEA981-0A9E-4BE8-9CA6-76761C8966EE}" presName="FourNodes_1" presStyleLbl="node1" presStyleIdx="0" presStyleCnt="4">
        <dgm:presLayoutVars>
          <dgm:bulletEnabled val="1"/>
        </dgm:presLayoutVars>
      </dgm:prSet>
      <dgm:spPr/>
    </dgm:pt>
    <dgm:pt modelId="{77361B6E-75E3-4244-8AAB-884052DE1E3D}" type="pres">
      <dgm:prSet presAssocID="{39EEA981-0A9E-4BE8-9CA6-76761C8966EE}" presName="FourNodes_2" presStyleLbl="node1" presStyleIdx="1" presStyleCnt="4">
        <dgm:presLayoutVars>
          <dgm:bulletEnabled val="1"/>
        </dgm:presLayoutVars>
      </dgm:prSet>
      <dgm:spPr/>
    </dgm:pt>
    <dgm:pt modelId="{C24A16D5-E633-42B5-9E58-454CB79C83D7}" type="pres">
      <dgm:prSet presAssocID="{39EEA981-0A9E-4BE8-9CA6-76761C8966EE}" presName="FourNodes_3" presStyleLbl="node1" presStyleIdx="2" presStyleCnt="4">
        <dgm:presLayoutVars>
          <dgm:bulletEnabled val="1"/>
        </dgm:presLayoutVars>
      </dgm:prSet>
      <dgm:spPr/>
    </dgm:pt>
    <dgm:pt modelId="{75F17A18-7FC5-40CB-944E-F0F94A111DC4}" type="pres">
      <dgm:prSet presAssocID="{39EEA981-0A9E-4BE8-9CA6-76761C8966EE}" presName="FourNodes_4" presStyleLbl="node1" presStyleIdx="3" presStyleCnt="4">
        <dgm:presLayoutVars>
          <dgm:bulletEnabled val="1"/>
        </dgm:presLayoutVars>
      </dgm:prSet>
      <dgm:spPr/>
    </dgm:pt>
    <dgm:pt modelId="{6C2E77CF-750A-4E9B-8F87-6456CE8C794D}" type="pres">
      <dgm:prSet presAssocID="{39EEA981-0A9E-4BE8-9CA6-76761C8966EE}" presName="FourConn_1-2" presStyleLbl="fgAccFollowNode1" presStyleIdx="0" presStyleCnt="3">
        <dgm:presLayoutVars>
          <dgm:bulletEnabled val="1"/>
        </dgm:presLayoutVars>
      </dgm:prSet>
      <dgm:spPr/>
    </dgm:pt>
    <dgm:pt modelId="{BF9D5BFC-CC1E-4A2D-9D3B-9812C7D5AF1A}" type="pres">
      <dgm:prSet presAssocID="{39EEA981-0A9E-4BE8-9CA6-76761C8966EE}" presName="FourConn_2-3" presStyleLbl="fgAccFollowNode1" presStyleIdx="1" presStyleCnt="3">
        <dgm:presLayoutVars>
          <dgm:bulletEnabled val="1"/>
        </dgm:presLayoutVars>
      </dgm:prSet>
      <dgm:spPr/>
    </dgm:pt>
    <dgm:pt modelId="{C134D79A-F4A4-44C6-9FBB-F16351C1D928}" type="pres">
      <dgm:prSet presAssocID="{39EEA981-0A9E-4BE8-9CA6-76761C8966EE}" presName="FourConn_3-4" presStyleLbl="fgAccFollowNode1" presStyleIdx="2" presStyleCnt="3">
        <dgm:presLayoutVars>
          <dgm:bulletEnabled val="1"/>
        </dgm:presLayoutVars>
      </dgm:prSet>
      <dgm:spPr/>
    </dgm:pt>
    <dgm:pt modelId="{0183FC1C-86F8-4089-8870-31E599497CBB}" type="pres">
      <dgm:prSet presAssocID="{39EEA981-0A9E-4BE8-9CA6-76761C8966EE}" presName="FourNodes_1_text" presStyleLbl="node1" presStyleIdx="3" presStyleCnt="4">
        <dgm:presLayoutVars>
          <dgm:bulletEnabled val="1"/>
        </dgm:presLayoutVars>
      </dgm:prSet>
      <dgm:spPr/>
    </dgm:pt>
    <dgm:pt modelId="{5D82E529-8453-4477-9744-CF0F4253C81F}" type="pres">
      <dgm:prSet presAssocID="{39EEA981-0A9E-4BE8-9CA6-76761C8966EE}" presName="FourNodes_2_text" presStyleLbl="node1" presStyleIdx="3" presStyleCnt="4">
        <dgm:presLayoutVars>
          <dgm:bulletEnabled val="1"/>
        </dgm:presLayoutVars>
      </dgm:prSet>
      <dgm:spPr/>
    </dgm:pt>
    <dgm:pt modelId="{7F8D0DBC-BFDD-418C-8F20-82E4CB28966C}" type="pres">
      <dgm:prSet presAssocID="{39EEA981-0A9E-4BE8-9CA6-76761C8966EE}" presName="FourNodes_3_text" presStyleLbl="node1" presStyleIdx="3" presStyleCnt="4">
        <dgm:presLayoutVars>
          <dgm:bulletEnabled val="1"/>
        </dgm:presLayoutVars>
      </dgm:prSet>
      <dgm:spPr/>
    </dgm:pt>
    <dgm:pt modelId="{30016220-048E-488A-8A59-C6F09A50224F}" type="pres">
      <dgm:prSet presAssocID="{39EEA981-0A9E-4BE8-9CA6-76761C8966E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DFD0701-6FF8-4DAC-990C-851B02090DF2}" type="presOf" srcId="{494C6D7F-1C5C-4E4E-8FE2-9C0D4142F9E2}" destId="{77361B6E-75E3-4244-8AAB-884052DE1E3D}" srcOrd="0" destOrd="0" presId="urn:microsoft.com/office/officeart/2005/8/layout/vProcess5"/>
    <dgm:cxn modelId="{B23BA205-ED0F-48E1-858C-F5E5C31537D6}" srcId="{39EEA981-0A9E-4BE8-9CA6-76761C8966EE}" destId="{2F218171-618B-45F7-87ED-57D26499D361}" srcOrd="0" destOrd="0" parTransId="{66A3C8D4-3248-42B3-9568-CE3247B42914}" sibTransId="{BEB913C3-274B-4D12-AF60-DCC9DFBF9ED1}"/>
    <dgm:cxn modelId="{65ECC10B-A841-4622-8DB4-0A13B778CFB4}" type="presOf" srcId="{B321B6C9-C1A4-4041-87B8-E8DBA0C3CA17}" destId="{30016220-048E-488A-8A59-C6F09A50224F}" srcOrd="1" destOrd="0" presId="urn:microsoft.com/office/officeart/2005/8/layout/vProcess5"/>
    <dgm:cxn modelId="{738E3C5B-9160-4A8F-AE81-23D0553F386C}" type="presOf" srcId="{B5E87A23-8452-438E-82DA-8D13E3301351}" destId="{7F8D0DBC-BFDD-418C-8F20-82E4CB28966C}" srcOrd="1" destOrd="0" presId="urn:microsoft.com/office/officeart/2005/8/layout/vProcess5"/>
    <dgm:cxn modelId="{9AFB8967-232A-4F2A-92E1-ED9714585CE4}" type="presOf" srcId="{ACD2DFDA-9901-40F5-A8F4-C12C48379BCF}" destId="{BF9D5BFC-CC1E-4A2D-9D3B-9812C7D5AF1A}" srcOrd="0" destOrd="0" presId="urn:microsoft.com/office/officeart/2005/8/layout/vProcess5"/>
    <dgm:cxn modelId="{4DF09775-387A-490E-89A5-DFE81622A2CD}" type="presOf" srcId="{2F218171-618B-45F7-87ED-57D26499D361}" destId="{54DD1464-0771-4C14-A3B3-487883DAE5E9}" srcOrd="0" destOrd="0" presId="urn:microsoft.com/office/officeart/2005/8/layout/vProcess5"/>
    <dgm:cxn modelId="{CA7CFC7B-3D9A-4ADC-A705-46F6E0CFA2A6}" srcId="{39EEA981-0A9E-4BE8-9CA6-76761C8966EE}" destId="{B321B6C9-C1A4-4041-87B8-E8DBA0C3CA17}" srcOrd="3" destOrd="0" parTransId="{30DA9D6E-6132-4BD3-B5A7-6A0F9CF76D1E}" sibTransId="{58145633-1E42-42D7-8A15-308DE3D693FF}"/>
    <dgm:cxn modelId="{D3002E97-D61E-4DD9-A98F-062B20E3A82F}" type="presOf" srcId="{494C6D7F-1C5C-4E4E-8FE2-9C0D4142F9E2}" destId="{5D82E529-8453-4477-9744-CF0F4253C81F}" srcOrd="1" destOrd="0" presId="urn:microsoft.com/office/officeart/2005/8/layout/vProcess5"/>
    <dgm:cxn modelId="{00A2799D-1250-48F9-A0D4-48ACA01AEC9F}" type="presOf" srcId="{B5E87A23-8452-438E-82DA-8D13E3301351}" destId="{C24A16D5-E633-42B5-9E58-454CB79C83D7}" srcOrd="0" destOrd="0" presId="urn:microsoft.com/office/officeart/2005/8/layout/vProcess5"/>
    <dgm:cxn modelId="{345BC7AD-9556-482A-9D03-804CDF887330}" type="presOf" srcId="{39EEA981-0A9E-4BE8-9CA6-76761C8966EE}" destId="{F17E4123-BC90-4F80-AE91-99BEA74D5827}" srcOrd="0" destOrd="0" presId="urn:microsoft.com/office/officeart/2005/8/layout/vProcess5"/>
    <dgm:cxn modelId="{8FEE0CB1-C8D3-4DF5-8818-6CA7B32B68B3}" type="presOf" srcId="{2F218171-618B-45F7-87ED-57D26499D361}" destId="{0183FC1C-86F8-4089-8870-31E599497CBB}" srcOrd="1" destOrd="0" presId="urn:microsoft.com/office/officeart/2005/8/layout/vProcess5"/>
    <dgm:cxn modelId="{758C32B1-053B-474A-8990-9367DF27DD4E}" srcId="{39EEA981-0A9E-4BE8-9CA6-76761C8966EE}" destId="{494C6D7F-1C5C-4E4E-8FE2-9C0D4142F9E2}" srcOrd="1" destOrd="0" parTransId="{F7E4A3A9-7A51-4921-BDB8-E77FFD97865B}" sibTransId="{ACD2DFDA-9901-40F5-A8F4-C12C48379BCF}"/>
    <dgm:cxn modelId="{315795B2-41E4-40EA-AFD7-DC723810C6E6}" type="presOf" srcId="{BEB913C3-274B-4D12-AF60-DCC9DFBF9ED1}" destId="{6C2E77CF-750A-4E9B-8F87-6456CE8C794D}" srcOrd="0" destOrd="0" presId="urn:microsoft.com/office/officeart/2005/8/layout/vProcess5"/>
    <dgm:cxn modelId="{58CE95CE-E96B-42A0-B510-FAC233261D0D}" srcId="{39EEA981-0A9E-4BE8-9CA6-76761C8966EE}" destId="{B5E87A23-8452-438E-82DA-8D13E3301351}" srcOrd="2" destOrd="0" parTransId="{C8553125-43D8-4EA5-9444-81D7C9D2E2F9}" sibTransId="{16A43971-4781-4EFA-854F-778D30968A61}"/>
    <dgm:cxn modelId="{FFFF8CE8-DC1F-41B7-AF0C-49167BD2DD50}" type="presOf" srcId="{B321B6C9-C1A4-4041-87B8-E8DBA0C3CA17}" destId="{75F17A18-7FC5-40CB-944E-F0F94A111DC4}" srcOrd="0" destOrd="0" presId="urn:microsoft.com/office/officeart/2005/8/layout/vProcess5"/>
    <dgm:cxn modelId="{FE61E1EE-F781-4CA9-B1EC-964E80D59C42}" type="presOf" srcId="{16A43971-4781-4EFA-854F-778D30968A61}" destId="{C134D79A-F4A4-44C6-9FBB-F16351C1D928}" srcOrd="0" destOrd="0" presId="urn:microsoft.com/office/officeart/2005/8/layout/vProcess5"/>
    <dgm:cxn modelId="{7CA7CE7C-3AB2-42A5-A8F0-CA216B3FC6EF}" type="presParOf" srcId="{F17E4123-BC90-4F80-AE91-99BEA74D5827}" destId="{F4E0EE82-64E9-40C6-B351-ADD45DD1AD63}" srcOrd="0" destOrd="0" presId="urn:microsoft.com/office/officeart/2005/8/layout/vProcess5"/>
    <dgm:cxn modelId="{660F62E7-3F4D-4358-BE12-48329093914D}" type="presParOf" srcId="{F17E4123-BC90-4F80-AE91-99BEA74D5827}" destId="{54DD1464-0771-4C14-A3B3-487883DAE5E9}" srcOrd="1" destOrd="0" presId="urn:microsoft.com/office/officeart/2005/8/layout/vProcess5"/>
    <dgm:cxn modelId="{C3EF7529-C0C0-458B-AC38-5731A37AB19C}" type="presParOf" srcId="{F17E4123-BC90-4F80-AE91-99BEA74D5827}" destId="{77361B6E-75E3-4244-8AAB-884052DE1E3D}" srcOrd="2" destOrd="0" presId="urn:microsoft.com/office/officeart/2005/8/layout/vProcess5"/>
    <dgm:cxn modelId="{4E83635B-6897-40C9-89FF-2AE5E2B0C4DC}" type="presParOf" srcId="{F17E4123-BC90-4F80-AE91-99BEA74D5827}" destId="{C24A16D5-E633-42B5-9E58-454CB79C83D7}" srcOrd="3" destOrd="0" presId="urn:microsoft.com/office/officeart/2005/8/layout/vProcess5"/>
    <dgm:cxn modelId="{56895355-6A42-405C-947C-0C2878309CEF}" type="presParOf" srcId="{F17E4123-BC90-4F80-AE91-99BEA74D5827}" destId="{75F17A18-7FC5-40CB-944E-F0F94A111DC4}" srcOrd="4" destOrd="0" presId="urn:microsoft.com/office/officeart/2005/8/layout/vProcess5"/>
    <dgm:cxn modelId="{29FF6BD7-22A8-4B9A-A5F7-43735576D05E}" type="presParOf" srcId="{F17E4123-BC90-4F80-AE91-99BEA74D5827}" destId="{6C2E77CF-750A-4E9B-8F87-6456CE8C794D}" srcOrd="5" destOrd="0" presId="urn:microsoft.com/office/officeart/2005/8/layout/vProcess5"/>
    <dgm:cxn modelId="{616391AD-D9A0-4731-9E4F-725CE819B9E9}" type="presParOf" srcId="{F17E4123-BC90-4F80-AE91-99BEA74D5827}" destId="{BF9D5BFC-CC1E-4A2D-9D3B-9812C7D5AF1A}" srcOrd="6" destOrd="0" presId="urn:microsoft.com/office/officeart/2005/8/layout/vProcess5"/>
    <dgm:cxn modelId="{9EDD2514-A6A2-40E5-AD64-E453E0E42C7D}" type="presParOf" srcId="{F17E4123-BC90-4F80-AE91-99BEA74D5827}" destId="{C134D79A-F4A4-44C6-9FBB-F16351C1D928}" srcOrd="7" destOrd="0" presId="urn:microsoft.com/office/officeart/2005/8/layout/vProcess5"/>
    <dgm:cxn modelId="{D5E4BFE3-AE79-4165-B489-F50F594AA98F}" type="presParOf" srcId="{F17E4123-BC90-4F80-AE91-99BEA74D5827}" destId="{0183FC1C-86F8-4089-8870-31E599497CBB}" srcOrd="8" destOrd="0" presId="urn:microsoft.com/office/officeart/2005/8/layout/vProcess5"/>
    <dgm:cxn modelId="{46AC4992-2A66-4A81-8937-55B0B59FCF3F}" type="presParOf" srcId="{F17E4123-BC90-4F80-AE91-99BEA74D5827}" destId="{5D82E529-8453-4477-9744-CF0F4253C81F}" srcOrd="9" destOrd="0" presId="urn:microsoft.com/office/officeart/2005/8/layout/vProcess5"/>
    <dgm:cxn modelId="{5A5191B1-A0F2-4A5D-AB4E-3ABD5447C4FD}" type="presParOf" srcId="{F17E4123-BC90-4F80-AE91-99BEA74D5827}" destId="{7F8D0DBC-BFDD-418C-8F20-82E4CB28966C}" srcOrd="10" destOrd="0" presId="urn:microsoft.com/office/officeart/2005/8/layout/vProcess5"/>
    <dgm:cxn modelId="{1EF6ACF0-2AAF-49BE-ACE8-62C75736AD99}" type="presParOf" srcId="{F17E4123-BC90-4F80-AE91-99BEA74D5827}" destId="{30016220-048E-488A-8A59-C6F09A50224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A58567-20A6-4313-9657-9980E11D82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098DC6-AFBF-497F-A839-ED2EB583A652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Top-Down Approach:</a:t>
          </a:r>
        </a:p>
      </dgm:t>
    </dgm:pt>
    <dgm:pt modelId="{013C42CE-517C-4B61-A4CF-DAF0E3C00EEF}" type="parTrans" cxnId="{7907B591-A146-4C47-ACCE-ADEAC3CE53C7}">
      <dgm:prSet/>
      <dgm:spPr/>
      <dgm:t>
        <a:bodyPr/>
        <a:lstStyle/>
        <a:p>
          <a:endParaRPr lang="en-US"/>
        </a:p>
      </dgm:t>
    </dgm:pt>
    <dgm:pt modelId="{612CD180-2A6B-43E9-9394-4B9232472C99}" type="sibTrans" cxnId="{7907B591-A146-4C47-ACCE-ADEAC3CE53C7}">
      <dgm:prSet/>
      <dgm:spPr/>
      <dgm:t>
        <a:bodyPr/>
        <a:lstStyle/>
        <a:p>
          <a:endParaRPr lang="en-US"/>
        </a:p>
      </dgm:t>
    </dgm:pt>
    <dgm:pt modelId="{9E4B9563-25FA-4665-9463-8E7431FBBB29}">
      <dgm:prSet/>
      <dgm:spPr/>
      <dgm:t>
        <a:bodyPr/>
        <a:lstStyle/>
        <a:p>
          <a:r>
            <a:rPr lang="en-US"/>
            <a:t>Market Expansion: 30%</a:t>
          </a:r>
        </a:p>
      </dgm:t>
    </dgm:pt>
    <dgm:pt modelId="{C1F4D229-A805-44FD-9B32-ED79912CB4F1}" type="parTrans" cxnId="{549E6A32-5370-4F41-81D7-15C4CB3665BC}">
      <dgm:prSet/>
      <dgm:spPr/>
      <dgm:t>
        <a:bodyPr/>
        <a:lstStyle/>
        <a:p>
          <a:endParaRPr lang="en-US"/>
        </a:p>
      </dgm:t>
    </dgm:pt>
    <dgm:pt modelId="{AD2A959D-42B6-4ABC-BF28-1F66E1CBEE0E}" type="sibTrans" cxnId="{549E6A32-5370-4F41-81D7-15C4CB3665BC}">
      <dgm:prSet/>
      <dgm:spPr/>
      <dgm:t>
        <a:bodyPr/>
        <a:lstStyle/>
        <a:p>
          <a:endParaRPr lang="en-US"/>
        </a:p>
      </dgm:t>
    </dgm:pt>
    <dgm:pt modelId="{9543B207-904F-4787-B45E-672644C2DEF2}">
      <dgm:prSet/>
      <dgm:spPr/>
      <dgm:t>
        <a:bodyPr/>
        <a:lstStyle/>
        <a:p>
          <a:r>
            <a:rPr lang="en-US"/>
            <a:t>Operational Efficiency: 25%</a:t>
          </a:r>
        </a:p>
      </dgm:t>
    </dgm:pt>
    <dgm:pt modelId="{EB14520E-A8C7-4223-B265-B0E2870E0BB1}" type="parTrans" cxnId="{82553870-2001-451A-BD04-661575D1EEAF}">
      <dgm:prSet/>
      <dgm:spPr/>
      <dgm:t>
        <a:bodyPr/>
        <a:lstStyle/>
        <a:p>
          <a:endParaRPr lang="en-US"/>
        </a:p>
      </dgm:t>
    </dgm:pt>
    <dgm:pt modelId="{D4DD9F06-A919-420B-A778-3F446D141634}" type="sibTrans" cxnId="{82553870-2001-451A-BD04-661575D1EEAF}">
      <dgm:prSet/>
      <dgm:spPr/>
      <dgm:t>
        <a:bodyPr/>
        <a:lstStyle/>
        <a:p>
          <a:endParaRPr lang="en-US"/>
        </a:p>
      </dgm:t>
    </dgm:pt>
    <dgm:pt modelId="{FA1B18D9-4FFA-4460-891D-610E151F581D}">
      <dgm:prSet/>
      <dgm:spPr/>
      <dgm:t>
        <a:bodyPr/>
        <a:lstStyle/>
        <a:p>
          <a:r>
            <a:rPr lang="en-US"/>
            <a:t>Customer Experience: 20%</a:t>
          </a:r>
        </a:p>
      </dgm:t>
    </dgm:pt>
    <dgm:pt modelId="{701FE6BC-3F54-464E-A562-340CABA21FB8}" type="parTrans" cxnId="{61FE29DF-8E14-4677-B368-39A35085D2E0}">
      <dgm:prSet/>
      <dgm:spPr/>
      <dgm:t>
        <a:bodyPr/>
        <a:lstStyle/>
        <a:p>
          <a:endParaRPr lang="en-US"/>
        </a:p>
      </dgm:t>
    </dgm:pt>
    <dgm:pt modelId="{5C88763A-7010-4615-9363-5B45CB75EF4C}" type="sibTrans" cxnId="{61FE29DF-8E14-4677-B368-39A35085D2E0}">
      <dgm:prSet/>
      <dgm:spPr/>
      <dgm:t>
        <a:bodyPr/>
        <a:lstStyle/>
        <a:p>
          <a:endParaRPr lang="en-US"/>
        </a:p>
      </dgm:t>
    </dgm:pt>
    <dgm:pt modelId="{A623A37C-CC41-46A2-8D30-E1510C29FC31}">
      <dgm:prSet/>
      <dgm:spPr/>
      <dgm:t>
        <a:bodyPr/>
        <a:lstStyle/>
        <a:p>
          <a:r>
            <a:rPr lang="en-US"/>
            <a:t>R&amp;D and Innovation: 15%</a:t>
          </a:r>
        </a:p>
      </dgm:t>
    </dgm:pt>
    <dgm:pt modelId="{D8D88DB3-B2FA-49A1-A195-CD0F77642203}" type="parTrans" cxnId="{9ADC738E-7033-4233-AEFC-DFD95D369100}">
      <dgm:prSet/>
      <dgm:spPr/>
      <dgm:t>
        <a:bodyPr/>
        <a:lstStyle/>
        <a:p>
          <a:endParaRPr lang="en-US"/>
        </a:p>
      </dgm:t>
    </dgm:pt>
    <dgm:pt modelId="{456EDBA4-04C9-43AF-92C1-07771C45F5A0}" type="sibTrans" cxnId="{9ADC738E-7033-4233-AEFC-DFD95D369100}">
      <dgm:prSet/>
      <dgm:spPr/>
      <dgm:t>
        <a:bodyPr/>
        <a:lstStyle/>
        <a:p>
          <a:endParaRPr lang="en-US"/>
        </a:p>
      </dgm:t>
    </dgm:pt>
    <dgm:pt modelId="{D64AEB3F-78EF-4432-BF0B-3A90AD7D5A78}">
      <dgm:prSet/>
      <dgm:spPr/>
      <dgm:t>
        <a:bodyPr/>
        <a:lstStyle/>
        <a:p>
          <a:r>
            <a:rPr lang="en-US"/>
            <a:t>Employee Development: 10%</a:t>
          </a:r>
        </a:p>
      </dgm:t>
    </dgm:pt>
    <dgm:pt modelId="{CEBFF86A-4073-4002-84E5-4CD9EA6C182D}" type="parTrans" cxnId="{ED6F8306-FBAE-47B8-9FBC-71192B2C5056}">
      <dgm:prSet/>
      <dgm:spPr/>
      <dgm:t>
        <a:bodyPr/>
        <a:lstStyle/>
        <a:p>
          <a:endParaRPr lang="en-US"/>
        </a:p>
      </dgm:t>
    </dgm:pt>
    <dgm:pt modelId="{285A31C0-4293-4534-A310-3678887F05D9}" type="sibTrans" cxnId="{ED6F8306-FBAE-47B8-9FBC-71192B2C5056}">
      <dgm:prSet/>
      <dgm:spPr/>
      <dgm:t>
        <a:bodyPr/>
        <a:lstStyle/>
        <a:p>
          <a:endParaRPr lang="en-US"/>
        </a:p>
      </dgm:t>
    </dgm:pt>
    <dgm:pt modelId="{C4CEE09C-FE83-41FB-9113-4C142D44DB06}" type="pres">
      <dgm:prSet presAssocID="{F2A58567-20A6-4313-9657-9980E11D821F}" presName="linear" presStyleCnt="0">
        <dgm:presLayoutVars>
          <dgm:animLvl val="lvl"/>
          <dgm:resizeHandles val="exact"/>
        </dgm:presLayoutVars>
      </dgm:prSet>
      <dgm:spPr/>
    </dgm:pt>
    <dgm:pt modelId="{14FDD9E7-7FE1-4348-8101-59486D2572AD}" type="pres">
      <dgm:prSet presAssocID="{D0098DC6-AFBF-497F-A839-ED2EB583A65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B445135-75EA-4421-9DC2-A0924E8DB57D}" type="pres">
      <dgm:prSet presAssocID="{612CD180-2A6B-43E9-9394-4B9232472C99}" presName="spacer" presStyleCnt="0"/>
      <dgm:spPr/>
    </dgm:pt>
    <dgm:pt modelId="{CDE83003-030E-4936-B280-FA11F36F68CB}" type="pres">
      <dgm:prSet presAssocID="{9E4B9563-25FA-4665-9463-8E7431FBBB2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2405442-E6AB-4779-8BE2-4BD993EFCAF9}" type="pres">
      <dgm:prSet presAssocID="{AD2A959D-42B6-4ABC-BF28-1F66E1CBEE0E}" presName="spacer" presStyleCnt="0"/>
      <dgm:spPr/>
    </dgm:pt>
    <dgm:pt modelId="{D31A60BC-AFBB-4ED8-864B-4D970302D161}" type="pres">
      <dgm:prSet presAssocID="{9543B207-904F-4787-B45E-672644C2DEF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1FF3A1A-42ED-4F60-817C-7140B309BB70}" type="pres">
      <dgm:prSet presAssocID="{D4DD9F06-A919-420B-A778-3F446D141634}" presName="spacer" presStyleCnt="0"/>
      <dgm:spPr/>
    </dgm:pt>
    <dgm:pt modelId="{F0D75E58-BED4-4110-B679-521F3EC62B9C}" type="pres">
      <dgm:prSet presAssocID="{FA1B18D9-4FFA-4460-891D-610E151F581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5D47112-0430-4103-8AC4-FD626ECB38D9}" type="pres">
      <dgm:prSet presAssocID="{5C88763A-7010-4615-9363-5B45CB75EF4C}" presName="spacer" presStyleCnt="0"/>
      <dgm:spPr/>
    </dgm:pt>
    <dgm:pt modelId="{1E183CFF-00EA-453D-8797-5F4D17F2C4E7}" type="pres">
      <dgm:prSet presAssocID="{A623A37C-CC41-46A2-8D30-E1510C29FC3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D24579D-BC44-4A19-8F0D-79D41F2E8B90}" type="pres">
      <dgm:prSet presAssocID="{456EDBA4-04C9-43AF-92C1-07771C45F5A0}" presName="spacer" presStyleCnt="0"/>
      <dgm:spPr/>
    </dgm:pt>
    <dgm:pt modelId="{1F63D1E8-E4CF-4B8C-83D6-AA220047CFC6}" type="pres">
      <dgm:prSet presAssocID="{D64AEB3F-78EF-4432-BF0B-3A90AD7D5A7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D6F8306-FBAE-47B8-9FBC-71192B2C5056}" srcId="{F2A58567-20A6-4313-9657-9980E11D821F}" destId="{D64AEB3F-78EF-4432-BF0B-3A90AD7D5A78}" srcOrd="5" destOrd="0" parTransId="{CEBFF86A-4073-4002-84E5-4CD9EA6C182D}" sibTransId="{285A31C0-4293-4534-A310-3678887F05D9}"/>
    <dgm:cxn modelId="{79946D09-701F-48B9-9D0C-8E3EA6C80A8F}" type="presOf" srcId="{F2A58567-20A6-4313-9657-9980E11D821F}" destId="{C4CEE09C-FE83-41FB-9113-4C142D44DB06}" srcOrd="0" destOrd="0" presId="urn:microsoft.com/office/officeart/2005/8/layout/vList2"/>
    <dgm:cxn modelId="{549E6A32-5370-4F41-81D7-15C4CB3665BC}" srcId="{F2A58567-20A6-4313-9657-9980E11D821F}" destId="{9E4B9563-25FA-4665-9463-8E7431FBBB29}" srcOrd="1" destOrd="0" parTransId="{C1F4D229-A805-44FD-9B32-ED79912CB4F1}" sibTransId="{AD2A959D-42B6-4ABC-BF28-1F66E1CBEE0E}"/>
    <dgm:cxn modelId="{49F23439-78F7-4CD3-AE60-492BA9BB4479}" type="presOf" srcId="{FA1B18D9-4FFA-4460-891D-610E151F581D}" destId="{F0D75E58-BED4-4110-B679-521F3EC62B9C}" srcOrd="0" destOrd="0" presId="urn:microsoft.com/office/officeart/2005/8/layout/vList2"/>
    <dgm:cxn modelId="{82553870-2001-451A-BD04-661575D1EEAF}" srcId="{F2A58567-20A6-4313-9657-9980E11D821F}" destId="{9543B207-904F-4787-B45E-672644C2DEF2}" srcOrd="2" destOrd="0" parTransId="{EB14520E-A8C7-4223-B265-B0E2870E0BB1}" sibTransId="{D4DD9F06-A919-420B-A778-3F446D141634}"/>
    <dgm:cxn modelId="{5487FB88-33C1-4A24-B330-80A0169147D7}" type="presOf" srcId="{D64AEB3F-78EF-4432-BF0B-3A90AD7D5A78}" destId="{1F63D1E8-E4CF-4B8C-83D6-AA220047CFC6}" srcOrd="0" destOrd="0" presId="urn:microsoft.com/office/officeart/2005/8/layout/vList2"/>
    <dgm:cxn modelId="{B822C88B-798C-4C7E-81E8-5AB22AA7A208}" type="presOf" srcId="{A623A37C-CC41-46A2-8D30-E1510C29FC31}" destId="{1E183CFF-00EA-453D-8797-5F4D17F2C4E7}" srcOrd="0" destOrd="0" presId="urn:microsoft.com/office/officeart/2005/8/layout/vList2"/>
    <dgm:cxn modelId="{9ADC738E-7033-4233-AEFC-DFD95D369100}" srcId="{F2A58567-20A6-4313-9657-9980E11D821F}" destId="{A623A37C-CC41-46A2-8D30-E1510C29FC31}" srcOrd="4" destOrd="0" parTransId="{D8D88DB3-B2FA-49A1-A195-CD0F77642203}" sibTransId="{456EDBA4-04C9-43AF-92C1-07771C45F5A0}"/>
    <dgm:cxn modelId="{7907B591-A146-4C47-ACCE-ADEAC3CE53C7}" srcId="{F2A58567-20A6-4313-9657-9980E11D821F}" destId="{D0098DC6-AFBF-497F-A839-ED2EB583A652}" srcOrd="0" destOrd="0" parTransId="{013C42CE-517C-4B61-A4CF-DAF0E3C00EEF}" sibTransId="{612CD180-2A6B-43E9-9394-4B9232472C99}"/>
    <dgm:cxn modelId="{F6E27BB5-F70F-4743-80DD-EFF503CDA5EC}" type="presOf" srcId="{9E4B9563-25FA-4665-9463-8E7431FBBB29}" destId="{CDE83003-030E-4936-B280-FA11F36F68CB}" srcOrd="0" destOrd="0" presId="urn:microsoft.com/office/officeart/2005/8/layout/vList2"/>
    <dgm:cxn modelId="{AE3998C0-6F90-4ACA-ACE7-0955937FB12F}" type="presOf" srcId="{9543B207-904F-4787-B45E-672644C2DEF2}" destId="{D31A60BC-AFBB-4ED8-864B-4D970302D161}" srcOrd="0" destOrd="0" presId="urn:microsoft.com/office/officeart/2005/8/layout/vList2"/>
    <dgm:cxn modelId="{5611EDD6-BC03-489C-9BD5-99898E2DB902}" type="presOf" srcId="{D0098DC6-AFBF-497F-A839-ED2EB583A652}" destId="{14FDD9E7-7FE1-4348-8101-59486D2572AD}" srcOrd="0" destOrd="0" presId="urn:microsoft.com/office/officeart/2005/8/layout/vList2"/>
    <dgm:cxn modelId="{61FE29DF-8E14-4677-B368-39A35085D2E0}" srcId="{F2A58567-20A6-4313-9657-9980E11D821F}" destId="{FA1B18D9-4FFA-4460-891D-610E151F581D}" srcOrd="3" destOrd="0" parTransId="{701FE6BC-3F54-464E-A562-340CABA21FB8}" sibTransId="{5C88763A-7010-4615-9363-5B45CB75EF4C}"/>
    <dgm:cxn modelId="{B33FE187-57B6-4948-8346-53BFB7343C05}" type="presParOf" srcId="{C4CEE09C-FE83-41FB-9113-4C142D44DB06}" destId="{14FDD9E7-7FE1-4348-8101-59486D2572AD}" srcOrd="0" destOrd="0" presId="urn:microsoft.com/office/officeart/2005/8/layout/vList2"/>
    <dgm:cxn modelId="{538392A5-7C16-4B44-A9F7-46D570A5D6E3}" type="presParOf" srcId="{C4CEE09C-FE83-41FB-9113-4C142D44DB06}" destId="{EB445135-75EA-4421-9DC2-A0924E8DB57D}" srcOrd="1" destOrd="0" presId="urn:microsoft.com/office/officeart/2005/8/layout/vList2"/>
    <dgm:cxn modelId="{CEFCEEA2-FAFC-46F4-BEA5-586E39F311F9}" type="presParOf" srcId="{C4CEE09C-FE83-41FB-9113-4C142D44DB06}" destId="{CDE83003-030E-4936-B280-FA11F36F68CB}" srcOrd="2" destOrd="0" presId="urn:microsoft.com/office/officeart/2005/8/layout/vList2"/>
    <dgm:cxn modelId="{06CD865C-2988-4AE2-906E-058974AD5AD4}" type="presParOf" srcId="{C4CEE09C-FE83-41FB-9113-4C142D44DB06}" destId="{A2405442-E6AB-4779-8BE2-4BD993EFCAF9}" srcOrd="3" destOrd="0" presId="urn:microsoft.com/office/officeart/2005/8/layout/vList2"/>
    <dgm:cxn modelId="{22CE520B-947F-495E-B784-5652B7013843}" type="presParOf" srcId="{C4CEE09C-FE83-41FB-9113-4C142D44DB06}" destId="{D31A60BC-AFBB-4ED8-864B-4D970302D161}" srcOrd="4" destOrd="0" presId="urn:microsoft.com/office/officeart/2005/8/layout/vList2"/>
    <dgm:cxn modelId="{AF9BB66D-24B9-4282-BEF7-1C1437DC85AB}" type="presParOf" srcId="{C4CEE09C-FE83-41FB-9113-4C142D44DB06}" destId="{A1FF3A1A-42ED-4F60-817C-7140B309BB70}" srcOrd="5" destOrd="0" presId="urn:microsoft.com/office/officeart/2005/8/layout/vList2"/>
    <dgm:cxn modelId="{1E4E9818-A916-4383-94CB-62835E012798}" type="presParOf" srcId="{C4CEE09C-FE83-41FB-9113-4C142D44DB06}" destId="{F0D75E58-BED4-4110-B679-521F3EC62B9C}" srcOrd="6" destOrd="0" presId="urn:microsoft.com/office/officeart/2005/8/layout/vList2"/>
    <dgm:cxn modelId="{AAAFB7C5-3A1C-4030-9782-5EA5ADDC880C}" type="presParOf" srcId="{C4CEE09C-FE83-41FB-9113-4C142D44DB06}" destId="{65D47112-0430-4103-8AC4-FD626ECB38D9}" srcOrd="7" destOrd="0" presId="urn:microsoft.com/office/officeart/2005/8/layout/vList2"/>
    <dgm:cxn modelId="{351C3707-6853-412F-B956-20047A7A1609}" type="presParOf" srcId="{C4CEE09C-FE83-41FB-9113-4C142D44DB06}" destId="{1E183CFF-00EA-453D-8797-5F4D17F2C4E7}" srcOrd="8" destOrd="0" presId="urn:microsoft.com/office/officeart/2005/8/layout/vList2"/>
    <dgm:cxn modelId="{0A3EB77D-BF08-4F7D-8891-C38D84D6E6DB}" type="presParOf" srcId="{C4CEE09C-FE83-41FB-9113-4C142D44DB06}" destId="{2D24579D-BC44-4A19-8F0D-79D41F2E8B90}" srcOrd="9" destOrd="0" presId="urn:microsoft.com/office/officeart/2005/8/layout/vList2"/>
    <dgm:cxn modelId="{2292686E-0A90-4A6E-BC9C-133C9A3D8667}" type="presParOf" srcId="{C4CEE09C-FE83-41FB-9113-4C142D44DB06}" destId="{1F63D1E8-E4CF-4B8C-83D6-AA220047CFC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04BDCF-1154-4D75-97AA-5CC11A967EE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050D91-2512-4C38-BF2C-8149572FDA88}">
      <dgm:prSet/>
      <dgm:spPr/>
      <dgm:t>
        <a:bodyPr/>
        <a:lstStyle/>
        <a:p>
          <a:r>
            <a:rPr lang="en-US"/>
            <a:t>Five Components:</a:t>
          </a:r>
        </a:p>
      </dgm:t>
    </dgm:pt>
    <dgm:pt modelId="{A0BBD618-733A-4DA3-BAAA-11EE0AEF0B24}" type="parTrans" cxnId="{CC4ACC48-E581-40B4-AED5-A65C0BACA346}">
      <dgm:prSet/>
      <dgm:spPr/>
      <dgm:t>
        <a:bodyPr/>
        <a:lstStyle/>
        <a:p>
          <a:endParaRPr lang="en-US"/>
        </a:p>
      </dgm:t>
    </dgm:pt>
    <dgm:pt modelId="{DC25304F-82FC-46D1-ABBD-CBA1D61EE249}" type="sibTrans" cxnId="{CC4ACC48-E581-40B4-AED5-A65C0BACA346}">
      <dgm:prSet/>
      <dgm:spPr/>
      <dgm:t>
        <a:bodyPr/>
        <a:lstStyle/>
        <a:p>
          <a:endParaRPr lang="en-US"/>
        </a:p>
      </dgm:t>
    </dgm:pt>
    <dgm:pt modelId="{4001C698-EAB3-49CB-9D9B-538B59EFBBB4}">
      <dgm:prSet/>
      <dgm:spPr/>
      <dgm:t>
        <a:bodyPr/>
        <a:lstStyle/>
        <a:p>
          <a:r>
            <a:rPr lang="en-US"/>
            <a:t>1. Strategic Direction: Vision, mission, and goals.</a:t>
          </a:r>
        </a:p>
      </dgm:t>
    </dgm:pt>
    <dgm:pt modelId="{220D1B65-3D9D-4FD9-A43C-B59D1EA954E8}" type="parTrans" cxnId="{30F63E8C-57E0-4C7A-80C9-20BB8B0D6341}">
      <dgm:prSet/>
      <dgm:spPr/>
      <dgm:t>
        <a:bodyPr/>
        <a:lstStyle/>
        <a:p>
          <a:endParaRPr lang="en-US"/>
        </a:p>
      </dgm:t>
    </dgm:pt>
    <dgm:pt modelId="{DF3D63BF-80D1-4237-81FF-C0D0701011B8}" type="sibTrans" cxnId="{30F63E8C-57E0-4C7A-80C9-20BB8B0D6341}">
      <dgm:prSet/>
      <dgm:spPr/>
      <dgm:t>
        <a:bodyPr/>
        <a:lstStyle/>
        <a:p>
          <a:endParaRPr lang="en-US"/>
        </a:p>
      </dgm:t>
    </dgm:pt>
    <dgm:pt modelId="{A8FD0139-C963-44F1-A3A3-6F57AD879F29}">
      <dgm:prSet/>
      <dgm:spPr/>
      <dgm:t>
        <a:bodyPr/>
        <a:lstStyle/>
        <a:p>
          <a:r>
            <a:rPr lang="en-US"/>
            <a:t>2. Performance Monitoring: KPIs and dashboards.</a:t>
          </a:r>
        </a:p>
      </dgm:t>
    </dgm:pt>
    <dgm:pt modelId="{19AC3368-9607-42F0-B2BA-25FAA90B3689}" type="parTrans" cxnId="{52285207-6D22-48BA-9FA1-6E5E666FCF4C}">
      <dgm:prSet/>
      <dgm:spPr/>
      <dgm:t>
        <a:bodyPr/>
        <a:lstStyle/>
        <a:p>
          <a:endParaRPr lang="en-US"/>
        </a:p>
      </dgm:t>
    </dgm:pt>
    <dgm:pt modelId="{540849FD-3970-4EFB-8815-8F371DF53C3E}" type="sibTrans" cxnId="{52285207-6D22-48BA-9FA1-6E5E666FCF4C}">
      <dgm:prSet/>
      <dgm:spPr/>
      <dgm:t>
        <a:bodyPr/>
        <a:lstStyle/>
        <a:p>
          <a:endParaRPr lang="en-US"/>
        </a:p>
      </dgm:t>
    </dgm:pt>
    <dgm:pt modelId="{4F8AFDAC-2C03-400A-A3E1-674B9924D304}">
      <dgm:prSet/>
      <dgm:spPr/>
      <dgm:t>
        <a:bodyPr/>
        <a:lstStyle/>
        <a:p>
          <a:r>
            <a:rPr lang="en-US"/>
            <a:t>3. Decision authority :Resource Allocation and Budget alignment with priorities.</a:t>
          </a:r>
        </a:p>
      </dgm:t>
    </dgm:pt>
    <dgm:pt modelId="{8E0A8889-9A7D-4691-BEB5-87C50CB4BEC6}" type="parTrans" cxnId="{715BC966-297E-4456-B45A-689E01AEB6EE}">
      <dgm:prSet/>
      <dgm:spPr/>
      <dgm:t>
        <a:bodyPr/>
        <a:lstStyle/>
        <a:p>
          <a:endParaRPr lang="en-US"/>
        </a:p>
      </dgm:t>
    </dgm:pt>
    <dgm:pt modelId="{1B5A3BBD-C375-4F23-B8A6-43236FD3C482}" type="sibTrans" cxnId="{715BC966-297E-4456-B45A-689E01AEB6EE}">
      <dgm:prSet/>
      <dgm:spPr/>
      <dgm:t>
        <a:bodyPr/>
        <a:lstStyle/>
        <a:p>
          <a:endParaRPr lang="en-US"/>
        </a:p>
      </dgm:t>
    </dgm:pt>
    <dgm:pt modelId="{824EE973-4A4D-454B-AEEA-FEC600736FCF}">
      <dgm:prSet/>
      <dgm:spPr/>
      <dgm:t>
        <a:bodyPr/>
        <a:lstStyle/>
        <a:p>
          <a:r>
            <a:rPr lang="en-US"/>
            <a:t>4. Risk Management: PESTEL-based risk mitigation.</a:t>
          </a:r>
        </a:p>
      </dgm:t>
    </dgm:pt>
    <dgm:pt modelId="{BAD39B5B-24D0-474E-BC74-C27167C178EE}" type="parTrans" cxnId="{DF63375A-08DB-4CB6-B199-6C03F554B322}">
      <dgm:prSet/>
      <dgm:spPr/>
      <dgm:t>
        <a:bodyPr/>
        <a:lstStyle/>
        <a:p>
          <a:endParaRPr lang="en-US"/>
        </a:p>
      </dgm:t>
    </dgm:pt>
    <dgm:pt modelId="{7D199449-EE67-4FB4-B852-1808638B0128}" type="sibTrans" cxnId="{DF63375A-08DB-4CB6-B199-6C03F554B322}">
      <dgm:prSet/>
      <dgm:spPr/>
      <dgm:t>
        <a:bodyPr/>
        <a:lstStyle/>
        <a:p>
          <a:endParaRPr lang="en-US"/>
        </a:p>
      </dgm:t>
    </dgm:pt>
    <dgm:pt modelId="{2AFAC635-FED6-4A17-B1D4-42D1C1371EF0}">
      <dgm:prSet/>
      <dgm:spPr/>
      <dgm:t>
        <a:bodyPr/>
        <a:lstStyle/>
        <a:p>
          <a:r>
            <a:rPr lang="en-US"/>
            <a:t>5. Accountability and Culture: Clear ownership and innovation culture.</a:t>
          </a:r>
        </a:p>
      </dgm:t>
    </dgm:pt>
    <dgm:pt modelId="{9E59E108-4CFB-4C4E-8C2B-5C693AD900F8}" type="parTrans" cxnId="{18F2A9B1-816B-4B0C-85DC-628D31BDEAD7}">
      <dgm:prSet/>
      <dgm:spPr/>
      <dgm:t>
        <a:bodyPr/>
        <a:lstStyle/>
        <a:p>
          <a:endParaRPr lang="en-US"/>
        </a:p>
      </dgm:t>
    </dgm:pt>
    <dgm:pt modelId="{C26D9179-00F2-4D7E-A709-EEA350F10B50}" type="sibTrans" cxnId="{18F2A9B1-816B-4B0C-85DC-628D31BDEAD7}">
      <dgm:prSet/>
      <dgm:spPr/>
      <dgm:t>
        <a:bodyPr/>
        <a:lstStyle/>
        <a:p>
          <a:endParaRPr lang="en-US"/>
        </a:p>
      </dgm:t>
    </dgm:pt>
    <dgm:pt modelId="{87E67109-2A06-4773-A889-C287A7FC38E6}" type="pres">
      <dgm:prSet presAssocID="{A304BDCF-1154-4D75-97AA-5CC11A967EE7}" presName="linear" presStyleCnt="0">
        <dgm:presLayoutVars>
          <dgm:animLvl val="lvl"/>
          <dgm:resizeHandles val="exact"/>
        </dgm:presLayoutVars>
      </dgm:prSet>
      <dgm:spPr/>
    </dgm:pt>
    <dgm:pt modelId="{DD508AC3-33C0-42C6-BB14-83CD5A0D1F56}" type="pres">
      <dgm:prSet presAssocID="{E4050D91-2512-4C38-BF2C-8149572FDA8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EEB1D9C-9265-4BC3-8CAD-B8B87D16DF78}" type="pres">
      <dgm:prSet presAssocID="{DC25304F-82FC-46D1-ABBD-CBA1D61EE249}" presName="spacer" presStyleCnt="0"/>
      <dgm:spPr/>
    </dgm:pt>
    <dgm:pt modelId="{D4B5E5A4-C646-4850-8063-61CA31732C4F}" type="pres">
      <dgm:prSet presAssocID="{4001C698-EAB3-49CB-9D9B-538B59EFBBB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1196AD5-3A03-454D-98F6-6E72E19125BD}" type="pres">
      <dgm:prSet presAssocID="{DF3D63BF-80D1-4237-81FF-C0D0701011B8}" presName="spacer" presStyleCnt="0"/>
      <dgm:spPr/>
    </dgm:pt>
    <dgm:pt modelId="{F8378ABE-5B7B-4BE0-A387-9AF7C5CAC3BE}" type="pres">
      <dgm:prSet presAssocID="{A8FD0139-C963-44F1-A3A3-6F57AD879F2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212FD5C-DEF4-4C08-97C0-BAE6252FF236}" type="pres">
      <dgm:prSet presAssocID="{540849FD-3970-4EFB-8815-8F371DF53C3E}" presName="spacer" presStyleCnt="0"/>
      <dgm:spPr/>
    </dgm:pt>
    <dgm:pt modelId="{2F0A4CE4-8350-44CF-A0C2-1F36367A1282}" type="pres">
      <dgm:prSet presAssocID="{4F8AFDAC-2C03-400A-A3E1-674B9924D30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40CEC85-7907-4B21-A212-E9FB337A03BB}" type="pres">
      <dgm:prSet presAssocID="{1B5A3BBD-C375-4F23-B8A6-43236FD3C482}" presName="spacer" presStyleCnt="0"/>
      <dgm:spPr/>
    </dgm:pt>
    <dgm:pt modelId="{3C0C3D33-8A46-4C21-A0FA-78E24EEAF1FD}" type="pres">
      <dgm:prSet presAssocID="{824EE973-4A4D-454B-AEEA-FEC600736FC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19778F9-7FF2-4D81-9BC8-9A1978BD420F}" type="pres">
      <dgm:prSet presAssocID="{7D199449-EE67-4FB4-B852-1808638B0128}" presName="spacer" presStyleCnt="0"/>
      <dgm:spPr/>
    </dgm:pt>
    <dgm:pt modelId="{A38AF610-2374-4A2B-B6CC-9FEEF5AE7BBE}" type="pres">
      <dgm:prSet presAssocID="{2AFAC635-FED6-4A17-B1D4-42D1C1371EF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6D69E06-CF6F-4D2A-A25F-82A013017A73}" type="presOf" srcId="{4001C698-EAB3-49CB-9D9B-538B59EFBBB4}" destId="{D4B5E5A4-C646-4850-8063-61CA31732C4F}" srcOrd="0" destOrd="0" presId="urn:microsoft.com/office/officeart/2005/8/layout/vList2"/>
    <dgm:cxn modelId="{52285207-6D22-48BA-9FA1-6E5E666FCF4C}" srcId="{A304BDCF-1154-4D75-97AA-5CC11A967EE7}" destId="{A8FD0139-C963-44F1-A3A3-6F57AD879F29}" srcOrd="2" destOrd="0" parTransId="{19AC3368-9607-42F0-B2BA-25FAA90B3689}" sibTransId="{540849FD-3970-4EFB-8815-8F371DF53C3E}"/>
    <dgm:cxn modelId="{4C81F118-D1E4-41C2-9D7D-F71F576998FD}" type="presOf" srcId="{E4050D91-2512-4C38-BF2C-8149572FDA88}" destId="{DD508AC3-33C0-42C6-BB14-83CD5A0D1F56}" srcOrd="0" destOrd="0" presId="urn:microsoft.com/office/officeart/2005/8/layout/vList2"/>
    <dgm:cxn modelId="{715BC966-297E-4456-B45A-689E01AEB6EE}" srcId="{A304BDCF-1154-4D75-97AA-5CC11A967EE7}" destId="{4F8AFDAC-2C03-400A-A3E1-674B9924D304}" srcOrd="3" destOrd="0" parTransId="{8E0A8889-9A7D-4691-BEB5-87C50CB4BEC6}" sibTransId="{1B5A3BBD-C375-4F23-B8A6-43236FD3C482}"/>
    <dgm:cxn modelId="{CC4ACC48-E581-40B4-AED5-A65C0BACA346}" srcId="{A304BDCF-1154-4D75-97AA-5CC11A967EE7}" destId="{E4050D91-2512-4C38-BF2C-8149572FDA88}" srcOrd="0" destOrd="0" parTransId="{A0BBD618-733A-4DA3-BAAA-11EE0AEF0B24}" sibTransId="{DC25304F-82FC-46D1-ABBD-CBA1D61EE249}"/>
    <dgm:cxn modelId="{1975BF6A-C62B-440E-8AF4-8EDB0494D397}" type="presOf" srcId="{A8FD0139-C963-44F1-A3A3-6F57AD879F29}" destId="{F8378ABE-5B7B-4BE0-A387-9AF7C5CAC3BE}" srcOrd="0" destOrd="0" presId="urn:microsoft.com/office/officeart/2005/8/layout/vList2"/>
    <dgm:cxn modelId="{CBA05B58-4D31-4079-8851-94E3E9BC1C21}" type="presOf" srcId="{824EE973-4A4D-454B-AEEA-FEC600736FCF}" destId="{3C0C3D33-8A46-4C21-A0FA-78E24EEAF1FD}" srcOrd="0" destOrd="0" presId="urn:microsoft.com/office/officeart/2005/8/layout/vList2"/>
    <dgm:cxn modelId="{DF63375A-08DB-4CB6-B199-6C03F554B322}" srcId="{A304BDCF-1154-4D75-97AA-5CC11A967EE7}" destId="{824EE973-4A4D-454B-AEEA-FEC600736FCF}" srcOrd="4" destOrd="0" parTransId="{BAD39B5B-24D0-474E-BC74-C27167C178EE}" sibTransId="{7D199449-EE67-4FB4-B852-1808638B0128}"/>
    <dgm:cxn modelId="{30F63E8C-57E0-4C7A-80C9-20BB8B0D6341}" srcId="{A304BDCF-1154-4D75-97AA-5CC11A967EE7}" destId="{4001C698-EAB3-49CB-9D9B-538B59EFBBB4}" srcOrd="1" destOrd="0" parTransId="{220D1B65-3D9D-4FD9-A43C-B59D1EA954E8}" sibTransId="{DF3D63BF-80D1-4237-81FF-C0D0701011B8}"/>
    <dgm:cxn modelId="{2BA9B198-5DCC-44DB-9F98-3E3628EA7755}" type="presOf" srcId="{2AFAC635-FED6-4A17-B1D4-42D1C1371EF0}" destId="{A38AF610-2374-4A2B-B6CC-9FEEF5AE7BBE}" srcOrd="0" destOrd="0" presId="urn:microsoft.com/office/officeart/2005/8/layout/vList2"/>
    <dgm:cxn modelId="{9EDF379A-599C-4478-A4AF-9C2DD4C26890}" type="presOf" srcId="{4F8AFDAC-2C03-400A-A3E1-674B9924D304}" destId="{2F0A4CE4-8350-44CF-A0C2-1F36367A1282}" srcOrd="0" destOrd="0" presId="urn:microsoft.com/office/officeart/2005/8/layout/vList2"/>
    <dgm:cxn modelId="{EE8E4B9E-9A4A-4903-A414-FCF169894847}" type="presOf" srcId="{A304BDCF-1154-4D75-97AA-5CC11A967EE7}" destId="{87E67109-2A06-4773-A889-C287A7FC38E6}" srcOrd="0" destOrd="0" presId="urn:microsoft.com/office/officeart/2005/8/layout/vList2"/>
    <dgm:cxn modelId="{18F2A9B1-816B-4B0C-85DC-628D31BDEAD7}" srcId="{A304BDCF-1154-4D75-97AA-5CC11A967EE7}" destId="{2AFAC635-FED6-4A17-B1D4-42D1C1371EF0}" srcOrd="5" destOrd="0" parTransId="{9E59E108-4CFB-4C4E-8C2B-5C693AD900F8}" sibTransId="{C26D9179-00F2-4D7E-A709-EEA350F10B50}"/>
    <dgm:cxn modelId="{29B74E20-5CC4-473D-A37A-11959D8E8A1E}" type="presParOf" srcId="{87E67109-2A06-4773-A889-C287A7FC38E6}" destId="{DD508AC3-33C0-42C6-BB14-83CD5A0D1F56}" srcOrd="0" destOrd="0" presId="urn:microsoft.com/office/officeart/2005/8/layout/vList2"/>
    <dgm:cxn modelId="{7429EE41-4555-40CE-8F9E-0590613B0C72}" type="presParOf" srcId="{87E67109-2A06-4773-A889-C287A7FC38E6}" destId="{4EEB1D9C-9265-4BC3-8CAD-B8B87D16DF78}" srcOrd="1" destOrd="0" presId="urn:microsoft.com/office/officeart/2005/8/layout/vList2"/>
    <dgm:cxn modelId="{7498AC9B-1050-45FA-8B20-CEAFA0070AAE}" type="presParOf" srcId="{87E67109-2A06-4773-A889-C287A7FC38E6}" destId="{D4B5E5A4-C646-4850-8063-61CA31732C4F}" srcOrd="2" destOrd="0" presId="urn:microsoft.com/office/officeart/2005/8/layout/vList2"/>
    <dgm:cxn modelId="{6CB61616-93BD-4F4C-9957-4A598582BE48}" type="presParOf" srcId="{87E67109-2A06-4773-A889-C287A7FC38E6}" destId="{51196AD5-3A03-454D-98F6-6E72E19125BD}" srcOrd="3" destOrd="0" presId="urn:microsoft.com/office/officeart/2005/8/layout/vList2"/>
    <dgm:cxn modelId="{7A6DFDD0-710C-4BD3-A335-B7ACE01AF0C3}" type="presParOf" srcId="{87E67109-2A06-4773-A889-C287A7FC38E6}" destId="{F8378ABE-5B7B-4BE0-A387-9AF7C5CAC3BE}" srcOrd="4" destOrd="0" presId="urn:microsoft.com/office/officeart/2005/8/layout/vList2"/>
    <dgm:cxn modelId="{18C44065-17D2-40BF-895B-597A7A30ABAB}" type="presParOf" srcId="{87E67109-2A06-4773-A889-C287A7FC38E6}" destId="{0212FD5C-DEF4-4C08-97C0-BAE6252FF236}" srcOrd="5" destOrd="0" presId="urn:microsoft.com/office/officeart/2005/8/layout/vList2"/>
    <dgm:cxn modelId="{122C5EBE-CED0-40BD-BCFA-AE3CB283A1BB}" type="presParOf" srcId="{87E67109-2A06-4773-A889-C287A7FC38E6}" destId="{2F0A4CE4-8350-44CF-A0C2-1F36367A1282}" srcOrd="6" destOrd="0" presId="urn:microsoft.com/office/officeart/2005/8/layout/vList2"/>
    <dgm:cxn modelId="{B8347F71-E2E0-4DF6-A04C-4D1DEDD685AE}" type="presParOf" srcId="{87E67109-2A06-4773-A889-C287A7FC38E6}" destId="{A40CEC85-7907-4B21-A212-E9FB337A03BB}" srcOrd="7" destOrd="0" presId="urn:microsoft.com/office/officeart/2005/8/layout/vList2"/>
    <dgm:cxn modelId="{25A15460-ED34-485C-AD2B-A9DEF1113A9A}" type="presParOf" srcId="{87E67109-2A06-4773-A889-C287A7FC38E6}" destId="{3C0C3D33-8A46-4C21-A0FA-78E24EEAF1FD}" srcOrd="8" destOrd="0" presId="urn:microsoft.com/office/officeart/2005/8/layout/vList2"/>
    <dgm:cxn modelId="{AD2C1D67-C511-4E0A-AEC1-4645AAC65087}" type="presParOf" srcId="{87E67109-2A06-4773-A889-C287A7FC38E6}" destId="{619778F9-7FF2-4D81-9BC8-9A1978BD420F}" srcOrd="9" destOrd="0" presId="urn:microsoft.com/office/officeart/2005/8/layout/vList2"/>
    <dgm:cxn modelId="{9038016B-7CB4-455B-AA2E-9F368D0A3B8E}" type="presParOf" srcId="{87E67109-2A06-4773-A889-C287A7FC38E6}" destId="{A38AF610-2374-4A2B-B6CC-9FEEF5AE7BB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D75C57-CFF2-4C1D-8D0F-B9A4FDE416D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45CD02-4FA0-464C-9656-22DF7B5116BB}">
      <dgm:prSet/>
      <dgm:spPr/>
      <dgm:t>
        <a:bodyPr/>
        <a:lstStyle/>
        <a:p>
          <a:r>
            <a:rPr lang="en-US" b="1"/>
            <a:t>Portfolio Standard</a:t>
          </a:r>
          <a:endParaRPr lang="en-US"/>
        </a:p>
      </dgm:t>
    </dgm:pt>
    <dgm:pt modelId="{71E9EB51-10D7-4138-8FB0-A25B4E5F7B40}" type="parTrans" cxnId="{909E5576-3379-4860-A1C5-7FBFFF925866}">
      <dgm:prSet/>
      <dgm:spPr/>
      <dgm:t>
        <a:bodyPr/>
        <a:lstStyle/>
        <a:p>
          <a:endParaRPr lang="en-US"/>
        </a:p>
      </dgm:t>
    </dgm:pt>
    <dgm:pt modelId="{FCE72CFA-0673-4405-B3F1-F1476EBF69B0}" type="sibTrans" cxnId="{909E5576-3379-4860-A1C5-7FBFFF925866}">
      <dgm:prSet/>
      <dgm:spPr/>
      <dgm:t>
        <a:bodyPr/>
        <a:lstStyle/>
        <a:p>
          <a:endParaRPr lang="en-US"/>
        </a:p>
      </dgm:t>
    </dgm:pt>
    <dgm:pt modelId="{C7700422-7B3E-40F5-A77E-A8608DCB9ACE}">
      <dgm:prSet custT="1"/>
      <dgm:spPr/>
      <dgm:t>
        <a:bodyPr/>
        <a:lstStyle/>
        <a:p>
          <a:r>
            <a:rPr lang="en-US" sz="1100"/>
            <a:t>PMO needs to ensures the standardized  PPM methodologies, process and tools for tracking Project Progress</a:t>
          </a:r>
        </a:p>
      </dgm:t>
    </dgm:pt>
    <dgm:pt modelId="{197AB44C-098C-4F97-A58B-9B8FB8216F25}" type="parTrans" cxnId="{F85BD6EE-5F3F-4DF6-95B2-1335276D6D25}">
      <dgm:prSet/>
      <dgm:spPr/>
      <dgm:t>
        <a:bodyPr/>
        <a:lstStyle/>
        <a:p>
          <a:endParaRPr lang="en-US"/>
        </a:p>
      </dgm:t>
    </dgm:pt>
    <dgm:pt modelId="{293B32DA-ECBA-4D14-8EC9-AE6FE11C7802}" type="sibTrans" cxnId="{F85BD6EE-5F3F-4DF6-95B2-1335276D6D25}">
      <dgm:prSet/>
      <dgm:spPr/>
      <dgm:t>
        <a:bodyPr/>
        <a:lstStyle/>
        <a:p>
          <a:endParaRPr lang="en-US"/>
        </a:p>
      </dgm:t>
    </dgm:pt>
    <dgm:pt modelId="{3BDAD051-21B9-48A8-83EC-68858A69325D}">
      <dgm:prSet custT="1"/>
      <dgm:spPr/>
      <dgm:t>
        <a:bodyPr/>
        <a:lstStyle/>
        <a:p>
          <a:r>
            <a:rPr lang="en-US" sz="1100"/>
            <a:t>Standardize evaluation criteria(Scoring model, checklists ) to filter out non-viable projects</a:t>
          </a:r>
        </a:p>
      </dgm:t>
    </dgm:pt>
    <dgm:pt modelId="{99D4B57C-DAF3-429B-BF89-A84BAB1682AF}" type="parTrans" cxnId="{A653712D-3547-400E-908D-D2E6F15E426B}">
      <dgm:prSet/>
      <dgm:spPr/>
      <dgm:t>
        <a:bodyPr/>
        <a:lstStyle/>
        <a:p>
          <a:endParaRPr lang="en-US"/>
        </a:p>
      </dgm:t>
    </dgm:pt>
    <dgm:pt modelId="{1EE17CCA-FB34-47AC-831D-565A6DF196DA}" type="sibTrans" cxnId="{A653712D-3547-400E-908D-D2E6F15E426B}">
      <dgm:prSet/>
      <dgm:spPr/>
      <dgm:t>
        <a:bodyPr/>
        <a:lstStyle/>
        <a:p>
          <a:endParaRPr lang="en-US"/>
        </a:p>
      </dgm:t>
    </dgm:pt>
    <dgm:pt modelId="{D7EF21AD-91A3-4A96-903A-358AAF2C9653}">
      <dgm:prSet/>
      <dgm:spPr/>
      <dgm:t>
        <a:bodyPr/>
        <a:lstStyle/>
        <a:p>
          <a:r>
            <a:rPr lang="en-US" b="1"/>
            <a:t>Portfolio Oversight</a:t>
          </a:r>
          <a:endParaRPr lang="en-US"/>
        </a:p>
      </dgm:t>
    </dgm:pt>
    <dgm:pt modelId="{F5B596FC-FD98-4B16-B62B-AE5CDB4220A8}" type="parTrans" cxnId="{6D253D6B-3558-4DC8-8D9B-A087ABE3EE2B}">
      <dgm:prSet/>
      <dgm:spPr/>
      <dgm:t>
        <a:bodyPr/>
        <a:lstStyle/>
        <a:p>
          <a:endParaRPr lang="en-US"/>
        </a:p>
      </dgm:t>
    </dgm:pt>
    <dgm:pt modelId="{1E042C98-FE02-4614-9213-0850DF219CDF}" type="sibTrans" cxnId="{6D253D6B-3558-4DC8-8D9B-A087ABE3EE2B}">
      <dgm:prSet/>
      <dgm:spPr/>
      <dgm:t>
        <a:bodyPr/>
        <a:lstStyle/>
        <a:p>
          <a:endParaRPr lang="en-US"/>
        </a:p>
      </dgm:t>
    </dgm:pt>
    <dgm:pt modelId="{2E295C60-0932-4E95-9022-1C3FF37B79F8}">
      <dgm:prSet custT="1"/>
      <dgm:spPr/>
      <dgm:t>
        <a:bodyPr/>
        <a:lstStyle/>
        <a:p>
          <a:r>
            <a:rPr lang="en-US" sz="1100"/>
            <a:t>Coordinate across projects, programs and portfolios</a:t>
          </a:r>
        </a:p>
      </dgm:t>
    </dgm:pt>
    <dgm:pt modelId="{DCF34069-742B-4BCF-869C-E7D47955A4A3}" type="parTrans" cxnId="{4C9EAA65-F04F-4AB3-B529-778CBEECF525}">
      <dgm:prSet/>
      <dgm:spPr/>
      <dgm:t>
        <a:bodyPr/>
        <a:lstStyle/>
        <a:p>
          <a:endParaRPr lang="en-US"/>
        </a:p>
      </dgm:t>
    </dgm:pt>
    <dgm:pt modelId="{A194DF4C-8278-483F-ACD1-A60185F12FB8}" type="sibTrans" cxnId="{4C9EAA65-F04F-4AB3-B529-778CBEECF525}">
      <dgm:prSet/>
      <dgm:spPr/>
      <dgm:t>
        <a:bodyPr/>
        <a:lstStyle/>
        <a:p>
          <a:endParaRPr lang="en-US"/>
        </a:p>
      </dgm:t>
    </dgm:pt>
    <dgm:pt modelId="{3E581598-E64A-498F-9A3F-A1D876AF1BB7}">
      <dgm:prSet custT="1"/>
      <dgm:spPr/>
      <dgm:t>
        <a:bodyPr/>
        <a:lstStyle/>
        <a:p>
          <a:r>
            <a:rPr lang="en-US" sz="1100"/>
            <a:t>standardizes governance, reporting and decision making across all levels</a:t>
          </a:r>
        </a:p>
      </dgm:t>
    </dgm:pt>
    <dgm:pt modelId="{7EB98307-3DF0-48CD-91CE-B1F14381EEF7}" type="parTrans" cxnId="{EE795CFE-29B6-453E-8023-A49806DAE877}">
      <dgm:prSet/>
      <dgm:spPr/>
      <dgm:t>
        <a:bodyPr/>
        <a:lstStyle/>
        <a:p>
          <a:endParaRPr lang="en-US"/>
        </a:p>
      </dgm:t>
    </dgm:pt>
    <dgm:pt modelId="{5052791F-BC2B-4B1F-B229-9FC0CDF99E6B}" type="sibTrans" cxnId="{EE795CFE-29B6-453E-8023-A49806DAE877}">
      <dgm:prSet/>
      <dgm:spPr/>
      <dgm:t>
        <a:bodyPr/>
        <a:lstStyle/>
        <a:p>
          <a:endParaRPr lang="en-US"/>
        </a:p>
      </dgm:t>
    </dgm:pt>
    <dgm:pt modelId="{15A4C23E-E11C-455B-AF01-BC294BDAD82B}">
      <dgm:prSet/>
      <dgm:spPr/>
      <dgm:t>
        <a:bodyPr/>
        <a:lstStyle/>
        <a:p>
          <a:r>
            <a:rPr lang="en-US" b="1"/>
            <a:t>Strategic Alignment</a:t>
          </a:r>
          <a:endParaRPr lang="en-US"/>
        </a:p>
      </dgm:t>
    </dgm:pt>
    <dgm:pt modelId="{56C02041-845C-4902-A0D0-C011CA83DEEA}" type="parTrans" cxnId="{870DA5F6-92D1-4D35-84DD-FF1715AC3162}">
      <dgm:prSet/>
      <dgm:spPr/>
      <dgm:t>
        <a:bodyPr/>
        <a:lstStyle/>
        <a:p>
          <a:endParaRPr lang="en-US"/>
        </a:p>
      </dgm:t>
    </dgm:pt>
    <dgm:pt modelId="{B94F6782-BBCD-4D1D-B3E9-46ED211B5A66}" type="sibTrans" cxnId="{870DA5F6-92D1-4D35-84DD-FF1715AC3162}">
      <dgm:prSet/>
      <dgm:spPr/>
      <dgm:t>
        <a:bodyPr/>
        <a:lstStyle/>
        <a:p>
          <a:endParaRPr lang="en-US"/>
        </a:p>
      </dgm:t>
    </dgm:pt>
    <dgm:pt modelId="{426F0426-42AD-4D71-8EF0-4095C7C1CA97}">
      <dgm:prSet custT="1"/>
      <dgm:spPr/>
      <dgm:t>
        <a:bodyPr/>
        <a:lstStyle/>
        <a:p>
          <a:r>
            <a:rPr lang="en-US" sz="1100"/>
            <a:t>Ensures the projects align with Max’s solar renewable energy strategy, sustainability goals, and regulatory requirement.</a:t>
          </a:r>
        </a:p>
      </dgm:t>
    </dgm:pt>
    <dgm:pt modelId="{B6ADD0FC-178A-43BD-8FC8-36719CDB5BFD}" type="parTrans" cxnId="{3663297C-757B-4BCF-A7FB-6172956A5BAD}">
      <dgm:prSet/>
      <dgm:spPr/>
      <dgm:t>
        <a:bodyPr/>
        <a:lstStyle/>
        <a:p>
          <a:endParaRPr lang="en-US"/>
        </a:p>
      </dgm:t>
    </dgm:pt>
    <dgm:pt modelId="{76F74B42-5120-466A-BA32-C85BA1290B23}" type="sibTrans" cxnId="{3663297C-757B-4BCF-A7FB-6172956A5BAD}">
      <dgm:prSet/>
      <dgm:spPr/>
      <dgm:t>
        <a:bodyPr/>
        <a:lstStyle/>
        <a:p>
          <a:endParaRPr lang="en-US"/>
        </a:p>
      </dgm:t>
    </dgm:pt>
    <dgm:pt modelId="{12AFEB69-8E94-4D9F-8BE1-FA3981D0A027}">
      <dgm:prSet custT="1"/>
      <dgm:spPr/>
      <dgm:t>
        <a:bodyPr/>
        <a:lstStyle/>
        <a:p>
          <a:r>
            <a:rPr lang="en-US" sz="1100"/>
            <a:t>Initial screening of the project(strategic fit, feasibility check, Risk assessment )</a:t>
          </a:r>
        </a:p>
      </dgm:t>
    </dgm:pt>
    <dgm:pt modelId="{12266510-8F7B-4059-99A2-48511627AB32}" type="parTrans" cxnId="{F7D63404-30B1-4BD4-A499-4026587F0FD0}">
      <dgm:prSet/>
      <dgm:spPr/>
      <dgm:t>
        <a:bodyPr/>
        <a:lstStyle/>
        <a:p>
          <a:endParaRPr lang="en-US"/>
        </a:p>
      </dgm:t>
    </dgm:pt>
    <dgm:pt modelId="{B95B1916-85D2-4F7D-916A-B2F50779AD3F}" type="sibTrans" cxnId="{F7D63404-30B1-4BD4-A499-4026587F0FD0}">
      <dgm:prSet/>
      <dgm:spPr/>
      <dgm:t>
        <a:bodyPr/>
        <a:lstStyle/>
        <a:p>
          <a:endParaRPr lang="en-US"/>
        </a:p>
      </dgm:t>
    </dgm:pt>
    <dgm:pt modelId="{D80C1D44-EA3C-4EED-B4E1-CCF21CB79FB3}">
      <dgm:prSet custT="1"/>
      <dgm:spPr/>
      <dgm:t>
        <a:bodyPr/>
        <a:lstStyle/>
        <a:p>
          <a:r>
            <a:rPr lang="en-US" sz="1100"/>
            <a:t>Assessing project feasibility, ensuring compliance with green energy regulations</a:t>
          </a:r>
        </a:p>
      </dgm:t>
    </dgm:pt>
    <dgm:pt modelId="{F8530DCB-56DF-45CF-8ECF-2EED6541EDF2}" type="parTrans" cxnId="{94EB7788-566A-4420-9108-9434077A8F16}">
      <dgm:prSet/>
      <dgm:spPr/>
      <dgm:t>
        <a:bodyPr/>
        <a:lstStyle/>
        <a:p>
          <a:endParaRPr lang="en-US"/>
        </a:p>
      </dgm:t>
    </dgm:pt>
    <dgm:pt modelId="{E8F47B40-3993-4883-AE6C-C9385BD3183D}" type="sibTrans" cxnId="{94EB7788-566A-4420-9108-9434077A8F16}">
      <dgm:prSet/>
      <dgm:spPr/>
      <dgm:t>
        <a:bodyPr/>
        <a:lstStyle/>
        <a:p>
          <a:endParaRPr lang="en-US"/>
        </a:p>
      </dgm:t>
    </dgm:pt>
    <dgm:pt modelId="{6DA0DFDE-5CC0-4148-BEF9-ABDAFE46F242}">
      <dgm:prSet custT="1"/>
      <dgm:spPr/>
      <dgm:t>
        <a:bodyPr/>
        <a:lstStyle/>
        <a:p>
          <a:r>
            <a:rPr lang="en-US" sz="1100"/>
            <a:t>Prioritizing investments that maximize the company’s impact on the renewable energy market.</a:t>
          </a:r>
        </a:p>
      </dgm:t>
    </dgm:pt>
    <dgm:pt modelId="{4036F6F0-E97A-4100-BF7A-9D0A65567815}" type="parTrans" cxnId="{E5A7FC6C-76CB-432B-9CED-15DAF262A630}">
      <dgm:prSet/>
      <dgm:spPr/>
      <dgm:t>
        <a:bodyPr/>
        <a:lstStyle/>
        <a:p>
          <a:endParaRPr lang="en-US"/>
        </a:p>
      </dgm:t>
    </dgm:pt>
    <dgm:pt modelId="{B3CDF6AF-9F35-460F-A5A0-18161D05D790}" type="sibTrans" cxnId="{E5A7FC6C-76CB-432B-9CED-15DAF262A630}">
      <dgm:prSet/>
      <dgm:spPr/>
      <dgm:t>
        <a:bodyPr/>
        <a:lstStyle/>
        <a:p>
          <a:endParaRPr lang="en-US"/>
        </a:p>
      </dgm:t>
    </dgm:pt>
    <dgm:pt modelId="{F89D556F-FCBE-4958-A673-4074127E5FF6}">
      <dgm:prSet/>
      <dgm:spPr/>
      <dgm:t>
        <a:bodyPr/>
        <a:lstStyle/>
        <a:p>
          <a:r>
            <a:rPr lang="en-US" b="1"/>
            <a:t>Resource Management </a:t>
          </a:r>
          <a:endParaRPr lang="en-US"/>
        </a:p>
      </dgm:t>
    </dgm:pt>
    <dgm:pt modelId="{6716D258-696F-4424-80A7-5673D0BA405F}" type="parTrans" cxnId="{E880FDD7-C728-4ABB-8547-92005A8FD31D}">
      <dgm:prSet/>
      <dgm:spPr/>
      <dgm:t>
        <a:bodyPr/>
        <a:lstStyle/>
        <a:p>
          <a:endParaRPr lang="en-US"/>
        </a:p>
      </dgm:t>
    </dgm:pt>
    <dgm:pt modelId="{AC683E18-7D1B-4E42-AECC-6C91793325BE}" type="sibTrans" cxnId="{E880FDD7-C728-4ABB-8547-92005A8FD31D}">
      <dgm:prSet/>
      <dgm:spPr/>
      <dgm:t>
        <a:bodyPr/>
        <a:lstStyle/>
        <a:p>
          <a:endParaRPr lang="en-US"/>
        </a:p>
      </dgm:t>
    </dgm:pt>
    <dgm:pt modelId="{5B718650-8E0E-4037-9AE3-66C1826E7F4A}">
      <dgm:prSet custT="1"/>
      <dgm:spPr/>
      <dgm:t>
        <a:bodyPr/>
        <a:lstStyle/>
        <a:p>
          <a:r>
            <a:rPr lang="en-US" sz="1100" b="0"/>
            <a:t>Manage resources across the projects as well as operations to prevent the bottlenecks.</a:t>
          </a:r>
          <a:endParaRPr lang="en-US" sz="1100"/>
        </a:p>
      </dgm:t>
    </dgm:pt>
    <dgm:pt modelId="{2413FBCC-A7EC-4E8A-AA5E-03392C66DDD6}" type="parTrans" cxnId="{5A73136F-6690-432F-8B4C-F6BAFE355F0B}">
      <dgm:prSet/>
      <dgm:spPr/>
      <dgm:t>
        <a:bodyPr/>
        <a:lstStyle/>
        <a:p>
          <a:endParaRPr lang="en-US"/>
        </a:p>
      </dgm:t>
    </dgm:pt>
    <dgm:pt modelId="{DADC1EF2-F24A-4B03-B044-2F20647CD615}" type="sibTrans" cxnId="{5A73136F-6690-432F-8B4C-F6BAFE355F0B}">
      <dgm:prSet/>
      <dgm:spPr/>
      <dgm:t>
        <a:bodyPr/>
        <a:lstStyle/>
        <a:p>
          <a:endParaRPr lang="en-US"/>
        </a:p>
      </dgm:t>
    </dgm:pt>
    <dgm:pt modelId="{9D235AAC-13E5-40CC-814C-65514EADB519}">
      <dgm:prSet custT="1"/>
      <dgm:spPr/>
      <dgm:t>
        <a:bodyPr/>
        <a:lstStyle/>
        <a:p>
          <a:r>
            <a:rPr lang="en-US" sz="1100" b="0"/>
            <a:t>maintain the skill matrix and reallocates the teams based on Project priorities</a:t>
          </a:r>
          <a:endParaRPr lang="en-US" sz="1100"/>
        </a:p>
      </dgm:t>
    </dgm:pt>
    <dgm:pt modelId="{2CDF9D52-1B75-450C-90D0-BA3A9C455230}" type="parTrans" cxnId="{BB7EE283-C2AA-451C-ABA1-2E5073067B33}">
      <dgm:prSet/>
      <dgm:spPr/>
      <dgm:t>
        <a:bodyPr/>
        <a:lstStyle/>
        <a:p>
          <a:endParaRPr lang="en-US"/>
        </a:p>
      </dgm:t>
    </dgm:pt>
    <dgm:pt modelId="{014E42E1-EDE4-4496-89BB-C406582471BA}" type="sibTrans" cxnId="{BB7EE283-C2AA-451C-ABA1-2E5073067B33}">
      <dgm:prSet/>
      <dgm:spPr/>
      <dgm:t>
        <a:bodyPr/>
        <a:lstStyle/>
        <a:p>
          <a:endParaRPr lang="en-US"/>
        </a:p>
      </dgm:t>
    </dgm:pt>
    <dgm:pt modelId="{6F53729D-B9F7-4A17-98F0-A6DAEFFF2E0D}">
      <dgm:prSet/>
      <dgm:spPr/>
      <dgm:t>
        <a:bodyPr/>
        <a:lstStyle/>
        <a:p>
          <a:r>
            <a:rPr lang="en-US" b="1"/>
            <a:t>Governance</a:t>
          </a:r>
          <a:endParaRPr lang="en-US"/>
        </a:p>
      </dgm:t>
    </dgm:pt>
    <dgm:pt modelId="{3E187765-8C6A-42FF-B1D1-4E7901A424C7}" type="parTrans" cxnId="{A43A8E58-1DC8-46DA-8DF2-1F4D787332D3}">
      <dgm:prSet/>
      <dgm:spPr/>
      <dgm:t>
        <a:bodyPr/>
        <a:lstStyle/>
        <a:p>
          <a:endParaRPr lang="en-US"/>
        </a:p>
      </dgm:t>
    </dgm:pt>
    <dgm:pt modelId="{19A763E1-377C-4B8A-81B5-DC3702908F2D}" type="sibTrans" cxnId="{A43A8E58-1DC8-46DA-8DF2-1F4D787332D3}">
      <dgm:prSet/>
      <dgm:spPr/>
      <dgm:t>
        <a:bodyPr/>
        <a:lstStyle/>
        <a:p>
          <a:endParaRPr lang="en-US"/>
        </a:p>
      </dgm:t>
    </dgm:pt>
    <dgm:pt modelId="{B60C1337-D1A2-4FB1-A4CA-65A44CB1F5D8}">
      <dgm:prSet custT="1"/>
      <dgm:spPr/>
      <dgm:t>
        <a:bodyPr/>
        <a:lstStyle/>
        <a:p>
          <a:endParaRPr lang="en-US" sz="1100"/>
        </a:p>
      </dgm:t>
    </dgm:pt>
    <dgm:pt modelId="{2FCACE28-9275-4387-9F61-34A3F1B71D5E}" type="parTrans" cxnId="{76C150D3-BA9A-4A8B-8A0A-BDD762C471AD}">
      <dgm:prSet/>
      <dgm:spPr/>
      <dgm:t>
        <a:bodyPr/>
        <a:lstStyle/>
        <a:p>
          <a:endParaRPr lang="en-US"/>
        </a:p>
      </dgm:t>
    </dgm:pt>
    <dgm:pt modelId="{C374D435-2262-48D2-934E-6EE81F0F6DA6}" type="sibTrans" cxnId="{76C150D3-BA9A-4A8B-8A0A-BDD762C471AD}">
      <dgm:prSet/>
      <dgm:spPr/>
      <dgm:t>
        <a:bodyPr/>
        <a:lstStyle/>
        <a:p>
          <a:endParaRPr lang="en-US"/>
        </a:p>
      </dgm:t>
    </dgm:pt>
    <dgm:pt modelId="{67597C50-896F-4185-8F1D-E7B77C7715CC}">
      <dgm:prSet phldr="0" custT="1"/>
      <dgm:spPr/>
      <dgm:t>
        <a:bodyPr/>
        <a:lstStyle/>
        <a:p>
          <a:pPr algn="l" rtl="0"/>
          <a:r>
            <a:rPr lang="en-US" sz="1100" b="0">
              <a:solidFill>
                <a:srgbClr val="000000"/>
              </a:solidFill>
            </a:rPr>
            <a:t>Establish a governance Framework that guides project approvals, investment and risk management</a:t>
          </a:r>
          <a:r>
            <a:rPr lang="en-US" sz="1100" b="0"/>
            <a:t>.</a:t>
          </a:r>
          <a:endParaRPr lang="en-US" sz="1100" b="0">
            <a:latin typeface="Calibri"/>
          </a:endParaRPr>
        </a:p>
      </dgm:t>
    </dgm:pt>
    <dgm:pt modelId="{1555AFB2-C585-476A-BCD9-E7D5C66A79A9}" type="parTrans" cxnId="{AA3C8CAD-AD23-7940-8139-DDBAAD89DEC7}">
      <dgm:prSet/>
      <dgm:spPr/>
      <dgm:t>
        <a:bodyPr/>
        <a:lstStyle/>
        <a:p>
          <a:endParaRPr lang="en-GB"/>
        </a:p>
      </dgm:t>
    </dgm:pt>
    <dgm:pt modelId="{5E736F32-705B-45DC-B14A-95CBF4CD1238}" type="sibTrans" cxnId="{AA3C8CAD-AD23-7940-8139-DDBAAD89DEC7}">
      <dgm:prSet/>
      <dgm:spPr/>
      <dgm:t>
        <a:bodyPr/>
        <a:lstStyle/>
        <a:p>
          <a:endParaRPr lang="en-GB"/>
        </a:p>
      </dgm:t>
    </dgm:pt>
    <dgm:pt modelId="{CAF630D9-B25D-4499-8CE0-02F8DC83E9EC}">
      <dgm:prSet phldr="0" custT="1"/>
      <dgm:spPr/>
      <dgm:t>
        <a:bodyPr/>
        <a:lstStyle/>
        <a:p>
          <a:pPr rtl="0"/>
          <a:r>
            <a:rPr lang="en-US" sz="1100">
              <a:solidFill>
                <a:srgbClr val="000000"/>
              </a:solidFill>
            </a:rPr>
            <a:t>Assist Executives with GO/NO-GO Decision</a:t>
          </a:r>
          <a:endParaRPr lang="en-US" sz="1100">
            <a:latin typeface="Calibri"/>
          </a:endParaRPr>
        </a:p>
      </dgm:t>
    </dgm:pt>
    <dgm:pt modelId="{346C59F7-CF9F-4E13-A076-BB23346FAAD8}" type="parTrans" cxnId="{E1941EED-248C-E047-80DD-01CAA66AD66E}">
      <dgm:prSet/>
      <dgm:spPr/>
      <dgm:t>
        <a:bodyPr/>
        <a:lstStyle/>
        <a:p>
          <a:endParaRPr lang="en-GB"/>
        </a:p>
      </dgm:t>
    </dgm:pt>
    <dgm:pt modelId="{3364DC81-858B-4447-8FFB-B596014B388E}" type="sibTrans" cxnId="{E1941EED-248C-E047-80DD-01CAA66AD66E}">
      <dgm:prSet/>
      <dgm:spPr/>
      <dgm:t>
        <a:bodyPr/>
        <a:lstStyle/>
        <a:p>
          <a:endParaRPr lang="en-GB"/>
        </a:p>
      </dgm:t>
    </dgm:pt>
    <dgm:pt modelId="{218E5E84-8EA1-FE4E-8373-AF0542A2B9AF}" type="pres">
      <dgm:prSet presAssocID="{AFD75C57-CFF2-4C1D-8D0F-B9A4FDE416DB}" presName="Name0" presStyleCnt="0">
        <dgm:presLayoutVars>
          <dgm:dir/>
          <dgm:animLvl val="lvl"/>
          <dgm:resizeHandles val="exact"/>
        </dgm:presLayoutVars>
      </dgm:prSet>
      <dgm:spPr/>
    </dgm:pt>
    <dgm:pt modelId="{F2F067D3-4D7B-2C46-B38A-BC7D3E8E081D}" type="pres">
      <dgm:prSet presAssocID="{E445CD02-4FA0-464C-9656-22DF7B5116BB}" presName="linNode" presStyleCnt="0"/>
      <dgm:spPr/>
    </dgm:pt>
    <dgm:pt modelId="{986D6EDA-3B3E-B24D-BA2F-FA0436E43F9C}" type="pres">
      <dgm:prSet presAssocID="{E445CD02-4FA0-464C-9656-22DF7B5116BB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AC44877-D02A-644B-B9C1-217C956748E2}" type="pres">
      <dgm:prSet presAssocID="{E445CD02-4FA0-464C-9656-22DF7B5116BB}" presName="descendantText" presStyleLbl="alignAccFollowNode1" presStyleIdx="0" presStyleCnt="5">
        <dgm:presLayoutVars>
          <dgm:bulletEnabled val="1"/>
        </dgm:presLayoutVars>
      </dgm:prSet>
      <dgm:spPr/>
    </dgm:pt>
    <dgm:pt modelId="{01FEE13F-330C-464C-9744-B487AE8A8064}" type="pres">
      <dgm:prSet presAssocID="{FCE72CFA-0673-4405-B3F1-F1476EBF69B0}" presName="sp" presStyleCnt="0"/>
      <dgm:spPr/>
    </dgm:pt>
    <dgm:pt modelId="{BB1B8B33-E933-894F-8B23-014973ED05E3}" type="pres">
      <dgm:prSet presAssocID="{D7EF21AD-91A3-4A96-903A-358AAF2C9653}" presName="linNode" presStyleCnt="0"/>
      <dgm:spPr/>
    </dgm:pt>
    <dgm:pt modelId="{6BB39115-F11E-9C42-9F94-484BFD7851D9}" type="pres">
      <dgm:prSet presAssocID="{D7EF21AD-91A3-4A96-903A-358AAF2C965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63EFE50-211B-2C4C-86A5-43B8D78D320B}" type="pres">
      <dgm:prSet presAssocID="{D7EF21AD-91A3-4A96-903A-358AAF2C9653}" presName="descendantText" presStyleLbl="alignAccFollowNode1" presStyleIdx="1" presStyleCnt="5">
        <dgm:presLayoutVars>
          <dgm:bulletEnabled val="1"/>
        </dgm:presLayoutVars>
      </dgm:prSet>
      <dgm:spPr/>
    </dgm:pt>
    <dgm:pt modelId="{CC0277C1-86B2-3F48-9F70-D01AA90FAB1D}" type="pres">
      <dgm:prSet presAssocID="{1E042C98-FE02-4614-9213-0850DF219CDF}" presName="sp" presStyleCnt="0"/>
      <dgm:spPr/>
    </dgm:pt>
    <dgm:pt modelId="{22FBEF2E-BA04-6A4A-A4A8-EA0D89F80541}" type="pres">
      <dgm:prSet presAssocID="{15A4C23E-E11C-455B-AF01-BC294BDAD82B}" presName="linNode" presStyleCnt="0"/>
      <dgm:spPr/>
    </dgm:pt>
    <dgm:pt modelId="{548AE5D7-FDEF-A04E-BD28-716FF52E0DE2}" type="pres">
      <dgm:prSet presAssocID="{15A4C23E-E11C-455B-AF01-BC294BDAD82B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43F5E42-77BC-384B-AA83-2A6208C4DAE9}" type="pres">
      <dgm:prSet presAssocID="{15A4C23E-E11C-455B-AF01-BC294BDAD82B}" presName="descendantText" presStyleLbl="alignAccFollowNode1" presStyleIdx="2" presStyleCnt="5" custScaleY="149425">
        <dgm:presLayoutVars>
          <dgm:bulletEnabled val="1"/>
        </dgm:presLayoutVars>
      </dgm:prSet>
      <dgm:spPr/>
    </dgm:pt>
    <dgm:pt modelId="{3593DE9E-EE4C-CF4C-8291-E540E1D99773}" type="pres">
      <dgm:prSet presAssocID="{B94F6782-BBCD-4D1D-B3E9-46ED211B5A66}" presName="sp" presStyleCnt="0"/>
      <dgm:spPr/>
    </dgm:pt>
    <dgm:pt modelId="{4F6A41DF-0D33-5C40-8604-FBC3DAFBB5A1}" type="pres">
      <dgm:prSet presAssocID="{F89D556F-FCBE-4958-A673-4074127E5FF6}" presName="linNode" presStyleCnt="0"/>
      <dgm:spPr/>
    </dgm:pt>
    <dgm:pt modelId="{7EAFEDE7-9F86-4847-AD7F-5F30C590E349}" type="pres">
      <dgm:prSet presAssocID="{F89D556F-FCBE-4958-A673-4074127E5FF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9A5B505-15BF-C04F-BCA1-3D2E0292CB38}" type="pres">
      <dgm:prSet presAssocID="{F89D556F-FCBE-4958-A673-4074127E5FF6}" presName="descendantText" presStyleLbl="alignAccFollowNode1" presStyleIdx="3" presStyleCnt="5">
        <dgm:presLayoutVars>
          <dgm:bulletEnabled val="1"/>
        </dgm:presLayoutVars>
      </dgm:prSet>
      <dgm:spPr/>
    </dgm:pt>
    <dgm:pt modelId="{6F6FC858-E9FD-B042-8C14-34A52117219D}" type="pres">
      <dgm:prSet presAssocID="{AC683E18-7D1B-4E42-AECC-6C91793325BE}" presName="sp" presStyleCnt="0"/>
      <dgm:spPr/>
    </dgm:pt>
    <dgm:pt modelId="{46E16BCF-3A38-884E-B121-60C768D0E60C}" type="pres">
      <dgm:prSet presAssocID="{6F53729D-B9F7-4A17-98F0-A6DAEFFF2E0D}" presName="linNode" presStyleCnt="0"/>
      <dgm:spPr/>
    </dgm:pt>
    <dgm:pt modelId="{CDFC5462-5DD3-164E-8996-733F5F4E1619}" type="pres">
      <dgm:prSet presAssocID="{6F53729D-B9F7-4A17-98F0-A6DAEFFF2E0D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D3E0796-3CB4-4E89-93B1-E255D9658FF4}" type="pres">
      <dgm:prSet presAssocID="{6F53729D-B9F7-4A17-98F0-A6DAEFFF2E0D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7D63404-30B1-4BD4-A499-4026587F0FD0}" srcId="{15A4C23E-E11C-455B-AF01-BC294BDAD82B}" destId="{12AFEB69-8E94-4D9F-8BE1-FA3981D0A027}" srcOrd="1" destOrd="0" parTransId="{12266510-8F7B-4059-99A2-48511627AB32}" sibTransId="{B95B1916-85D2-4F7D-916A-B2F50779AD3F}"/>
    <dgm:cxn modelId="{6242B204-249C-1A4F-B55B-CE55417600DF}" type="presOf" srcId="{3BDAD051-21B9-48A8-83EC-68858A69325D}" destId="{1AC44877-D02A-644B-B9C1-217C956748E2}" srcOrd="0" destOrd="1" presId="urn:microsoft.com/office/officeart/2005/8/layout/vList5"/>
    <dgm:cxn modelId="{F3EE920C-E181-9346-A403-FBC39449286C}" type="presOf" srcId="{C7700422-7B3E-40F5-A77E-A8608DCB9ACE}" destId="{1AC44877-D02A-644B-B9C1-217C956748E2}" srcOrd="0" destOrd="0" presId="urn:microsoft.com/office/officeart/2005/8/layout/vList5"/>
    <dgm:cxn modelId="{3E2E6120-9B96-774B-88C7-BD215F48425F}" type="presOf" srcId="{12AFEB69-8E94-4D9F-8BE1-FA3981D0A027}" destId="{743F5E42-77BC-384B-AA83-2A6208C4DAE9}" srcOrd="0" destOrd="1" presId="urn:microsoft.com/office/officeart/2005/8/layout/vList5"/>
    <dgm:cxn modelId="{34612A25-95D8-2249-A7CA-41D40012C5EF}" type="presOf" srcId="{AFD75C57-CFF2-4C1D-8D0F-B9A4FDE416DB}" destId="{218E5E84-8EA1-FE4E-8373-AF0542A2B9AF}" srcOrd="0" destOrd="0" presId="urn:microsoft.com/office/officeart/2005/8/layout/vList5"/>
    <dgm:cxn modelId="{A6E52C26-529E-FA4F-BCFF-B1DDB143A870}" type="presOf" srcId="{D7EF21AD-91A3-4A96-903A-358AAF2C9653}" destId="{6BB39115-F11E-9C42-9F94-484BFD7851D9}" srcOrd="0" destOrd="0" presId="urn:microsoft.com/office/officeart/2005/8/layout/vList5"/>
    <dgm:cxn modelId="{A653712D-3547-400E-908D-D2E6F15E426B}" srcId="{E445CD02-4FA0-464C-9656-22DF7B5116BB}" destId="{3BDAD051-21B9-48A8-83EC-68858A69325D}" srcOrd="1" destOrd="0" parTransId="{99D4B57C-DAF3-429B-BF89-A84BAB1682AF}" sibTransId="{1EE17CCA-FB34-47AC-831D-565A6DF196DA}"/>
    <dgm:cxn modelId="{318CE741-98C3-594F-8AD7-F33708978856}" type="presOf" srcId="{B60C1337-D1A2-4FB1-A4CA-65A44CB1F5D8}" destId="{DD3E0796-3CB4-4E89-93B1-E255D9658FF4}" srcOrd="0" destOrd="2" presId="urn:microsoft.com/office/officeart/2005/8/layout/vList5"/>
    <dgm:cxn modelId="{4C9EAA65-F04F-4AB3-B529-778CBEECF525}" srcId="{D7EF21AD-91A3-4A96-903A-358AAF2C9653}" destId="{2E295C60-0932-4E95-9022-1C3FF37B79F8}" srcOrd="0" destOrd="0" parTransId="{DCF34069-742B-4BCF-869C-E7D47955A4A3}" sibTransId="{A194DF4C-8278-483F-ACD1-A60185F12FB8}"/>
    <dgm:cxn modelId="{6D253D6B-3558-4DC8-8D9B-A087ABE3EE2B}" srcId="{AFD75C57-CFF2-4C1D-8D0F-B9A4FDE416DB}" destId="{D7EF21AD-91A3-4A96-903A-358AAF2C9653}" srcOrd="1" destOrd="0" parTransId="{F5B596FC-FD98-4B16-B62B-AE5CDB4220A8}" sibTransId="{1E042C98-FE02-4614-9213-0850DF219CDF}"/>
    <dgm:cxn modelId="{E5A7FC6C-76CB-432B-9CED-15DAF262A630}" srcId="{15A4C23E-E11C-455B-AF01-BC294BDAD82B}" destId="{6DA0DFDE-5CC0-4148-BEF9-ABDAFE46F242}" srcOrd="3" destOrd="0" parTransId="{4036F6F0-E97A-4100-BF7A-9D0A65567815}" sibTransId="{B3CDF6AF-9F35-460F-A5A0-18161D05D790}"/>
    <dgm:cxn modelId="{5A73136F-6690-432F-8B4C-F6BAFE355F0B}" srcId="{F89D556F-FCBE-4958-A673-4074127E5FF6}" destId="{5B718650-8E0E-4037-9AE3-66C1826E7F4A}" srcOrd="0" destOrd="0" parTransId="{2413FBCC-A7EC-4E8A-AA5E-03392C66DDD6}" sibTransId="{DADC1EF2-F24A-4B03-B044-2F20647CD615}"/>
    <dgm:cxn modelId="{A231794F-F914-EB45-B2A0-6D5AAA4B8E34}" type="presOf" srcId="{6F53729D-B9F7-4A17-98F0-A6DAEFFF2E0D}" destId="{CDFC5462-5DD3-164E-8996-733F5F4E1619}" srcOrd="0" destOrd="0" presId="urn:microsoft.com/office/officeart/2005/8/layout/vList5"/>
    <dgm:cxn modelId="{968BC372-68EC-0345-87F4-0AA75F65C992}" type="presOf" srcId="{426F0426-42AD-4D71-8EF0-4095C7C1CA97}" destId="{743F5E42-77BC-384B-AA83-2A6208C4DAE9}" srcOrd="0" destOrd="0" presId="urn:microsoft.com/office/officeart/2005/8/layout/vList5"/>
    <dgm:cxn modelId="{909E5576-3379-4860-A1C5-7FBFFF925866}" srcId="{AFD75C57-CFF2-4C1D-8D0F-B9A4FDE416DB}" destId="{E445CD02-4FA0-464C-9656-22DF7B5116BB}" srcOrd="0" destOrd="0" parTransId="{71E9EB51-10D7-4138-8FB0-A25B4E5F7B40}" sibTransId="{FCE72CFA-0673-4405-B3F1-F1476EBF69B0}"/>
    <dgm:cxn modelId="{A43A8E58-1DC8-46DA-8DF2-1F4D787332D3}" srcId="{AFD75C57-CFF2-4C1D-8D0F-B9A4FDE416DB}" destId="{6F53729D-B9F7-4A17-98F0-A6DAEFFF2E0D}" srcOrd="4" destOrd="0" parTransId="{3E187765-8C6A-42FF-B1D1-4E7901A424C7}" sibTransId="{19A763E1-377C-4B8A-81B5-DC3702908F2D}"/>
    <dgm:cxn modelId="{3663297C-757B-4BCF-A7FB-6172956A5BAD}" srcId="{15A4C23E-E11C-455B-AF01-BC294BDAD82B}" destId="{426F0426-42AD-4D71-8EF0-4095C7C1CA97}" srcOrd="0" destOrd="0" parTransId="{B6ADD0FC-178A-43BD-8FC8-36719CDB5BFD}" sibTransId="{76F74B42-5120-466A-BA32-C85BA1290B23}"/>
    <dgm:cxn modelId="{720C9C7E-8359-924E-9E71-1F8B20D8AE3D}" type="presOf" srcId="{5B718650-8E0E-4037-9AE3-66C1826E7F4A}" destId="{E9A5B505-15BF-C04F-BCA1-3D2E0292CB38}" srcOrd="0" destOrd="0" presId="urn:microsoft.com/office/officeart/2005/8/layout/vList5"/>
    <dgm:cxn modelId="{BB7EE283-C2AA-451C-ABA1-2E5073067B33}" srcId="{F89D556F-FCBE-4958-A673-4074127E5FF6}" destId="{9D235AAC-13E5-40CC-814C-65514EADB519}" srcOrd="1" destOrd="0" parTransId="{2CDF9D52-1B75-450C-90D0-BA3A9C455230}" sibTransId="{014E42E1-EDE4-4496-89BB-C406582471BA}"/>
    <dgm:cxn modelId="{94EB7788-566A-4420-9108-9434077A8F16}" srcId="{15A4C23E-E11C-455B-AF01-BC294BDAD82B}" destId="{D80C1D44-EA3C-4EED-B4E1-CCF21CB79FB3}" srcOrd="2" destOrd="0" parTransId="{F8530DCB-56DF-45CF-8ECF-2EED6541EDF2}" sibTransId="{E8F47B40-3993-4883-AE6C-C9385BD3183D}"/>
    <dgm:cxn modelId="{3B81078D-C26D-9F40-97DE-06556396F0C2}" type="presOf" srcId="{15A4C23E-E11C-455B-AF01-BC294BDAD82B}" destId="{548AE5D7-FDEF-A04E-BD28-716FF52E0DE2}" srcOrd="0" destOrd="0" presId="urn:microsoft.com/office/officeart/2005/8/layout/vList5"/>
    <dgm:cxn modelId="{89E6D29D-F096-724C-80EB-4E97ABBEEC6F}" type="presOf" srcId="{3E581598-E64A-498F-9A3F-A1D876AF1BB7}" destId="{F63EFE50-211B-2C4C-86A5-43B8D78D320B}" srcOrd="0" destOrd="1" presId="urn:microsoft.com/office/officeart/2005/8/layout/vList5"/>
    <dgm:cxn modelId="{B06E94A6-4004-D54C-B967-5B9C8ECE7F29}" type="presOf" srcId="{E445CD02-4FA0-464C-9656-22DF7B5116BB}" destId="{986D6EDA-3B3E-B24D-BA2F-FA0436E43F9C}" srcOrd="0" destOrd="0" presId="urn:microsoft.com/office/officeart/2005/8/layout/vList5"/>
    <dgm:cxn modelId="{AA3C8CAD-AD23-7940-8139-DDBAAD89DEC7}" srcId="{6F53729D-B9F7-4A17-98F0-A6DAEFFF2E0D}" destId="{67597C50-896F-4185-8F1D-E7B77C7715CC}" srcOrd="0" destOrd="0" parTransId="{1555AFB2-C585-476A-BCD9-E7D5C66A79A9}" sibTransId="{5E736F32-705B-45DC-B14A-95CBF4CD1238}"/>
    <dgm:cxn modelId="{8DCAB5B0-4571-8047-88E5-F26B68FA8FA4}" type="presOf" srcId="{9D235AAC-13E5-40CC-814C-65514EADB519}" destId="{E9A5B505-15BF-C04F-BCA1-3D2E0292CB38}" srcOrd="0" destOrd="1" presId="urn:microsoft.com/office/officeart/2005/8/layout/vList5"/>
    <dgm:cxn modelId="{F7BDC7B8-F91D-CE40-AEC5-184A35D6D5DE}" type="presOf" srcId="{F89D556F-FCBE-4958-A673-4074127E5FF6}" destId="{7EAFEDE7-9F86-4847-AD7F-5F30C590E349}" srcOrd="0" destOrd="0" presId="urn:microsoft.com/office/officeart/2005/8/layout/vList5"/>
    <dgm:cxn modelId="{DB9CBBC7-01A5-324B-9A58-05D82221AD90}" type="presOf" srcId="{D80C1D44-EA3C-4EED-B4E1-CCF21CB79FB3}" destId="{743F5E42-77BC-384B-AA83-2A6208C4DAE9}" srcOrd="0" destOrd="2" presId="urn:microsoft.com/office/officeart/2005/8/layout/vList5"/>
    <dgm:cxn modelId="{47B848CA-6BD4-7D4E-867D-439E27A788E6}" type="presOf" srcId="{CAF630D9-B25D-4499-8CE0-02F8DC83E9EC}" destId="{DD3E0796-3CB4-4E89-93B1-E255D9658FF4}" srcOrd="0" destOrd="1" presId="urn:microsoft.com/office/officeart/2005/8/layout/vList5"/>
    <dgm:cxn modelId="{73D5B0CC-729C-C64B-8A89-34CE2CA69104}" type="presOf" srcId="{2E295C60-0932-4E95-9022-1C3FF37B79F8}" destId="{F63EFE50-211B-2C4C-86A5-43B8D78D320B}" srcOrd="0" destOrd="0" presId="urn:microsoft.com/office/officeart/2005/8/layout/vList5"/>
    <dgm:cxn modelId="{76C150D3-BA9A-4A8B-8A0A-BDD762C471AD}" srcId="{6F53729D-B9F7-4A17-98F0-A6DAEFFF2E0D}" destId="{B60C1337-D1A2-4FB1-A4CA-65A44CB1F5D8}" srcOrd="2" destOrd="0" parTransId="{2FCACE28-9275-4387-9F61-34A3F1B71D5E}" sibTransId="{C374D435-2262-48D2-934E-6EE81F0F6DA6}"/>
    <dgm:cxn modelId="{2E1377D6-56FD-5B47-9036-FDCDFBF2EEBA}" type="presOf" srcId="{67597C50-896F-4185-8F1D-E7B77C7715CC}" destId="{DD3E0796-3CB4-4E89-93B1-E255D9658FF4}" srcOrd="0" destOrd="0" presId="urn:microsoft.com/office/officeart/2005/8/layout/vList5"/>
    <dgm:cxn modelId="{E880FDD7-C728-4ABB-8547-92005A8FD31D}" srcId="{AFD75C57-CFF2-4C1D-8D0F-B9A4FDE416DB}" destId="{F89D556F-FCBE-4958-A673-4074127E5FF6}" srcOrd="3" destOrd="0" parTransId="{6716D258-696F-4424-80A7-5673D0BA405F}" sibTransId="{AC683E18-7D1B-4E42-AECC-6C91793325BE}"/>
    <dgm:cxn modelId="{23F9A6EC-8CEF-2244-B2EF-B0662AF3C448}" type="presOf" srcId="{6DA0DFDE-5CC0-4148-BEF9-ABDAFE46F242}" destId="{743F5E42-77BC-384B-AA83-2A6208C4DAE9}" srcOrd="0" destOrd="3" presId="urn:microsoft.com/office/officeart/2005/8/layout/vList5"/>
    <dgm:cxn modelId="{E1941EED-248C-E047-80DD-01CAA66AD66E}" srcId="{6F53729D-B9F7-4A17-98F0-A6DAEFFF2E0D}" destId="{CAF630D9-B25D-4499-8CE0-02F8DC83E9EC}" srcOrd="1" destOrd="0" parTransId="{346C59F7-CF9F-4E13-A076-BB23346FAAD8}" sibTransId="{3364DC81-858B-4447-8FFB-B596014B388E}"/>
    <dgm:cxn modelId="{F85BD6EE-5F3F-4DF6-95B2-1335276D6D25}" srcId="{E445CD02-4FA0-464C-9656-22DF7B5116BB}" destId="{C7700422-7B3E-40F5-A77E-A8608DCB9ACE}" srcOrd="0" destOrd="0" parTransId="{197AB44C-098C-4F97-A58B-9B8FB8216F25}" sibTransId="{293B32DA-ECBA-4D14-8EC9-AE6FE11C7802}"/>
    <dgm:cxn modelId="{870DA5F6-92D1-4D35-84DD-FF1715AC3162}" srcId="{AFD75C57-CFF2-4C1D-8D0F-B9A4FDE416DB}" destId="{15A4C23E-E11C-455B-AF01-BC294BDAD82B}" srcOrd="2" destOrd="0" parTransId="{56C02041-845C-4902-A0D0-C011CA83DEEA}" sibTransId="{B94F6782-BBCD-4D1D-B3E9-46ED211B5A66}"/>
    <dgm:cxn modelId="{EE795CFE-29B6-453E-8023-A49806DAE877}" srcId="{D7EF21AD-91A3-4A96-903A-358AAF2C9653}" destId="{3E581598-E64A-498F-9A3F-A1D876AF1BB7}" srcOrd="1" destOrd="0" parTransId="{7EB98307-3DF0-48CD-91CE-B1F14381EEF7}" sibTransId="{5052791F-BC2B-4B1F-B229-9FC0CDF99E6B}"/>
    <dgm:cxn modelId="{C9ABFF3A-F12A-E34D-B626-AC6ECDD81DD4}" type="presParOf" srcId="{218E5E84-8EA1-FE4E-8373-AF0542A2B9AF}" destId="{F2F067D3-4D7B-2C46-B38A-BC7D3E8E081D}" srcOrd="0" destOrd="0" presId="urn:microsoft.com/office/officeart/2005/8/layout/vList5"/>
    <dgm:cxn modelId="{7412F723-67AD-564C-9E09-70CD91BF94D4}" type="presParOf" srcId="{F2F067D3-4D7B-2C46-B38A-BC7D3E8E081D}" destId="{986D6EDA-3B3E-B24D-BA2F-FA0436E43F9C}" srcOrd="0" destOrd="0" presId="urn:microsoft.com/office/officeart/2005/8/layout/vList5"/>
    <dgm:cxn modelId="{7BA75525-5E21-4244-823B-38BE79639451}" type="presParOf" srcId="{F2F067D3-4D7B-2C46-B38A-BC7D3E8E081D}" destId="{1AC44877-D02A-644B-B9C1-217C956748E2}" srcOrd="1" destOrd="0" presId="urn:microsoft.com/office/officeart/2005/8/layout/vList5"/>
    <dgm:cxn modelId="{4EA34600-DFF8-1F47-A39A-15F8F1C53EFF}" type="presParOf" srcId="{218E5E84-8EA1-FE4E-8373-AF0542A2B9AF}" destId="{01FEE13F-330C-464C-9744-B487AE8A8064}" srcOrd="1" destOrd="0" presId="urn:microsoft.com/office/officeart/2005/8/layout/vList5"/>
    <dgm:cxn modelId="{5B6D7F64-7D7F-0C40-87CF-8872876D0573}" type="presParOf" srcId="{218E5E84-8EA1-FE4E-8373-AF0542A2B9AF}" destId="{BB1B8B33-E933-894F-8B23-014973ED05E3}" srcOrd="2" destOrd="0" presId="urn:microsoft.com/office/officeart/2005/8/layout/vList5"/>
    <dgm:cxn modelId="{B7DEA0BE-BFE1-7E47-AA1A-8853BF61DD6C}" type="presParOf" srcId="{BB1B8B33-E933-894F-8B23-014973ED05E3}" destId="{6BB39115-F11E-9C42-9F94-484BFD7851D9}" srcOrd="0" destOrd="0" presId="urn:microsoft.com/office/officeart/2005/8/layout/vList5"/>
    <dgm:cxn modelId="{6FDF37D8-11FC-E443-B4CE-E2EA0DBBDD26}" type="presParOf" srcId="{BB1B8B33-E933-894F-8B23-014973ED05E3}" destId="{F63EFE50-211B-2C4C-86A5-43B8D78D320B}" srcOrd="1" destOrd="0" presId="urn:microsoft.com/office/officeart/2005/8/layout/vList5"/>
    <dgm:cxn modelId="{160487B3-36DE-7C45-812C-994BD45F8002}" type="presParOf" srcId="{218E5E84-8EA1-FE4E-8373-AF0542A2B9AF}" destId="{CC0277C1-86B2-3F48-9F70-D01AA90FAB1D}" srcOrd="3" destOrd="0" presId="urn:microsoft.com/office/officeart/2005/8/layout/vList5"/>
    <dgm:cxn modelId="{B1279E3D-93AB-3945-A2CB-CF23062091A9}" type="presParOf" srcId="{218E5E84-8EA1-FE4E-8373-AF0542A2B9AF}" destId="{22FBEF2E-BA04-6A4A-A4A8-EA0D89F80541}" srcOrd="4" destOrd="0" presId="urn:microsoft.com/office/officeart/2005/8/layout/vList5"/>
    <dgm:cxn modelId="{A2A5BE63-F6AC-A44E-BE05-62A173492F00}" type="presParOf" srcId="{22FBEF2E-BA04-6A4A-A4A8-EA0D89F80541}" destId="{548AE5D7-FDEF-A04E-BD28-716FF52E0DE2}" srcOrd="0" destOrd="0" presId="urn:microsoft.com/office/officeart/2005/8/layout/vList5"/>
    <dgm:cxn modelId="{B5643DCD-CE4D-F648-9F23-644963AEA98C}" type="presParOf" srcId="{22FBEF2E-BA04-6A4A-A4A8-EA0D89F80541}" destId="{743F5E42-77BC-384B-AA83-2A6208C4DAE9}" srcOrd="1" destOrd="0" presId="urn:microsoft.com/office/officeart/2005/8/layout/vList5"/>
    <dgm:cxn modelId="{6E545F68-103C-5440-A5F5-7D8D2BD17D91}" type="presParOf" srcId="{218E5E84-8EA1-FE4E-8373-AF0542A2B9AF}" destId="{3593DE9E-EE4C-CF4C-8291-E540E1D99773}" srcOrd="5" destOrd="0" presId="urn:microsoft.com/office/officeart/2005/8/layout/vList5"/>
    <dgm:cxn modelId="{F6DC5998-6EA0-1747-81D0-6A9EFFC47103}" type="presParOf" srcId="{218E5E84-8EA1-FE4E-8373-AF0542A2B9AF}" destId="{4F6A41DF-0D33-5C40-8604-FBC3DAFBB5A1}" srcOrd="6" destOrd="0" presId="urn:microsoft.com/office/officeart/2005/8/layout/vList5"/>
    <dgm:cxn modelId="{EAA9EE5B-C63F-0249-AA09-B4F02773C8F9}" type="presParOf" srcId="{4F6A41DF-0D33-5C40-8604-FBC3DAFBB5A1}" destId="{7EAFEDE7-9F86-4847-AD7F-5F30C590E349}" srcOrd="0" destOrd="0" presId="urn:microsoft.com/office/officeart/2005/8/layout/vList5"/>
    <dgm:cxn modelId="{D3677EA1-BAA5-0E4E-9718-C4CAABF7D006}" type="presParOf" srcId="{4F6A41DF-0D33-5C40-8604-FBC3DAFBB5A1}" destId="{E9A5B505-15BF-C04F-BCA1-3D2E0292CB38}" srcOrd="1" destOrd="0" presId="urn:microsoft.com/office/officeart/2005/8/layout/vList5"/>
    <dgm:cxn modelId="{042C5ACB-7E02-9B4F-9D5E-F1904A44F21D}" type="presParOf" srcId="{218E5E84-8EA1-FE4E-8373-AF0542A2B9AF}" destId="{6F6FC858-E9FD-B042-8C14-34A52117219D}" srcOrd="7" destOrd="0" presId="urn:microsoft.com/office/officeart/2005/8/layout/vList5"/>
    <dgm:cxn modelId="{127C1A87-5EB6-4844-9D9C-A642AA8A0EB5}" type="presParOf" srcId="{218E5E84-8EA1-FE4E-8373-AF0542A2B9AF}" destId="{46E16BCF-3A38-884E-B121-60C768D0E60C}" srcOrd="8" destOrd="0" presId="urn:microsoft.com/office/officeart/2005/8/layout/vList5"/>
    <dgm:cxn modelId="{7A106DCE-04B9-0046-88E8-8F374C8A76F4}" type="presParOf" srcId="{46E16BCF-3A38-884E-B121-60C768D0E60C}" destId="{CDFC5462-5DD3-164E-8996-733F5F4E1619}" srcOrd="0" destOrd="0" presId="urn:microsoft.com/office/officeart/2005/8/layout/vList5"/>
    <dgm:cxn modelId="{1FADAF56-8D88-0B43-97CE-A495CF9768A6}" type="presParOf" srcId="{46E16BCF-3A38-884E-B121-60C768D0E60C}" destId="{DD3E0796-3CB4-4E89-93B1-E255D9658F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09B12B-C46B-48CA-AE18-4F4C52C9CAA3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C586CE-B2FC-4E1E-AB68-33654B3B8B47}">
      <dgm:prSet/>
      <dgm:spPr/>
      <dgm:t>
        <a:bodyPr/>
        <a:lstStyle/>
        <a:p>
          <a:r>
            <a:rPr lang="en-GB" b="1"/>
            <a:t>Communication Management</a:t>
          </a:r>
          <a:endParaRPr lang="en-US"/>
        </a:p>
      </dgm:t>
    </dgm:pt>
    <dgm:pt modelId="{3CB9E062-F0F7-444F-8D4E-0DDBCDD5C126}" type="parTrans" cxnId="{01E49092-0D76-493E-8974-8FF70988357B}">
      <dgm:prSet/>
      <dgm:spPr/>
      <dgm:t>
        <a:bodyPr/>
        <a:lstStyle/>
        <a:p>
          <a:endParaRPr lang="en-US"/>
        </a:p>
      </dgm:t>
    </dgm:pt>
    <dgm:pt modelId="{C28A78FE-9910-49B5-AFD2-AC0360F4D644}" type="sibTrans" cxnId="{01E49092-0D76-493E-8974-8FF70988357B}">
      <dgm:prSet/>
      <dgm:spPr/>
      <dgm:t>
        <a:bodyPr/>
        <a:lstStyle/>
        <a:p>
          <a:endParaRPr lang="en-US"/>
        </a:p>
      </dgm:t>
    </dgm:pt>
    <dgm:pt modelId="{7CF5CEDE-5974-410E-B80F-C1B90B5A82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PMO must acts as communication hub between project teams, stakeholders/Investors and Executives</a:t>
          </a:r>
        </a:p>
        <a:p>
          <a:pPr>
            <a:buFont typeface="Arial" panose="020B0604020202020204" pitchFamily="34" charset="0"/>
            <a:buChar char="•"/>
          </a:pPr>
          <a:r>
            <a:rPr lang="en-GB"/>
            <a:t>Report on achievements to stakeholders and investors</a:t>
          </a:r>
          <a:endParaRPr lang="en-US"/>
        </a:p>
      </dgm:t>
    </dgm:pt>
    <dgm:pt modelId="{DA280062-9955-4AB0-803E-FD43F9F876DB}" type="parTrans" cxnId="{8D6CF359-A453-4C81-8A78-083597FC3BEB}">
      <dgm:prSet/>
      <dgm:spPr/>
      <dgm:t>
        <a:bodyPr/>
        <a:lstStyle/>
        <a:p>
          <a:endParaRPr lang="en-US"/>
        </a:p>
      </dgm:t>
    </dgm:pt>
    <dgm:pt modelId="{80A37CFB-C352-4E0F-9776-E38D78934FCE}" type="sibTrans" cxnId="{8D6CF359-A453-4C81-8A78-083597FC3BEB}">
      <dgm:prSet/>
      <dgm:spPr/>
      <dgm:t>
        <a:bodyPr/>
        <a:lstStyle/>
        <a:p>
          <a:endParaRPr lang="en-US"/>
        </a:p>
      </dgm:t>
    </dgm:pt>
    <dgm:pt modelId="{B9251E2F-7F84-481F-A8ED-FC3D6E30DE14}">
      <dgm:prSet/>
      <dgm:spPr/>
      <dgm:t>
        <a:bodyPr/>
        <a:lstStyle/>
        <a:p>
          <a:r>
            <a:rPr lang="en-US" b="1"/>
            <a:t>Integrated Data and Performance Tracking</a:t>
          </a:r>
          <a:endParaRPr lang="en-US"/>
        </a:p>
      </dgm:t>
    </dgm:pt>
    <dgm:pt modelId="{B76636C6-D612-4DA1-B234-AB776E9EA822}" type="parTrans" cxnId="{0EBC542A-02B6-4B5B-B859-5AA0653F99DC}">
      <dgm:prSet/>
      <dgm:spPr/>
      <dgm:t>
        <a:bodyPr/>
        <a:lstStyle/>
        <a:p>
          <a:endParaRPr lang="en-US"/>
        </a:p>
      </dgm:t>
    </dgm:pt>
    <dgm:pt modelId="{2166B542-59D8-4D0C-A108-D99124E76F48}" type="sibTrans" cxnId="{0EBC542A-02B6-4B5B-B859-5AA0653F99DC}">
      <dgm:prSet/>
      <dgm:spPr/>
      <dgm:t>
        <a:bodyPr/>
        <a:lstStyle/>
        <a:p>
          <a:endParaRPr lang="en-US"/>
        </a:p>
      </dgm:t>
    </dgm:pt>
    <dgm:pt modelId="{77D5DCFB-59C4-4F3C-A86E-CBDE8316FC0A}">
      <dgm:prSet/>
      <dgm:spPr/>
      <dgm:t>
        <a:bodyPr/>
        <a:lstStyle/>
        <a:p>
          <a:r>
            <a:rPr lang="en-GB"/>
            <a:t>Host a centralized Solar portfolio dashboard for tracking project progress, Maintenances and  performance </a:t>
          </a:r>
          <a:endParaRPr lang="en-US"/>
        </a:p>
      </dgm:t>
    </dgm:pt>
    <dgm:pt modelId="{D57C3FB3-2A04-4EF2-8F6A-6DB597E297A0}" type="parTrans" cxnId="{B6DA0B6D-61D7-47ED-809A-E24F6B4D611D}">
      <dgm:prSet/>
      <dgm:spPr/>
      <dgm:t>
        <a:bodyPr/>
        <a:lstStyle/>
        <a:p>
          <a:endParaRPr lang="en-US"/>
        </a:p>
      </dgm:t>
    </dgm:pt>
    <dgm:pt modelId="{5E1570E0-90BF-4E7B-84FA-97A617771352}" type="sibTrans" cxnId="{B6DA0B6D-61D7-47ED-809A-E24F6B4D611D}">
      <dgm:prSet/>
      <dgm:spPr/>
      <dgm:t>
        <a:bodyPr/>
        <a:lstStyle/>
        <a:p>
          <a:endParaRPr lang="en-US"/>
        </a:p>
      </dgm:t>
    </dgm:pt>
    <dgm:pt modelId="{3BCBCA45-CACE-4B18-BE12-70C6CC7B06E3}">
      <dgm:prSet/>
      <dgm:spPr/>
      <dgm:t>
        <a:bodyPr/>
        <a:lstStyle/>
        <a:p>
          <a:r>
            <a:rPr lang="en-GB"/>
            <a:t>Integrates with the Companies IT system and tools(IOT/sensor data ) from solar panel real time monitoring and predictive maintenance</a:t>
          </a:r>
          <a:endParaRPr lang="en-US"/>
        </a:p>
      </dgm:t>
    </dgm:pt>
    <dgm:pt modelId="{6D828231-AE54-4170-A6DD-276C6E15F9C7}" type="parTrans" cxnId="{F3A76CA4-1BC1-42F4-9D66-2BB55E07C432}">
      <dgm:prSet/>
      <dgm:spPr/>
      <dgm:t>
        <a:bodyPr/>
        <a:lstStyle/>
        <a:p>
          <a:endParaRPr lang="en-US"/>
        </a:p>
      </dgm:t>
    </dgm:pt>
    <dgm:pt modelId="{62B977CC-E9DA-469D-BBB5-347FE12B3C3E}" type="sibTrans" cxnId="{F3A76CA4-1BC1-42F4-9D66-2BB55E07C432}">
      <dgm:prSet/>
      <dgm:spPr/>
      <dgm:t>
        <a:bodyPr/>
        <a:lstStyle/>
        <a:p>
          <a:endParaRPr lang="en-US"/>
        </a:p>
      </dgm:t>
    </dgm:pt>
    <dgm:pt modelId="{BB4A9CB2-CFF4-40F9-90B2-B62A1FA41B92}">
      <dgm:prSet/>
      <dgm:spPr/>
      <dgm:t>
        <a:bodyPr/>
        <a:lstStyle/>
        <a:p>
          <a:r>
            <a:rPr lang="en-GB"/>
            <a:t>Benefit realization and Value tracking	</a:t>
          </a:r>
          <a:endParaRPr lang="en-US"/>
        </a:p>
      </dgm:t>
    </dgm:pt>
    <dgm:pt modelId="{2A09C06D-1839-430A-8992-9CF26D5043FD}" type="parTrans" cxnId="{E1F59FCC-28AA-4093-9294-574681F0940B}">
      <dgm:prSet/>
      <dgm:spPr/>
      <dgm:t>
        <a:bodyPr/>
        <a:lstStyle/>
        <a:p>
          <a:endParaRPr lang="en-US"/>
        </a:p>
      </dgm:t>
    </dgm:pt>
    <dgm:pt modelId="{3D69A4E4-5657-4E20-9D20-23E1AF42A0D1}" type="sibTrans" cxnId="{E1F59FCC-28AA-4093-9294-574681F0940B}">
      <dgm:prSet/>
      <dgm:spPr/>
      <dgm:t>
        <a:bodyPr/>
        <a:lstStyle/>
        <a:p>
          <a:endParaRPr lang="en-US"/>
        </a:p>
      </dgm:t>
    </dgm:pt>
    <dgm:pt modelId="{6C489C4D-E325-45FA-A13D-8EC8397175C7}">
      <dgm:prSet/>
      <dgm:spPr/>
      <dgm:t>
        <a:bodyPr/>
        <a:lstStyle/>
        <a:p>
          <a:r>
            <a:rPr lang="en-GB"/>
            <a:t>Validate the completed product delivers the project goals</a:t>
          </a:r>
          <a:endParaRPr lang="en-US"/>
        </a:p>
      </dgm:t>
    </dgm:pt>
    <dgm:pt modelId="{33FD5405-D1BE-4A66-977A-E888CCD722A0}" type="parTrans" cxnId="{17C433A8-833E-4E4E-A9AF-F4F9444FF816}">
      <dgm:prSet/>
      <dgm:spPr/>
      <dgm:t>
        <a:bodyPr/>
        <a:lstStyle/>
        <a:p>
          <a:endParaRPr lang="en-US"/>
        </a:p>
      </dgm:t>
    </dgm:pt>
    <dgm:pt modelId="{AF3AAEE0-E6C3-4DB3-B8B2-6BBDE7FB84EF}" type="sibTrans" cxnId="{17C433A8-833E-4E4E-A9AF-F4F9444FF816}">
      <dgm:prSet/>
      <dgm:spPr/>
      <dgm:t>
        <a:bodyPr/>
        <a:lstStyle/>
        <a:p>
          <a:endParaRPr lang="en-US"/>
        </a:p>
      </dgm:t>
    </dgm:pt>
    <dgm:pt modelId="{11D18D3D-5A79-4C14-BBCC-8349E1F34DF5}">
      <dgm:prSet/>
      <dgm:spPr/>
      <dgm:t>
        <a:bodyPr/>
        <a:lstStyle/>
        <a:p>
          <a:r>
            <a:rPr lang="en-GB"/>
            <a:t>Compare projected vs actual ROI</a:t>
          </a:r>
          <a:endParaRPr lang="en-US"/>
        </a:p>
      </dgm:t>
    </dgm:pt>
    <dgm:pt modelId="{D7A035CD-6F02-4A4F-B93B-1EE729D6D25D}" type="parTrans" cxnId="{53624139-A953-4002-ACF2-6BEA3D23792C}">
      <dgm:prSet/>
      <dgm:spPr/>
      <dgm:t>
        <a:bodyPr/>
        <a:lstStyle/>
        <a:p>
          <a:endParaRPr lang="en-US"/>
        </a:p>
      </dgm:t>
    </dgm:pt>
    <dgm:pt modelId="{AE86027F-6CAA-48F8-A943-44B8256F8AFF}" type="sibTrans" cxnId="{53624139-A953-4002-ACF2-6BEA3D23792C}">
      <dgm:prSet/>
      <dgm:spPr/>
      <dgm:t>
        <a:bodyPr/>
        <a:lstStyle/>
        <a:p>
          <a:endParaRPr lang="en-US"/>
        </a:p>
      </dgm:t>
    </dgm:pt>
    <dgm:pt modelId="{DEFE5EF7-7246-4F42-A51A-15EF49A7F52B}">
      <dgm:prSet/>
      <dgm:spPr/>
      <dgm:t>
        <a:bodyPr/>
        <a:lstStyle/>
        <a:p>
          <a:r>
            <a:rPr lang="en-GB"/>
            <a:t>Continuous Improvement and Innovation</a:t>
          </a:r>
          <a:endParaRPr lang="en-US"/>
        </a:p>
      </dgm:t>
    </dgm:pt>
    <dgm:pt modelId="{D7D08447-5951-47C2-AC55-B5AC8D6D7C1E}" type="parTrans" cxnId="{BB63BA8C-AD9D-446A-A8C8-1847D1C2C6CD}">
      <dgm:prSet/>
      <dgm:spPr/>
      <dgm:t>
        <a:bodyPr/>
        <a:lstStyle/>
        <a:p>
          <a:endParaRPr lang="en-US"/>
        </a:p>
      </dgm:t>
    </dgm:pt>
    <dgm:pt modelId="{83144A30-66BB-4EFD-8CDB-00E61A8D07E7}" type="sibTrans" cxnId="{BB63BA8C-AD9D-446A-A8C8-1847D1C2C6CD}">
      <dgm:prSet/>
      <dgm:spPr/>
      <dgm:t>
        <a:bodyPr/>
        <a:lstStyle/>
        <a:p>
          <a:endParaRPr lang="en-US"/>
        </a:p>
      </dgm:t>
    </dgm:pt>
    <dgm:pt modelId="{2FD6A8E3-7003-4A3D-BB5E-E81AE6BA21B4}">
      <dgm:prSet/>
      <dgm:spPr/>
      <dgm:t>
        <a:bodyPr/>
        <a:lstStyle/>
        <a:p>
          <a:r>
            <a:rPr lang="en-GB"/>
            <a:t>Capture lessons learned from the past experience  (Challenges, bottlenecks, or efficiency improvements) and use those insights for future to drive continuous improvement</a:t>
          </a:r>
          <a:endParaRPr lang="en-US"/>
        </a:p>
      </dgm:t>
    </dgm:pt>
    <dgm:pt modelId="{750CE212-1A37-41AB-9CD4-FD63D063DF81}" type="parTrans" cxnId="{4693D431-64EB-4F9E-96EB-DE237FFBC7E2}">
      <dgm:prSet/>
      <dgm:spPr/>
      <dgm:t>
        <a:bodyPr/>
        <a:lstStyle/>
        <a:p>
          <a:endParaRPr lang="en-US"/>
        </a:p>
      </dgm:t>
    </dgm:pt>
    <dgm:pt modelId="{72AB6C24-35B5-4F42-BE86-0E0B49C777DB}" type="sibTrans" cxnId="{4693D431-64EB-4F9E-96EB-DE237FFBC7E2}">
      <dgm:prSet/>
      <dgm:spPr/>
      <dgm:t>
        <a:bodyPr/>
        <a:lstStyle/>
        <a:p>
          <a:endParaRPr lang="en-US"/>
        </a:p>
      </dgm:t>
    </dgm:pt>
    <dgm:pt modelId="{3AB9E3F7-6ADB-3246-89B5-84CD55F91DB0}" type="pres">
      <dgm:prSet presAssocID="{6509B12B-C46B-48CA-AE18-4F4C52C9CAA3}" presName="Name0" presStyleCnt="0">
        <dgm:presLayoutVars>
          <dgm:dir/>
          <dgm:animLvl val="lvl"/>
          <dgm:resizeHandles val="exact"/>
        </dgm:presLayoutVars>
      </dgm:prSet>
      <dgm:spPr/>
    </dgm:pt>
    <dgm:pt modelId="{099BEFB7-2078-8342-8462-5B4974A75E94}" type="pres">
      <dgm:prSet presAssocID="{C4C586CE-B2FC-4E1E-AB68-33654B3B8B47}" presName="linNode" presStyleCnt="0"/>
      <dgm:spPr/>
    </dgm:pt>
    <dgm:pt modelId="{43791211-AF67-F04C-9556-648FE32F735D}" type="pres">
      <dgm:prSet presAssocID="{C4C586CE-B2FC-4E1E-AB68-33654B3B8B47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7DF5339-CC26-2043-96E4-69BD684014AD}" type="pres">
      <dgm:prSet presAssocID="{C4C586CE-B2FC-4E1E-AB68-33654B3B8B47}" presName="descendantText" presStyleLbl="alignAccFollowNode1" presStyleIdx="0" presStyleCnt="4">
        <dgm:presLayoutVars>
          <dgm:bulletEnabled/>
        </dgm:presLayoutVars>
      </dgm:prSet>
      <dgm:spPr/>
    </dgm:pt>
    <dgm:pt modelId="{15B683BF-2CA2-1C4A-93F4-4C70C62911F2}" type="pres">
      <dgm:prSet presAssocID="{C28A78FE-9910-49B5-AFD2-AC0360F4D644}" presName="sp" presStyleCnt="0"/>
      <dgm:spPr/>
    </dgm:pt>
    <dgm:pt modelId="{74AAA66D-9D7E-D647-8892-2CD256AC2B7B}" type="pres">
      <dgm:prSet presAssocID="{B9251E2F-7F84-481F-A8ED-FC3D6E30DE14}" presName="linNode" presStyleCnt="0"/>
      <dgm:spPr/>
    </dgm:pt>
    <dgm:pt modelId="{81E704AD-86FB-6148-BCCD-531C6995C02B}" type="pres">
      <dgm:prSet presAssocID="{B9251E2F-7F84-481F-A8ED-FC3D6E30DE14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665671F-0D1B-364A-A91B-2C06ED65631C}" type="pres">
      <dgm:prSet presAssocID="{B9251E2F-7F84-481F-A8ED-FC3D6E30DE14}" presName="descendantText" presStyleLbl="alignAccFollowNode1" presStyleIdx="1" presStyleCnt="4">
        <dgm:presLayoutVars>
          <dgm:bulletEnabled/>
        </dgm:presLayoutVars>
      </dgm:prSet>
      <dgm:spPr/>
    </dgm:pt>
    <dgm:pt modelId="{BBBEAAC5-DD54-3640-AA5D-039565C996CF}" type="pres">
      <dgm:prSet presAssocID="{2166B542-59D8-4D0C-A108-D99124E76F48}" presName="sp" presStyleCnt="0"/>
      <dgm:spPr/>
    </dgm:pt>
    <dgm:pt modelId="{48901DB4-A546-A04D-85F6-E8362CEE294F}" type="pres">
      <dgm:prSet presAssocID="{BB4A9CB2-CFF4-40F9-90B2-B62A1FA41B92}" presName="linNode" presStyleCnt="0"/>
      <dgm:spPr/>
    </dgm:pt>
    <dgm:pt modelId="{37A5A903-7981-5E49-BC57-708BE03F416B}" type="pres">
      <dgm:prSet presAssocID="{BB4A9CB2-CFF4-40F9-90B2-B62A1FA41B9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96A90BF6-1FFD-9643-8553-5EE9ACC857AD}" type="pres">
      <dgm:prSet presAssocID="{BB4A9CB2-CFF4-40F9-90B2-B62A1FA41B92}" presName="descendantText" presStyleLbl="alignAccFollowNode1" presStyleIdx="2" presStyleCnt="4">
        <dgm:presLayoutVars>
          <dgm:bulletEnabled/>
        </dgm:presLayoutVars>
      </dgm:prSet>
      <dgm:spPr/>
    </dgm:pt>
    <dgm:pt modelId="{8543765F-27C7-9C44-A7B1-FD68D7254360}" type="pres">
      <dgm:prSet presAssocID="{3D69A4E4-5657-4E20-9D20-23E1AF42A0D1}" presName="sp" presStyleCnt="0"/>
      <dgm:spPr/>
    </dgm:pt>
    <dgm:pt modelId="{54397E14-1DC4-F740-B905-659629EC0948}" type="pres">
      <dgm:prSet presAssocID="{DEFE5EF7-7246-4F42-A51A-15EF49A7F52B}" presName="linNode" presStyleCnt="0"/>
      <dgm:spPr/>
    </dgm:pt>
    <dgm:pt modelId="{1CB1B931-F4E2-CB4E-85E3-CC1A65C1CA29}" type="pres">
      <dgm:prSet presAssocID="{DEFE5EF7-7246-4F42-A51A-15EF49A7F52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A14A0A9-A0D6-4543-BBA6-9180937634F9}" type="pres">
      <dgm:prSet presAssocID="{DEFE5EF7-7246-4F42-A51A-15EF49A7F52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0AB1806-C5CC-F749-8A05-8C87ED93C929}" type="presOf" srcId="{3BCBCA45-CACE-4B18-BE12-70C6CC7B06E3}" destId="{9665671F-0D1B-364A-A91B-2C06ED65631C}" srcOrd="0" destOrd="1" presId="urn:microsoft.com/office/officeart/2016/7/layout/VerticalSolidActionList"/>
    <dgm:cxn modelId="{01B5AD0E-A13A-DD40-832F-74265A032E60}" type="presOf" srcId="{6509B12B-C46B-48CA-AE18-4F4C52C9CAA3}" destId="{3AB9E3F7-6ADB-3246-89B5-84CD55F91DB0}" srcOrd="0" destOrd="0" presId="urn:microsoft.com/office/officeart/2016/7/layout/VerticalSolidActionList"/>
    <dgm:cxn modelId="{8A821B19-AEA0-4648-9634-C52242247458}" type="presOf" srcId="{BB4A9CB2-CFF4-40F9-90B2-B62A1FA41B92}" destId="{37A5A903-7981-5E49-BC57-708BE03F416B}" srcOrd="0" destOrd="0" presId="urn:microsoft.com/office/officeart/2016/7/layout/VerticalSolidActionList"/>
    <dgm:cxn modelId="{0EBC542A-02B6-4B5B-B859-5AA0653F99DC}" srcId="{6509B12B-C46B-48CA-AE18-4F4C52C9CAA3}" destId="{B9251E2F-7F84-481F-A8ED-FC3D6E30DE14}" srcOrd="1" destOrd="0" parTransId="{B76636C6-D612-4DA1-B234-AB776E9EA822}" sibTransId="{2166B542-59D8-4D0C-A108-D99124E76F48}"/>
    <dgm:cxn modelId="{4693D431-64EB-4F9E-96EB-DE237FFBC7E2}" srcId="{DEFE5EF7-7246-4F42-A51A-15EF49A7F52B}" destId="{2FD6A8E3-7003-4A3D-BB5E-E81AE6BA21B4}" srcOrd="0" destOrd="0" parTransId="{750CE212-1A37-41AB-9CD4-FD63D063DF81}" sibTransId="{72AB6C24-35B5-4F42-BE86-0E0B49C777DB}"/>
    <dgm:cxn modelId="{53624139-A953-4002-ACF2-6BEA3D23792C}" srcId="{BB4A9CB2-CFF4-40F9-90B2-B62A1FA41B92}" destId="{11D18D3D-5A79-4C14-BBCC-8349E1F34DF5}" srcOrd="1" destOrd="0" parTransId="{D7A035CD-6F02-4A4F-B93B-1EE729D6D25D}" sibTransId="{AE86027F-6CAA-48F8-A943-44B8256F8AFF}"/>
    <dgm:cxn modelId="{1344893C-09F8-4A4B-810B-B8FBF56AFF3A}" type="presOf" srcId="{2FD6A8E3-7003-4A3D-BB5E-E81AE6BA21B4}" destId="{9A14A0A9-A0D6-4543-BBA6-9180937634F9}" srcOrd="0" destOrd="0" presId="urn:microsoft.com/office/officeart/2016/7/layout/VerticalSolidActionList"/>
    <dgm:cxn modelId="{2E6EFC3C-0E62-0C41-8F4E-1F64697EA0F5}" type="presOf" srcId="{7CF5CEDE-5974-410E-B80F-C1B90B5A8239}" destId="{17DF5339-CC26-2043-96E4-69BD684014AD}" srcOrd="0" destOrd="0" presId="urn:microsoft.com/office/officeart/2016/7/layout/VerticalSolidActionList"/>
    <dgm:cxn modelId="{282CD365-9042-1844-B438-3C1DADF6F1E6}" type="presOf" srcId="{B9251E2F-7F84-481F-A8ED-FC3D6E30DE14}" destId="{81E704AD-86FB-6148-BCCD-531C6995C02B}" srcOrd="0" destOrd="0" presId="urn:microsoft.com/office/officeart/2016/7/layout/VerticalSolidActionList"/>
    <dgm:cxn modelId="{5BFAFD68-81CA-EF4C-BCCD-F467914D7102}" type="presOf" srcId="{77D5DCFB-59C4-4F3C-A86E-CBDE8316FC0A}" destId="{9665671F-0D1B-364A-A91B-2C06ED65631C}" srcOrd="0" destOrd="0" presId="urn:microsoft.com/office/officeart/2016/7/layout/VerticalSolidActionList"/>
    <dgm:cxn modelId="{B6DA0B6D-61D7-47ED-809A-E24F6B4D611D}" srcId="{B9251E2F-7F84-481F-A8ED-FC3D6E30DE14}" destId="{77D5DCFB-59C4-4F3C-A86E-CBDE8316FC0A}" srcOrd="0" destOrd="0" parTransId="{D57C3FB3-2A04-4EF2-8F6A-6DB597E297A0}" sibTransId="{5E1570E0-90BF-4E7B-84FA-97A617771352}"/>
    <dgm:cxn modelId="{7B2E2B77-794E-A544-80C1-82106083FB44}" type="presOf" srcId="{11D18D3D-5A79-4C14-BBCC-8349E1F34DF5}" destId="{96A90BF6-1FFD-9643-8553-5EE9ACC857AD}" srcOrd="0" destOrd="1" presId="urn:microsoft.com/office/officeart/2016/7/layout/VerticalSolidActionList"/>
    <dgm:cxn modelId="{8D6CF359-A453-4C81-8A78-083597FC3BEB}" srcId="{C4C586CE-B2FC-4E1E-AB68-33654B3B8B47}" destId="{7CF5CEDE-5974-410E-B80F-C1B90B5A8239}" srcOrd="0" destOrd="0" parTransId="{DA280062-9955-4AB0-803E-FD43F9F876DB}" sibTransId="{80A37CFB-C352-4E0F-9776-E38D78934FCE}"/>
    <dgm:cxn modelId="{BB63BA8C-AD9D-446A-A8C8-1847D1C2C6CD}" srcId="{6509B12B-C46B-48CA-AE18-4F4C52C9CAA3}" destId="{DEFE5EF7-7246-4F42-A51A-15EF49A7F52B}" srcOrd="3" destOrd="0" parTransId="{D7D08447-5951-47C2-AC55-B5AC8D6D7C1E}" sibTransId="{83144A30-66BB-4EFD-8CDB-00E61A8D07E7}"/>
    <dgm:cxn modelId="{01E49092-0D76-493E-8974-8FF70988357B}" srcId="{6509B12B-C46B-48CA-AE18-4F4C52C9CAA3}" destId="{C4C586CE-B2FC-4E1E-AB68-33654B3B8B47}" srcOrd="0" destOrd="0" parTransId="{3CB9E062-F0F7-444F-8D4E-0DDBCDD5C126}" sibTransId="{C28A78FE-9910-49B5-AFD2-AC0360F4D644}"/>
    <dgm:cxn modelId="{F3A76CA4-1BC1-42F4-9D66-2BB55E07C432}" srcId="{B9251E2F-7F84-481F-A8ED-FC3D6E30DE14}" destId="{3BCBCA45-CACE-4B18-BE12-70C6CC7B06E3}" srcOrd="1" destOrd="0" parTransId="{6D828231-AE54-4170-A6DD-276C6E15F9C7}" sibTransId="{62B977CC-E9DA-469D-BBB5-347FE12B3C3E}"/>
    <dgm:cxn modelId="{17C433A8-833E-4E4E-A9AF-F4F9444FF816}" srcId="{BB4A9CB2-CFF4-40F9-90B2-B62A1FA41B92}" destId="{6C489C4D-E325-45FA-A13D-8EC8397175C7}" srcOrd="0" destOrd="0" parTransId="{33FD5405-D1BE-4A66-977A-E888CCD722A0}" sibTransId="{AF3AAEE0-E6C3-4DB3-B8B2-6BBDE7FB84EF}"/>
    <dgm:cxn modelId="{B9CD7CBA-ABEA-954F-B96C-1DD16F856720}" type="presOf" srcId="{C4C586CE-B2FC-4E1E-AB68-33654B3B8B47}" destId="{43791211-AF67-F04C-9556-648FE32F735D}" srcOrd="0" destOrd="0" presId="urn:microsoft.com/office/officeart/2016/7/layout/VerticalSolidActionList"/>
    <dgm:cxn modelId="{E1F59FCC-28AA-4093-9294-574681F0940B}" srcId="{6509B12B-C46B-48CA-AE18-4F4C52C9CAA3}" destId="{BB4A9CB2-CFF4-40F9-90B2-B62A1FA41B92}" srcOrd="2" destOrd="0" parTransId="{2A09C06D-1839-430A-8992-9CF26D5043FD}" sibTransId="{3D69A4E4-5657-4E20-9D20-23E1AF42A0D1}"/>
    <dgm:cxn modelId="{B43DFFDB-3F16-CF45-9CE2-817DDFE3CFE2}" type="presOf" srcId="{6C489C4D-E325-45FA-A13D-8EC8397175C7}" destId="{96A90BF6-1FFD-9643-8553-5EE9ACC857AD}" srcOrd="0" destOrd="0" presId="urn:microsoft.com/office/officeart/2016/7/layout/VerticalSolidActionList"/>
    <dgm:cxn modelId="{5C5E7FE6-529A-074A-A5C8-D604E53021DB}" type="presOf" srcId="{DEFE5EF7-7246-4F42-A51A-15EF49A7F52B}" destId="{1CB1B931-F4E2-CB4E-85E3-CC1A65C1CA29}" srcOrd="0" destOrd="0" presId="urn:microsoft.com/office/officeart/2016/7/layout/VerticalSolidActionList"/>
    <dgm:cxn modelId="{0AD5A2C7-D59D-1245-A35E-08F225706CF2}" type="presParOf" srcId="{3AB9E3F7-6ADB-3246-89B5-84CD55F91DB0}" destId="{099BEFB7-2078-8342-8462-5B4974A75E94}" srcOrd="0" destOrd="0" presId="urn:microsoft.com/office/officeart/2016/7/layout/VerticalSolidActionList"/>
    <dgm:cxn modelId="{D5EBB4B7-5DEA-DE40-8DF4-7DCF0283E876}" type="presParOf" srcId="{099BEFB7-2078-8342-8462-5B4974A75E94}" destId="{43791211-AF67-F04C-9556-648FE32F735D}" srcOrd="0" destOrd="0" presId="urn:microsoft.com/office/officeart/2016/7/layout/VerticalSolidActionList"/>
    <dgm:cxn modelId="{E329A061-058C-C04A-B12B-3E24C6E2FD28}" type="presParOf" srcId="{099BEFB7-2078-8342-8462-5B4974A75E94}" destId="{17DF5339-CC26-2043-96E4-69BD684014AD}" srcOrd="1" destOrd="0" presId="urn:microsoft.com/office/officeart/2016/7/layout/VerticalSolidActionList"/>
    <dgm:cxn modelId="{97D3963E-9526-E14B-ACCF-18E430478476}" type="presParOf" srcId="{3AB9E3F7-6ADB-3246-89B5-84CD55F91DB0}" destId="{15B683BF-2CA2-1C4A-93F4-4C70C62911F2}" srcOrd="1" destOrd="0" presId="urn:microsoft.com/office/officeart/2016/7/layout/VerticalSolidActionList"/>
    <dgm:cxn modelId="{EF7FC7B1-C28D-D442-865E-844300ECB401}" type="presParOf" srcId="{3AB9E3F7-6ADB-3246-89B5-84CD55F91DB0}" destId="{74AAA66D-9D7E-D647-8892-2CD256AC2B7B}" srcOrd="2" destOrd="0" presId="urn:microsoft.com/office/officeart/2016/7/layout/VerticalSolidActionList"/>
    <dgm:cxn modelId="{E7CC0530-5DCD-4444-B1A6-7A04681050E9}" type="presParOf" srcId="{74AAA66D-9D7E-D647-8892-2CD256AC2B7B}" destId="{81E704AD-86FB-6148-BCCD-531C6995C02B}" srcOrd="0" destOrd="0" presId="urn:microsoft.com/office/officeart/2016/7/layout/VerticalSolidActionList"/>
    <dgm:cxn modelId="{1E5C7BAF-F07A-614E-9E49-5F279A0A403F}" type="presParOf" srcId="{74AAA66D-9D7E-D647-8892-2CD256AC2B7B}" destId="{9665671F-0D1B-364A-A91B-2C06ED65631C}" srcOrd="1" destOrd="0" presId="urn:microsoft.com/office/officeart/2016/7/layout/VerticalSolidActionList"/>
    <dgm:cxn modelId="{60327A3E-F155-CC4F-BB48-4EE5AE73A469}" type="presParOf" srcId="{3AB9E3F7-6ADB-3246-89B5-84CD55F91DB0}" destId="{BBBEAAC5-DD54-3640-AA5D-039565C996CF}" srcOrd="3" destOrd="0" presId="urn:microsoft.com/office/officeart/2016/7/layout/VerticalSolidActionList"/>
    <dgm:cxn modelId="{03339571-EC3C-EE4A-9501-96B6FBF6573D}" type="presParOf" srcId="{3AB9E3F7-6ADB-3246-89B5-84CD55F91DB0}" destId="{48901DB4-A546-A04D-85F6-E8362CEE294F}" srcOrd="4" destOrd="0" presId="urn:microsoft.com/office/officeart/2016/7/layout/VerticalSolidActionList"/>
    <dgm:cxn modelId="{FF86FE57-4534-3E4D-8CFA-0F092C0145FA}" type="presParOf" srcId="{48901DB4-A546-A04D-85F6-E8362CEE294F}" destId="{37A5A903-7981-5E49-BC57-708BE03F416B}" srcOrd="0" destOrd="0" presId="urn:microsoft.com/office/officeart/2016/7/layout/VerticalSolidActionList"/>
    <dgm:cxn modelId="{4522178C-2560-DB40-9E28-D62E5744DB6A}" type="presParOf" srcId="{48901DB4-A546-A04D-85F6-E8362CEE294F}" destId="{96A90BF6-1FFD-9643-8553-5EE9ACC857AD}" srcOrd="1" destOrd="0" presId="urn:microsoft.com/office/officeart/2016/7/layout/VerticalSolidActionList"/>
    <dgm:cxn modelId="{CBA98419-9B5A-2946-889D-9C9C9E6D9ED8}" type="presParOf" srcId="{3AB9E3F7-6ADB-3246-89B5-84CD55F91DB0}" destId="{8543765F-27C7-9C44-A7B1-FD68D7254360}" srcOrd="5" destOrd="0" presId="urn:microsoft.com/office/officeart/2016/7/layout/VerticalSolidActionList"/>
    <dgm:cxn modelId="{514FCAA8-2203-5640-A4F0-E06C36775A2F}" type="presParOf" srcId="{3AB9E3F7-6ADB-3246-89B5-84CD55F91DB0}" destId="{54397E14-1DC4-F740-B905-659629EC0948}" srcOrd="6" destOrd="0" presId="urn:microsoft.com/office/officeart/2016/7/layout/VerticalSolidActionList"/>
    <dgm:cxn modelId="{B10CEAD1-CAE6-E04E-85AE-68BE3901591F}" type="presParOf" srcId="{54397E14-1DC4-F740-B905-659629EC0948}" destId="{1CB1B931-F4E2-CB4E-85E3-CC1A65C1CA29}" srcOrd="0" destOrd="0" presId="urn:microsoft.com/office/officeart/2016/7/layout/VerticalSolidActionList"/>
    <dgm:cxn modelId="{BC4E0C4A-A1F2-2C42-A24C-B0A85CCBF4B8}" type="presParOf" srcId="{54397E14-1DC4-F740-B905-659629EC0948}" destId="{9A14A0A9-A0D6-4543-BBA6-9180937634F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764099-EA8C-4C8B-93D0-04BECAE5B9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16DA256-6EDA-4528-BC70-A9F26DEA9229}">
      <dgm:prSet/>
      <dgm:spPr/>
      <dgm:t>
        <a:bodyPr/>
        <a:lstStyle/>
        <a:p>
          <a:pPr rtl="0"/>
          <a:r>
            <a:rPr lang="en-US" b="1">
              <a:latin typeface="Calibri"/>
            </a:rPr>
            <a:t>Resource Risks</a:t>
          </a:r>
          <a:r>
            <a:rPr lang="en-US">
              <a:latin typeface="Calibri"/>
            </a:rPr>
            <a:t>: dependency on the external resources and infrastructure.</a:t>
          </a:r>
          <a:endParaRPr lang="en-US"/>
        </a:p>
      </dgm:t>
    </dgm:pt>
    <dgm:pt modelId="{22BC0828-7B2A-4AB4-9EF6-164FCE4CB17A}" type="parTrans" cxnId="{3A1F2A60-F741-461E-8D51-C09AD269284B}">
      <dgm:prSet/>
      <dgm:spPr/>
      <dgm:t>
        <a:bodyPr/>
        <a:lstStyle/>
        <a:p>
          <a:endParaRPr lang="en-US"/>
        </a:p>
      </dgm:t>
    </dgm:pt>
    <dgm:pt modelId="{623E0812-AED6-43D5-B635-829FB8936E07}" type="sibTrans" cxnId="{3A1F2A60-F741-461E-8D51-C09AD269284B}">
      <dgm:prSet/>
      <dgm:spPr/>
      <dgm:t>
        <a:bodyPr/>
        <a:lstStyle/>
        <a:p>
          <a:endParaRPr lang="en-US"/>
        </a:p>
      </dgm:t>
    </dgm:pt>
    <dgm:pt modelId="{F414E97E-FF9A-42E5-A6C2-8CD9AB678BF3}">
      <dgm:prSet/>
      <dgm:spPr/>
      <dgm:t>
        <a:bodyPr/>
        <a:lstStyle/>
        <a:p>
          <a:pPr rtl="0"/>
          <a:r>
            <a:rPr lang="en-US" b="1">
              <a:latin typeface="Calibri"/>
            </a:rPr>
            <a:t>Enviromental Risks</a:t>
          </a:r>
          <a:r>
            <a:rPr lang="en-US"/>
            <a:t>: </a:t>
          </a:r>
          <a:r>
            <a:rPr lang="en-US">
              <a:latin typeface="Calibri"/>
            </a:rPr>
            <a:t>threat to wildlife to get harmed or damaged.</a:t>
          </a:r>
          <a:endParaRPr lang="en-US"/>
        </a:p>
      </dgm:t>
    </dgm:pt>
    <dgm:pt modelId="{4894D2EF-F829-4FEA-8B22-6B0C7186052B}" type="parTrans" cxnId="{1255AB44-1886-4BBD-80D5-A58104B3CCBF}">
      <dgm:prSet/>
      <dgm:spPr/>
      <dgm:t>
        <a:bodyPr/>
        <a:lstStyle/>
        <a:p>
          <a:endParaRPr lang="en-US"/>
        </a:p>
      </dgm:t>
    </dgm:pt>
    <dgm:pt modelId="{5C0BFA07-E6D0-4DF4-8A07-2A7DADB2F859}" type="sibTrans" cxnId="{1255AB44-1886-4BBD-80D5-A58104B3CCBF}">
      <dgm:prSet/>
      <dgm:spPr/>
      <dgm:t>
        <a:bodyPr/>
        <a:lstStyle/>
        <a:p>
          <a:endParaRPr lang="en-US"/>
        </a:p>
      </dgm:t>
    </dgm:pt>
    <dgm:pt modelId="{3652980A-FAE7-412D-BA57-E112659EB80F}">
      <dgm:prSet/>
      <dgm:spPr/>
      <dgm:t>
        <a:bodyPr/>
        <a:lstStyle/>
        <a:p>
          <a:r>
            <a:rPr lang="en-US" b="1"/>
            <a:t>Operational Risks</a:t>
          </a:r>
          <a:r>
            <a:rPr lang="en-US"/>
            <a:t>: Delays in project timelines.</a:t>
          </a:r>
        </a:p>
      </dgm:t>
    </dgm:pt>
    <dgm:pt modelId="{4E304FAE-C32A-4EBA-B19B-0FFB669C0C78}" type="parTrans" cxnId="{FC52A1D2-EE47-42A0-992E-82F562CF8EF1}">
      <dgm:prSet/>
      <dgm:spPr/>
      <dgm:t>
        <a:bodyPr/>
        <a:lstStyle/>
        <a:p>
          <a:endParaRPr lang="en-US"/>
        </a:p>
      </dgm:t>
    </dgm:pt>
    <dgm:pt modelId="{AA3B39E9-6188-43E3-9BCB-0B630C8284FE}" type="sibTrans" cxnId="{FC52A1D2-EE47-42A0-992E-82F562CF8EF1}">
      <dgm:prSet/>
      <dgm:spPr/>
      <dgm:t>
        <a:bodyPr/>
        <a:lstStyle/>
        <a:p>
          <a:endParaRPr lang="en-US"/>
        </a:p>
      </dgm:t>
    </dgm:pt>
    <dgm:pt modelId="{B4D8E6E0-5489-4884-B3E4-B1AD050E0739}">
      <dgm:prSet/>
      <dgm:spPr/>
      <dgm:t>
        <a:bodyPr/>
        <a:lstStyle/>
        <a:p>
          <a:r>
            <a:rPr lang="en-US" b="1"/>
            <a:t>Technological Risks</a:t>
          </a:r>
          <a:r>
            <a:rPr lang="en-US"/>
            <a:t>: Obsolescence of energy storage solutions.</a:t>
          </a:r>
        </a:p>
      </dgm:t>
    </dgm:pt>
    <dgm:pt modelId="{A349E804-16B8-4C21-8D80-AB9DDB270093}" type="parTrans" cxnId="{D457F0DF-7D9A-494B-B43E-46517BAD40A9}">
      <dgm:prSet/>
      <dgm:spPr/>
      <dgm:t>
        <a:bodyPr/>
        <a:lstStyle/>
        <a:p>
          <a:endParaRPr lang="en-US"/>
        </a:p>
      </dgm:t>
    </dgm:pt>
    <dgm:pt modelId="{0C620F37-4310-4978-BB01-9D4846B5ECA5}" type="sibTrans" cxnId="{D457F0DF-7D9A-494B-B43E-46517BAD40A9}">
      <dgm:prSet/>
      <dgm:spPr/>
      <dgm:t>
        <a:bodyPr/>
        <a:lstStyle/>
        <a:p>
          <a:endParaRPr lang="en-US"/>
        </a:p>
      </dgm:t>
    </dgm:pt>
    <dgm:pt modelId="{AC144F2C-48BB-4E40-809A-B39255307B9F}">
      <dgm:prSet/>
      <dgm:spPr/>
      <dgm:t>
        <a:bodyPr/>
        <a:lstStyle/>
        <a:p>
          <a:pPr rtl="0"/>
          <a:r>
            <a:rPr lang="en-US" b="1"/>
            <a:t>Public </a:t>
          </a:r>
          <a:r>
            <a:rPr lang="en-US" b="1">
              <a:latin typeface="Calibri"/>
            </a:rPr>
            <a:t>Relations</a:t>
          </a:r>
          <a:r>
            <a:rPr lang="en-US" b="1"/>
            <a:t> </a:t>
          </a:r>
          <a:r>
            <a:rPr lang="en-US" b="1">
              <a:latin typeface="Calibri"/>
            </a:rPr>
            <a:t>Risks</a:t>
          </a:r>
          <a:r>
            <a:rPr lang="en-US"/>
            <a:t>: Community resistance to large-scale solar farms.</a:t>
          </a:r>
        </a:p>
      </dgm:t>
    </dgm:pt>
    <dgm:pt modelId="{CD195049-A3A4-4632-B6AC-E9DCFC305173}" type="parTrans" cxnId="{EB4095F7-B294-4A59-8BF9-18ADAF99BBD1}">
      <dgm:prSet/>
      <dgm:spPr/>
      <dgm:t>
        <a:bodyPr/>
        <a:lstStyle/>
        <a:p>
          <a:endParaRPr lang="en-US"/>
        </a:p>
      </dgm:t>
    </dgm:pt>
    <dgm:pt modelId="{2DD441B4-F09D-4B8C-BB59-FABFDCBFC9CA}" type="sibTrans" cxnId="{EB4095F7-B294-4A59-8BF9-18ADAF99BBD1}">
      <dgm:prSet/>
      <dgm:spPr/>
      <dgm:t>
        <a:bodyPr/>
        <a:lstStyle/>
        <a:p>
          <a:endParaRPr lang="en-US"/>
        </a:p>
      </dgm:t>
    </dgm:pt>
    <dgm:pt modelId="{3EC412B9-D98C-4A28-A634-C8E9B489B6B2}">
      <dgm:prSet/>
      <dgm:spPr/>
      <dgm:t>
        <a:bodyPr/>
        <a:lstStyle/>
        <a:p>
          <a:r>
            <a:rPr lang="en-US" b="1"/>
            <a:t>Tolerance Limits</a:t>
          </a:r>
          <a:r>
            <a:rPr lang="en-US"/>
            <a:t>:</a:t>
          </a:r>
        </a:p>
      </dgm:t>
    </dgm:pt>
    <dgm:pt modelId="{30A8F494-5201-4C6F-9206-AA7BB07CAEA3}" type="parTrans" cxnId="{BF8DAFC5-C243-4CC4-865F-EA20B3CEB8A9}">
      <dgm:prSet/>
      <dgm:spPr/>
      <dgm:t>
        <a:bodyPr/>
        <a:lstStyle/>
        <a:p>
          <a:endParaRPr lang="en-US"/>
        </a:p>
      </dgm:t>
    </dgm:pt>
    <dgm:pt modelId="{6A045705-B020-4AE8-8D3A-4CCB68B675C8}" type="sibTrans" cxnId="{BF8DAFC5-C243-4CC4-865F-EA20B3CEB8A9}">
      <dgm:prSet/>
      <dgm:spPr/>
      <dgm:t>
        <a:bodyPr/>
        <a:lstStyle/>
        <a:p>
          <a:endParaRPr lang="en-US"/>
        </a:p>
      </dgm:t>
    </dgm:pt>
    <dgm:pt modelId="{DE767A37-C72B-4FA2-B940-AA33F828175B}">
      <dgm:prSet/>
      <dgm:spPr/>
      <dgm:t>
        <a:bodyPr/>
        <a:lstStyle/>
        <a:p>
          <a:r>
            <a:rPr lang="en-US"/>
            <a:t>Budget overruns: ≤10% of project cost.</a:t>
          </a:r>
        </a:p>
      </dgm:t>
    </dgm:pt>
    <dgm:pt modelId="{07E5E57E-572B-479B-9DDF-84AEDC9BB586}" type="parTrans" cxnId="{C87346FD-A670-4B19-98BF-484225154C7C}">
      <dgm:prSet/>
      <dgm:spPr/>
      <dgm:t>
        <a:bodyPr/>
        <a:lstStyle/>
        <a:p>
          <a:endParaRPr lang="en-US"/>
        </a:p>
      </dgm:t>
    </dgm:pt>
    <dgm:pt modelId="{8DF81694-3B69-465F-A6B8-FE56EA4E16A5}" type="sibTrans" cxnId="{C87346FD-A670-4B19-98BF-484225154C7C}">
      <dgm:prSet/>
      <dgm:spPr/>
      <dgm:t>
        <a:bodyPr/>
        <a:lstStyle/>
        <a:p>
          <a:endParaRPr lang="en-US"/>
        </a:p>
      </dgm:t>
    </dgm:pt>
    <dgm:pt modelId="{66569D75-670D-400E-B788-F81AF62A27F7}">
      <dgm:prSet/>
      <dgm:spPr/>
      <dgm:t>
        <a:bodyPr/>
        <a:lstStyle/>
        <a:p>
          <a:r>
            <a:rPr lang="en-US"/>
            <a:t>Schedule delays: ≤15% of timeline.</a:t>
          </a:r>
        </a:p>
      </dgm:t>
    </dgm:pt>
    <dgm:pt modelId="{AE09B8DF-D0F5-4FC4-8DAE-620C22B293A0}" type="parTrans" cxnId="{C19D2422-F7E0-4D3B-A81A-36AED4A52C4E}">
      <dgm:prSet/>
      <dgm:spPr/>
      <dgm:t>
        <a:bodyPr/>
        <a:lstStyle/>
        <a:p>
          <a:endParaRPr lang="en-US"/>
        </a:p>
      </dgm:t>
    </dgm:pt>
    <dgm:pt modelId="{2F65E030-0729-4714-BCCE-585CA9B96908}" type="sibTrans" cxnId="{C19D2422-F7E0-4D3B-A81A-36AED4A52C4E}">
      <dgm:prSet/>
      <dgm:spPr/>
      <dgm:t>
        <a:bodyPr/>
        <a:lstStyle/>
        <a:p>
          <a:endParaRPr lang="en-US"/>
        </a:p>
      </dgm:t>
    </dgm:pt>
    <dgm:pt modelId="{CA343472-66D1-4710-8A83-1A7269B2A81A}">
      <dgm:prSet/>
      <dgm:spPr/>
      <dgm:t>
        <a:bodyPr/>
        <a:lstStyle/>
        <a:p>
          <a:r>
            <a:rPr lang="en-US" b="1"/>
            <a:t>Discount Rates</a:t>
          </a:r>
          <a:r>
            <a:rPr lang="en-US"/>
            <a:t>:</a:t>
          </a:r>
        </a:p>
      </dgm:t>
    </dgm:pt>
    <dgm:pt modelId="{834B1DBD-8A6C-46FD-8053-935F7F2DF17C}" type="parTrans" cxnId="{556E2E43-60B4-4191-9BF9-AB64C38B5277}">
      <dgm:prSet/>
      <dgm:spPr/>
      <dgm:t>
        <a:bodyPr/>
        <a:lstStyle/>
        <a:p>
          <a:endParaRPr lang="en-US"/>
        </a:p>
      </dgm:t>
    </dgm:pt>
    <dgm:pt modelId="{BDCDAA63-DFC3-4D10-91DC-C0689F7E6FEE}" type="sibTrans" cxnId="{556E2E43-60B4-4191-9BF9-AB64C38B5277}">
      <dgm:prSet/>
      <dgm:spPr/>
      <dgm:t>
        <a:bodyPr/>
        <a:lstStyle/>
        <a:p>
          <a:endParaRPr lang="en-US"/>
        </a:p>
      </dgm:t>
    </dgm:pt>
    <dgm:pt modelId="{9D5A7A6B-8690-4042-8B32-8E6338D94AE7}">
      <dgm:prSet/>
      <dgm:spPr/>
      <dgm:t>
        <a:bodyPr/>
        <a:lstStyle/>
        <a:p>
          <a:r>
            <a:rPr lang="en-US" b="1"/>
            <a:t>2024</a:t>
          </a:r>
          <a:r>
            <a:rPr lang="en-US"/>
            <a:t>: 8% (reflecting inflation risks).</a:t>
          </a:r>
        </a:p>
      </dgm:t>
    </dgm:pt>
    <dgm:pt modelId="{4B9652BB-32C8-4882-B26B-388E8403A216}" type="parTrans" cxnId="{E4DCB6BA-1B46-4E84-B5AF-1DEF37A8750C}">
      <dgm:prSet/>
      <dgm:spPr/>
      <dgm:t>
        <a:bodyPr/>
        <a:lstStyle/>
        <a:p>
          <a:endParaRPr lang="en-US"/>
        </a:p>
      </dgm:t>
    </dgm:pt>
    <dgm:pt modelId="{A44122A4-1EB4-4BB3-8A37-A0EC68167356}" type="sibTrans" cxnId="{E4DCB6BA-1B46-4E84-B5AF-1DEF37A8750C}">
      <dgm:prSet/>
      <dgm:spPr/>
      <dgm:t>
        <a:bodyPr/>
        <a:lstStyle/>
        <a:p>
          <a:endParaRPr lang="en-US"/>
        </a:p>
      </dgm:t>
    </dgm:pt>
    <dgm:pt modelId="{07909F85-6DBA-4B72-864D-B0C7626445E9}">
      <dgm:prSet/>
      <dgm:spPr/>
      <dgm:t>
        <a:bodyPr/>
        <a:lstStyle/>
        <a:p>
          <a:r>
            <a:rPr lang="en-US" b="1"/>
            <a:t>2025</a:t>
          </a:r>
          <a:r>
            <a:rPr lang="en-US"/>
            <a:t>: 7% (assuming stabilized supply chains).</a:t>
          </a:r>
        </a:p>
      </dgm:t>
    </dgm:pt>
    <dgm:pt modelId="{DA4342BF-7A43-4FC5-9697-D6B81405039A}" type="parTrans" cxnId="{F6CCDD7B-B496-4A23-8D2D-1D6ACB28622A}">
      <dgm:prSet/>
      <dgm:spPr/>
      <dgm:t>
        <a:bodyPr/>
        <a:lstStyle/>
        <a:p>
          <a:endParaRPr lang="en-US"/>
        </a:p>
      </dgm:t>
    </dgm:pt>
    <dgm:pt modelId="{C6BE0E81-8E99-4A18-B474-DF04FB6C594F}" type="sibTrans" cxnId="{F6CCDD7B-B496-4A23-8D2D-1D6ACB28622A}">
      <dgm:prSet/>
      <dgm:spPr/>
      <dgm:t>
        <a:bodyPr/>
        <a:lstStyle/>
        <a:p>
          <a:endParaRPr lang="en-US"/>
        </a:p>
      </dgm:t>
    </dgm:pt>
    <dgm:pt modelId="{6E5629D1-B863-4D7D-8725-246E09B89AF1}">
      <dgm:prSet phldr="0"/>
      <dgm:spPr/>
      <dgm:t>
        <a:bodyPr/>
        <a:lstStyle/>
        <a:p>
          <a:pPr rtl="0"/>
          <a:r>
            <a:rPr lang="en-US" b="1"/>
            <a:t>Regulatory</a:t>
          </a:r>
          <a:r>
            <a:rPr lang="en-US" b="1">
              <a:latin typeface="Calibri"/>
            </a:rPr>
            <a:t> Risks:</a:t>
          </a:r>
          <a:r>
            <a:rPr lang="en-US" b="0">
              <a:latin typeface="Calibri"/>
            </a:rPr>
            <a:t> Blockchain and AI use can be the future threat.</a:t>
          </a:r>
        </a:p>
      </dgm:t>
    </dgm:pt>
    <dgm:pt modelId="{4A9F5FF2-67C0-4678-A34E-7794295EC933}" type="parTrans" cxnId="{CDC845D1-FC48-4630-8FE0-AF80F853F1A4}">
      <dgm:prSet/>
      <dgm:spPr/>
    </dgm:pt>
    <dgm:pt modelId="{CA932408-F2BF-480B-9CCC-EFFAF937C392}" type="sibTrans" cxnId="{CDC845D1-FC48-4630-8FE0-AF80F853F1A4}">
      <dgm:prSet/>
      <dgm:spPr/>
    </dgm:pt>
    <dgm:pt modelId="{7DFA5143-AACD-4B5E-AA64-CE6D75C18A87}">
      <dgm:prSet phldr="0"/>
      <dgm:spPr/>
      <dgm:t>
        <a:bodyPr/>
        <a:lstStyle/>
        <a:p>
          <a:pPr rtl="0"/>
          <a:r>
            <a:rPr lang="en-US" b="1"/>
            <a:t>Organizational </a:t>
          </a:r>
          <a:r>
            <a:rPr lang="en-US" b="1">
              <a:latin typeface="Calibri"/>
            </a:rPr>
            <a:t>Risk:</a:t>
          </a:r>
          <a:r>
            <a:rPr lang="en-US" b="0">
              <a:latin typeface="Calibri"/>
            </a:rPr>
            <a:t> </a:t>
          </a:r>
          <a:r>
            <a:rPr lang="en-US" b="0"/>
            <a:t>longer payback time</a:t>
          </a:r>
          <a:r>
            <a:rPr lang="en-US" b="0">
              <a:latin typeface="Calibri"/>
            </a:rPr>
            <a:t>.</a:t>
          </a:r>
          <a:endParaRPr lang="en-US" b="0"/>
        </a:p>
      </dgm:t>
    </dgm:pt>
    <dgm:pt modelId="{D52D7933-E0FA-430B-BD9E-A634589C52AB}" type="parTrans" cxnId="{E4BD830D-3110-4876-B024-B34B5806EAF8}">
      <dgm:prSet/>
      <dgm:spPr/>
    </dgm:pt>
    <dgm:pt modelId="{59A1595C-DD1A-48E9-BD70-AE019DEB44E4}" type="sibTrans" cxnId="{E4BD830D-3110-4876-B024-B34B5806EAF8}">
      <dgm:prSet/>
      <dgm:spPr/>
    </dgm:pt>
    <dgm:pt modelId="{2139EAA2-6902-42D3-95D9-CEDE8DD27C1C}" type="pres">
      <dgm:prSet presAssocID="{00764099-EA8C-4C8B-93D0-04BECAE5B906}" presName="linear" presStyleCnt="0">
        <dgm:presLayoutVars>
          <dgm:animLvl val="lvl"/>
          <dgm:resizeHandles val="exact"/>
        </dgm:presLayoutVars>
      </dgm:prSet>
      <dgm:spPr/>
    </dgm:pt>
    <dgm:pt modelId="{C5C7FBFC-A55C-46A5-9A14-66D7181CD8DE}" type="pres">
      <dgm:prSet presAssocID="{816DA256-6EDA-4528-BC70-A9F26DEA9229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F151A31-F974-4EDD-A99C-9AE94A2FAD88}" type="pres">
      <dgm:prSet presAssocID="{623E0812-AED6-43D5-B635-829FB8936E07}" presName="spacer" presStyleCnt="0"/>
      <dgm:spPr/>
    </dgm:pt>
    <dgm:pt modelId="{DB1F3E7F-DD8E-44C9-BF7F-8820885CADC3}" type="pres">
      <dgm:prSet presAssocID="{F414E97E-FF9A-42E5-A6C2-8CD9AB678BF3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2261406F-65CF-48F0-9994-52A80DA30636}" type="pres">
      <dgm:prSet presAssocID="{5C0BFA07-E6D0-4DF4-8A07-2A7DADB2F859}" presName="spacer" presStyleCnt="0"/>
      <dgm:spPr/>
    </dgm:pt>
    <dgm:pt modelId="{4D6F5FD7-6710-403C-992F-09DE353142EA}" type="pres">
      <dgm:prSet presAssocID="{3652980A-FAE7-412D-BA57-E112659EB80F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43073517-7563-41A5-8E2E-71D698518BF4}" type="pres">
      <dgm:prSet presAssocID="{AA3B39E9-6188-43E3-9BCB-0B630C8284FE}" presName="spacer" presStyleCnt="0"/>
      <dgm:spPr/>
    </dgm:pt>
    <dgm:pt modelId="{E80DD115-B6D2-4D0B-8971-1AD4F81F7093}" type="pres">
      <dgm:prSet presAssocID="{B4D8E6E0-5489-4884-B3E4-B1AD050E073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FA16C3D3-CC01-4FDF-9BBB-935C5898D594}" type="pres">
      <dgm:prSet presAssocID="{0C620F37-4310-4978-BB01-9D4846B5ECA5}" presName="spacer" presStyleCnt="0"/>
      <dgm:spPr/>
    </dgm:pt>
    <dgm:pt modelId="{3866DF4F-A500-4C21-BDCF-6C76908FCB5A}" type="pres">
      <dgm:prSet presAssocID="{AC144F2C-48BB-4E40-809A-B39255307B9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6AF2A47C-BC77-4F88-BB0F-698A7285959E}" type="pres">
      <dgm:prSet presAssocID="{2DD441B4-F09D-4B8C-BB59-FABFDCBFC9CA}" presName="spacer" presStyleCnt="0"/>
      <dgm:spPr/>
    </dgm:pt>
    <dgm:pt modelId="{0C1DA29A-BA4B-4CE5-9AC2-373083C7EA67}" type="pres">
      <dgm:prSet presAssocID="{6E5629D1-B863-4D7D-8725-246E09B89AF1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CE30E0E-7CD7-4FBE-9F04-F6FCF1CAFB05}" type="pres">
      <dgm:prSet presAssocID="{CA932408-F2BF-480B-9CCC-EFFAF937C392}" presName="spacer" presStyleCnt="0"/>
      <dgm:spPr/>
    </dgm:pt>
    <dgm:pt modelId="{EF4F24B9-D02E-4BC9-AA76-8327CFE6C3F6}" type="pres">
      <dgm:prSet presAssocID="{7DFA5143-AACD-4B5E-AA64-CE6D75C18A87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1CE7B24-8B5D-4EA8-8602-3F39A8A4C1BE}" type="pres">
      <dgm:prSet presAssocID="{59A1595C-DD1A-48E9-BD70-AE019DEB44E4}" presName="spacer" presStyleCnt="0"/>
      <dgm:spPr/>
    </dgm:pt>
    <dgm:pt modelId="{F4B7FEE0-0BF0-4611-A081-CA53A46D1E4E}" type="pres">
      <dgm:prSet presAssocID="{3EC412B9-D98C-4A28-A634-C8E9B489B6B2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F03621F8-AE60-400E-8CAE-01C026182851}" type="pres">
      <dgm:prSet presAssocID="{3EC412B9-D98C-4A28-A634-C8E9B489B6B2}" presName="childText" presStyleLbl="revTx" presStyleIdx="0" presStyleCnt="2">
        <dgm:presLayoutVars>
          <dgm:bulletEnabled val="1"/>
        </dgm:presLayoutVars>
      </dgm:prSet>
      <dgm:spPr/>
    </dgm:pt>
    <dgm:pt modelId="{C9301FF4-2D59-43F7-A7F1-8FDD7C438578}" type="pres">
      <dgm:prSet presAssocID="{CA343472-66D1-4710-8A83-1A7269B2A81A}" presName="parentText" presStyleLbl="node1" presStyleIdx="8" presStyleCnt="9">
        <dgm:presLayoutVars>
          <dgm:chMax val="0"/>
          <dgm:bulletEnabled val="1"/>
        </dgm:presLayoutVars>
      </dgm:prSet>
      <dgm:spPr/>
    </dgm:pt>
    <dgm:pt modelId="{25E43319-6946-4C7F-8966-B3B3B2C7D1DD}" type="pres">
      <dgm:prSet presAssocID="{CA343472-66D1-4710-8A83-1A7269B2A81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4BD830D-3110-4876-B024-B34B5806EAF8}" srcId="{00764099-EA8C-4C8B-93D0-04BECAE5B906}" destId="{7DFA5143-AACD-4B5E-AA64-CE6D75C18A87}" srcOrd="6" destOrd="0" parTransId="{D52D7933-E0FA-430B-BD9E-A634589C52AB}" sibTransId="{59A1595C-DD1A-48E9-BD70-AE019DEB44E4}"/>
    <dgm:cxn modelId="{596FFF1E-B63E-4A22-AD3C-8CEF285E247E}" type="presOf" srcId="{DE767A37-C72B-4FA2-B940-AA33F828175B}" destId="{F03621F8-AE60-400E-8CAE-01C026182851}" srcOrd="0" destOrd="0" presId="urn:microsoft.com/office/officeart/2005/8/layout/vList2"/>
    <dgm:cxn modelId="{C19D2422-F7E0-4D3B-A81A-36AED4A52C4E}" srcId="{3EC412B9-D98C-4A28-A634-C8E9B489B6B2}" destId="{66569D75-670D-400E-B788-F81AF62A27F7}" srcOrd="1" destOrd="0" parTransId="{AE09B8DF-D0F5-4FC4-8DAE-620C22B293A0}" sibTransId="{2F65E030-0729-4714-BCCE-585CA9B96908}"/>
    <dgm:cxn modelId="{8AF50D28-8A85-4A14-9AAD-6C8DFD197499}" type="presOf" srcId="{6E5629D1-B863-4D7D-8725-246E09B89AF1}" destId="{0C1DA29A-BA4B-4CE5-9AC2-373083C7EA67}" srcOrd="0" destOrd="0" presId="urn:microsoft.com/office/officeart/2005/8/layout/vList2"/>
    <dgm:cxn modelId="{3A1F2A60-F741-461E-8D51-C09AD269284B}" srcId="{00764099-EA8C-4C8B-93D0-04BECAE5B906}" destId="{816DA256-6EDA-4528-BC70-A9F26DEA9229}" srcOrd="0" destOrd="0" parTransId="{22BC0828-7B2A-4AB4-9EF6-164FCE4CB17A}" sibTransId="{623E0812-AED6-43D5-B635-829FB8936E07}"/>
    <dgm:cxn modelId="{9D960F41-F535-4BCE-B44F-1CD7BA5B47B6}" type="presOf" srcId="{CA343472-66D1-4710-8A83-1A7269B2A81A}" destId="{C9301FF4-2D59-43F7-A7F1-8FDD7C438578}" srcOrd="0" destOrd="0" presId="urn:microsoft.com/office/officeart/2005/8/layout/vList2"/>
    <dgm:cxn modelId="{30351743-1216-4300-80BD-D0610EE044F3}" type="presOf" srcId="{66569D75-670D-400E-B788-F81AF62A27F7}" destId="{F03621F8-AE60-400E-8CAE-01C026182851}" srcOrd="0" destOrd="1" presId="urn:microsoft.com/office/officeart/2005/8/layout/vList2"/>
    <dgm:cxn modelId="{556E2E43-60B4-4191-9BF9-AB64C38B5277}" srcId="{00764099-EA8C-4C8B-93D0-04BECAE5B906}" destId="{CA343472-66D1-4710-8A83-1A7269B2A81A}" srcOrd="8" destOrd="0" parTransId="{834B1DBD-8A6C-46FD-8053-935F7F2DF17C}" sibTransId="{BDCDAA63-DFC3-4D10-91DC-C0689F7E6FEE}"/>
    <dgm:cxn modelId="{1255AB44-1886-4BBD-80D5-A58104B3CCBF}" srcId="{00764099-EA8C-4C8B-93D0-04BECAE5B906}" destId="{F414E97E-FF9A-42E5-A6C2-8CD9AB678BF3}" srcOrd="1" destOrd="0" parTransId="{4894D2EF-F829-4FEA-8B22-6B0C7186052B}" sibTransId="{5C0BFA07-E6D0-4DF4-8A07-2A7DADB2F859}"/>
    <dgm:cxn modelId="{AFC3CF67-2D8F-4D02-9B7C-7FF954CCC490}" type="presOf" srcId="{3652980A-FAE7-412D-BA57-E112659EB80F}" destId="{4D6F5FD7-6710-403C-992F-09DE353142EA}" srcOrd="0" destOrd="0" presId="urn:microsoft.com/office/officeart/2005/8/layout/vList2"/>
    <dgm:cxn modelId="{F6CCDD7B-B496-4A23-8D2D-1D6ACB28622A}" srcId="{CA343472-66D1-4710-8A83-1A7269B2A81A}" destId="{07909F85-6DBA-4B72-864D-B0C7626445E9}" srcOrd="1" destOrd="0" parTransId="{DA4342BF-7A43-4FC5-9697-D6B81405039A}" sibTransId="{C6BE0E81-8E99-4A18-B474-DF04FB6C594F}"/>
    <dgm:cxn modelId="{2781CF8E-34A6-4673-800D-6CE79587B2F7}" type="presOf" srcId="{F414E97E-FF9A-42E5-A6C2-8CD9AB678BF3}" destId="{DB1F3E7F-DD8E-44C9-BF7F-8820885CADC3}" srcOrd="0" destOrd="0" presId="urn:microsoft.com/office/officeart/2005/8/layout/vList2"/>
    <dgm:cxn modelId="{BE20E094-FAD8-4CF5-8A01-7A9B10C7B00D}" type="presOf" srcId="{816DA256-6EDA-4528-BC70-A9F26DEA9229}" destId="{C5C7FBFC-A55C-46A5-9A14-66D7181CD8DE}" srcOrd="0" destOrd="0" presId="urn:microsoft.com/office/officeart/2005/8/layout/vList2"/>
    <dgm:cxn modelId="{1EEDAFA3-C959-4E71-8C69-C53D972A3D43}" type="presOf" srcId="{3EC412B9-D98C-4A28-A634-C8E9B489B6B2}" destId="{F4B7FEE0-0BF0-4611-A081-CA53A46D1E4E}" srcOrd="0" destOrd="0" presId="urn:microsoft.com/office/officeart/2005/8/layout/vList2"/>
    <dgm:cxn modelId="{E4DCB6BA-1B46-4E84-B5AF-1DEF37A8750C}" srcId="{CA343472-66D1-4710-8A83-1A7269B2A81A}" destId="{9D5A7A6B-8690-4042-8B32-8E6338D94AE7}" srcOrd="0" destOrd="0" parTransId="{4B9652BB-32C8-4882-B26B-388E8403A216}" sibTransId="{A44122A4-1EB4-4BB3-8A37-A0EC68167356}"/>
    <dgm:cxn modelId="{BF8DAFC5-C243-4CC4-865F-EA20B3CEB8A9}" srcId="{00764099-EA8C-4C8B-93D0-04BECAE5B906}" destId="{3EC412B9-D98C-4A28-A634-C8E9B489B6B2}" srcOrd="7" destOrd="0" parTransId="{30A8F494-5201-4C6F-9206-AA7BB07CAEA3}" sibTransId="{6A045705-B020-4AE8-8D3A-4CCB68B675C8}"/>
    <dgm:cxn modelId="{4B339CCC-D303-48AB-BC38-41A25D5351E9}" type="presOf" srcId="{B4D8E6E0-5489-4884-B3E4-B1AD050E0739}" destId="{E80DD115-B6D2-4D0B-8971-1AD4F81F7093}" srcOrd="0" destOrd="0" presId="urn:microsoft.com/office/officeart/2005/8/layout/vList2"/>
    <dgm:cxn modelId="{CDC845D1-FC48-4630-8FE0-AF80F853F1A4}" srcId="{00764099-EA8C-4C8B-93D0-04BECAE5B906}" destId="{6E5629D1-B863-4D7D-8725-246E09B89AF1}" srcOrd="5" destOrd="0" parTransId="{4A9F5FF2-67C0-4678-A34E-7794295EC933}" sibTransId="{CA932408-F2BF-480B-9CCC-EFFAF937C392}"/>
    <dgm:cxn modelId="{BB29FAD1-2FF5-4E95-A6A5-576E0B8DE156}" type="presOf" srcId="{00764099-EA8C-4C8B-93D0-04BECAE5B906}" destId="{2139EAA2-6902-42D3-95D9-CEDE8DD27C1C}" srcOrd="0" destOrd="0" presId="urn:microsoft.com/office/officeart/2005/8/layout/vList2"/>
    <dgm:cxn modelId="{FC52A1D2-EE47-42A0-992E-82F562CF8EF1}" srcId="{00764099-EA8C-4C8B-93D0-04BECAE5B906}" destId="{3652980A-FAE7-412D-BA57-E112659EB80F}" srcOrd="2" destOrd="0" parTransId="{4E304FAE-C32A-4EBA-B19B-0FFB669C0C78}" sibTransId="{AA3B39E9-6188-43E3-9BCB-0B630C8284FE}"/>
    <dgm:cxn modelId="{65124CD6-18A9-4DDB-9A7A-9047A6325C3F}" type="presOf" srcId="{9D5A7A6B-8690-4042-8B32-8E6338D94AE7}" destId="{25E43319-6946-4C7F-8966-B3B3B2C7D1DD}" srcOrd="0" destOrd="0" presId="urn:microsoft.com/office/officeart/2005/8/layout/vList2"/>
    <dgm:cxn modelId="{A92DE9DB-5C97-4B7D-9DBA-441DA7E33B9F}" type="presOf" srcId="{AC144F2C-48BB-4E40-809A-B39255307B9F}" destId="{3866DF4F-A500-4C21-BDCF-6C76908FCB5A}" srcOrd="0" destOrd="0" presId="urn:microsoft.com/office/officeart/2005/8/layout/vList2"/>
    <dgm:cxn modelId="{32E5CDDC-2313-4C29-9256-426501FAFE9E}" type="presOf" srcId="{7DFA5143-AACD-4B5E-AA64-CE6D75C18A87}" destId="{EF4F24B9-D02E-4BC9-AA76-8327CFE6C3F6}" srcOrd="0" destOrd="0" presId="urn:microsoft.com/office/officeart/2005/8/layout/vList2"/>
    <dgm:cxn modelId="{5303A2DF-9641-4674-B640-0E85CF440A7D}" type="presOf" srcId="{07909F85-6DBA-4B72-864D-B0C7626445E9}" destId="{25E43319-6946-4C7F-8966-B3B3B2C7D1DD}" srcOrd="0" destOrd="1" presId="urn:microsoft.com/office/officeart/2005/8/layout/vList2"/>
    <dgm:cxn modelId="{D457F0DF-7D9A-494B-B43E-46517BAD40A9}" srcId="{00764099-EA8C-4C8B-93D0-04BECAE5B906}" destId="{B4D8E6E0-5489-4884-B3E4-B1AD050E0739}" srcOrd="3" destOrd="0" parTransId="{A349E804-16B8-4C21-8D80-AB9DDB270093}" sibTransId="{0C620F37-4310-4978-BB01-9D4846B5ECA5}"/>
    <dgm:cxn modelId="{EB4095F7-B294-4A59-8BF9-18ADAF99BBD1}" srcId="{00764099-EA8C-4C8B-93D0-04BECAE5B906}" destId="{AC144F2C-48BB-4E40-809A-B39255307B9F}" srcOrd="4" destOrd="0" parTransId="{CD195049-A3A4-4632-B6AC-E9DCFC305173}" sibTransId="{2DD441B4-F09D-4B8C-BB59-FABFDCBFC9CA}"/>
    <dgm:cxn modelId="{C87346FD-A670-4B19-98BF-484225154C7C}" srcId="{3EC412B9-D98C-4A28-A634-C8E9B489B6B2}" destId="{DE767A37-C72B-4FA2-B940-AA33F828175B}" srcOrd="0" destOrd="0" parTransId="{07E5E57E-572B-479B-9DDF-84AEDC9BB586}" sibTransId="{8DF81694-3B69-465F-A6B8-FE56EA4E16A5}"/>
    <dgm:cxn modelId="{06055932-12F3-4A30-9BDB-0058BC0568EB}" type="presParOf" srcId="{2139EAA2-6902-42D3-95D9-CEDE8DD27C1C}" destId="{C5C7FBFC-A55C-46A5-9A14-66D7181CD8DE}" srcOrd="0" destOrd="0" presId="urn:microsoft.com/office/officeart/2005/8/layout/vList2"/>
    <dgm:cxn modelId="{B4A91207-C41C-4CCB-80D5-9C23737A4190}" type="presParOf" srcId="{2139EAA2-6902-42D3-95D9-CEDE8DD27C1C}" destId="{FF151A31-F974-4EDD-A99C-9AE94A2FAD88}" srcOrd="1" destOrd="0" presId="urn:microsoft.com/office/officeart/2005/8/layout/vList2"/>
    <dgm:cxn modelId="{CE11A1A8-6475-44D5-9F38-F430FD1A9390}" type="presParOf" srcId="{2139EAA2-6902-42D3-95D9-CEDE8DD27C1C}" destId="{DB1F3E7F-DD8E-44C9-BF7F-8820885CADC3}" srcOrd="2" destOrd="0" presId="urn:microsoft.com/office/officeart/2005/8/layout/vList2"/>
    <dgm:cxn modelId="{FD26B4A2-ED50-441F-8463-7D85CD4F2C49}" type="presParOf" srcId="{2139EAA2-6902-42D3-95D9-CEDE8DD27C1C}" destId="{2261406F-65CF-48F0-9994-52A80DA30636}" srcOrd="3" destOrd="0" presId="urn:microsoft.com/office/officeart/2005/8/layout/vList2"/>
    <dgm:cxn modelId="{3D478E8D-7BF8-4426-8A85-7A6E853F7CA4}" type="presParOf" srcId="{2139EAA2-6902-42D3-95D9-CEDE8DD27C1C}" destId="{4D6F5FD7-6710-403C-992F-09DE353142EA}" srcOrd="4" destOrd="0" presId="urn:microsoft.com/office/officeart/2005/8/layout/vList2"/>
    <dgm:cxn modelId="{5C27180B-A0DE-4899-A764-818D9FA47D13}" type="presParOf" srcId="{2139EAA2-6902-42D3-95D9-CEDE8DD27C1C}" destId="{43073517-7563-41A5-8E2E-71D698518BF4}" srcOrd="5" destOrd="0" presId="urn:microsoft.com/office/officeart/2005/8/layout/vList2"/>
    <dgm:cxn modelId="{82A5AADF-E4FD-4285-B8C2-218B01C51BCB}" type="presParOf" srcId="{2139EAA2-6902-42D3-95D9-CEDE8DD27C1C}" destId="{E80DD115-B6D2-4D0B-8971-1AD4F81F7093}" srcOrd="6" destOrd="0" presId="urn:microsoft.com/office/officeart/2005/8/layout/vList2"/>
    <dgm:cxn modelId="{4FA49EE6-BD75-45F5-814F-EEF7D6070355}" type="presParOf" srcId="{2139EAA2-6902-42D3-95D9-CEDE8DD27C1C}" destId="{FA16C3D3-CC01-4FDF-9BBB-935C5898D594}" srcOrd="7" destOrd="0" presId="urn:microsoft.com/office/officeart/2005/8/layout/vList2"/>
    <dgm:cxn modelId="{DE8D7362-61A9-4CA1-8589-C4225B123360}" type="presParOf" srcId="{2139EAA2-6902-42D3-95D9-CEDE8DD27C1C}" destId="{3866DF4F-A500-4C21-BDCF-6C76908FCB5A}" srcOrd="8" destOrd="0" presId="urn:microsoft.com/office/officeart/2005/8/layout/vList2"/>
    <dgm:cxn modelId="{358240D8-F9BE-4D2C-8D90-307B466B8257}" type="presParOf" srcId="{2139EAA2-6902-42D3-95D9-CEDE8DD27C1C}" destId="{6AF2A47C-BC77-4F88-BB0F-698A7285959E}" srcOrd="9" destOrd="0" presId="urn:microsoft.com/office/officeart/2005/8/layout/vList2"/>
    <dgm:cxn modelId="{30AA2CB4-0970-4673-A7C3-432D77F549DA}" type="presParOf" srcId="{2139EAA2-6902-42D3-95D9-CEDE8DD27C1C}" destId="{0C1DA29A-BA4B-4CE5-9AC2-373083C7EA67}" srcOrd="10" destOrd="0" presId="urn:microsoft.com/office/officeart/2005/8/layout/vList2"/>
    <dgm:cxn modelId="{51516DEE-C0DB-47B5-8FD5-6607A8ACD166}" type="presParOf" srcId="{2139EAA2-6902-42D3-95D9-CEDE8DD27C1C}" destId="{4CE30E0E-7CD7-4FBE-9F04-F6FCF1CAFB05}" srcOrd="11" destOrd="0" presId="urn:microsoft.com/office/officeart/2005/8/layout/vList2"/>
    <dgm:cxn modelId="{2EBD7C65-B4E9-4304-852A-B4D1D81B86B6}" type="presParOf" srcId="{2139EAA2-6902-42D3-95D9-CEDE8DD27C1C}" destId="{EF4F24B9-D02E-4BC9-AA76-8327CFE6C3F6}" srcOrd="12" destOrd="0" presId="urn:microsoft.com/office/officeart/2005/8/layout/vList2"/>
    <dgm:cxn modelId="{6E34DF98-9A95-4864-BD30-8F4AA8A0F577}" type="presParOf" srcId="{2139EAA2-6902-42D3-95D9-CEDE8DD27C1C}" destId="{B1CE7B24-8B5D-4EA8-8602-3F39A8A4C1BE}" srcOrd="13" destOrd="0" presId="urn:microsoft.com/office/officeart/2005/8/layout/vList2"/>
    <dgm:cxn modelId="{D4BF3C76-7628-42BE-90B1-7460592468A5}" type="presParOf" srcId="{2139EAA2-6902-42D3-95D9-CEDE8DD27C1C}" destId="{F4B7FEE0-0BF0-4611-A081-CA53A46D1E4E}" srcOrd="14" destOrd="0" presId="urn:microsoft.com/office/officeart/2005/8/layout/vList2"/>
    <dgm:cxn modelId="{6E97A167-71B6-426C-91F3-E9B28B56310C}" type="presParOf" srcId="{2139EAA2-6902-42D3-95D9-CEDE8DD27C1C}" destId="{F03621F8-AE60-400E-8CAE-01C026182851}" srcOrd="15" destOrd="0" presId="urn:microsoft.com/office/officeart/2005/8/layout/vList2"/>
    <dgm:cxn modelId="{924A6C20-D80E-4750-8085-38EA630899CA}" type="presParOf" srcId="{2139EAA2-6902-42D3-95D9-CEDE8DD27C1C}" destId="{C9301FF4-2D59-43F7-A7F1-8FDD7C438578}" srcOrd="16" destOrd="0" presId="urn:microsoft.com/office/officeart/2005/8/layout/vList2"/>
    <dgm:cxn modelId="{EBFA1402-4974-41B2-A5A0-B400DAE3FDF4}" type="presParOf" srcId="{2139EAA2-6902-42D3-95D9-CEDE8DD27C1C}" destId="{25E43319-6946-4C7F-8966-B3B3B2C7D1DD}" srcOrd="1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028F75-A681-4CD4-83EE-362E4761806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D05F62-D3B3-49CC-B052-89B62202E906}">
      <dgm:prSet/>
      <dgm:spPr/>
      <dgm:t>
        <a:bodyPr/>
        <a:lstStyle/>
        <a:p>
          <a:r>
            <a:rPr lang="en-US" b="1"/>
            <a:t>Monthly Reviews</a:t>
          </a:r>
          <a:r>
            <a:rPr lang="en-US"/>
            <a:t>:</a:t>
          </a:r>
        </a:p>
      </dgm:t>
    </dgm:pt>
    <dgm:pt modelId="{353BDCF6-5F50-435F-A4F7-C65418728A9E}" type="parTrans" cxnId="{994D7B5C-B657-432E-BA15-DED4D2B4F8DE}">
      <dgm:prSet/>
      <dgm:spPr/>
      <dgm:t>
        <a:bodyPr/>
        <a:lstStyle/>
        <a:p>
          <a:endParaRPr lang="en-US"/>
        </a:p>
      </dgm:t>
    </dgm:pt>
    <dgm:pt modelId="{B8E80D74-4554-4242-8115-71473514F1E9}" type="sibTrans" cxnId="{994D7B5C-B657-432E-BA15-DED4D2B4F8DE}">
      <dgm:prSet/>
      <dgm:spPr/>
      <dgm:t>
        <a:bodyPr/>
        <a:lstStyle/>
        <a:p>
          <a:endParaRPr lang="en-US"/>
        </a:p>
      </dgm:t>
    </dgm:pt>
    <dgm:pt modelId="{B8609FFB-7D2F-462B-A2EE-392925FEDAA6}">
      <dgm:prSet/>
      <dgm:spPr/>
      <dgm:t>
        <a:bodyPr/>
        <a:lstStyle/>
        <a:p>
          <a:r>
            <a:rPr lang="en-US"/>
            <a:t>Track CPI/SPI and strategic debt for all projects.</a:t>
          </a:r>
        </a:p>
      </dgm:t>
    </dgm:pt>
    <dgm:pt modelId="{D9EA9274-C980-41C0-88D9-599A592EEB64}" type="parTrans" cxnId="{33C750FD-A263-4E24-889C-EAB97FF3E893}">
      <dgm:prSet/>
      <dgm:spPr/>
      <dgm:t>
        <a:bodyPr/>
        <a:lstStyle/>
        <a:p>
          <a:endParaRPr lang="en-US"/>
        </a:p>
      </dgm:t>
    </dgm:pt>
    <dgm:pt modelId="{22D084B0-1B75-4EB7-9B85-8D24C702306F}" type="sibTrans" cxnId="{33C750FD-A263-4E24-889C-EAB97FF3E893}">
      <dgm:prSet/>
      <dgm:spPr/>
      <dgm:t>
        <a:bodyPr/>
        <a:lstStyle/>
        <a:p>
          <a:endParaRPr lang="en-US"/>
        </a:p>
      </dgm:t>
    </dgm:pt>
    <dgm:pt modelId="{791159BB-EC7C-4A53-A173-7284DC2B6C63}">
      <dgm:prSet/>
      <dgm:spPr/>
      <dgm:t>
        <a:bodyPr/>
        <a:lstStyle/>
        <a:p>
          <a:r>
            <a:rPr lang="en-US" b="1"/>
            <a:t>Stage-Gate Approvals</a:t>
          </a:r>
          <a:r>
            <a:rPr lang="en-US"/>
            <a:t>:</a:t>
          </a:r>
        </a:p>
      </dgm:t>
    </dgm:pt>
    <dgm:pt modelId="{CE03F053-F437-4C16-BF52-66519893FB21}" type="parTrans" cxnId="{E67F3A70-1DC9-4963-A7FE-50C19C9F9BF8}">
      <dgm:prSet/>
      <dgm:spPr/>
      <dgm:t>
        <a:bodyPr/>
        <a:lstStyle/>
        <a:p>
          <a:endParaRPr lang="en-US"/>
        </a:p>
      </dgm:t>
    </dgm:pt>
    <dgm:pt modelId="{3F2FD3B8-71F4-4E0C-B0E1-ECC065669E1A}" type="sibTrans" cxnId="{E67F3A70-1DC9-4963-A7FE-50C19C9F9BF8}">
      <dgm:prSet/>
      <dgm:spPr/>
      <dgm:t>
        <a:bodyPr/>
        <a:lstStyle/>
        <a:p>
          <a:endParaRPr lang="en-US"/>
        </a:p>
      </dgm:t>
    </dgm:pt>
    <dgm:pt modelId="{6E19C17E-B0E5-4FB5-875E-4B0185F128B4}">
      <dgm:prSet/>
      <dgm:spPr/>
      <dgm:t>
        <a:bodyPr/>
        <a:lstStyle/>
        <a:p>
          <a:r>
            <a:rPr lang="en-US"/>
            <a:t>High-risk projects (e.g., Delta) require executive sign-off for next phase.</a:t>
          </a:r>
        </a:p>
      </dgm:t>
    </dgm:pt>
    <dgm:pt modelId="{09030C2C-2728-4DD9-8691-197753C643D9}" type="parTrans" cxnId="{373DA733-5034-45F8-ABDF-22F3AC3D4B3B}">
      <dgm:prSet/>
      <dgm:spPr/>
      <dgm:t>
        <a:bodyPr/>
        <a:lstStyle/>
        <a:p>
          <a:endParaRPr lang="en-US"/>
        </a:p>
      </dgm:t>
    </dgm:pt>
    <dgm:pt modelId="{F2985E03-4CE0-4645-A633-E99275E9A86D}" type="sibTrans" cxnId="{373DA733-5034-45F8-ABDF-22F3AC3D4B3B}">
      <dgm:prSet/>
      <dgm:spPr/>
      <dgm:t>
        <a:bodyPr/>
        <a:lstStyle/>
        <a:p>
          <a:endParaRPr lang="en-US"/>
        </a:p>
      </dgm:t>
    </dgm:pt>
    <dgm:pt modelId="{EB2984D9-6414-41BC-82DF-55CE09997BCD}">
      <dgm:prSet/>
      <dgm:spPr/>
      <dgm:t>
        <a:bodyPr/>
        <a:lstStyle/>
        <a:p>
          <a:r>
            <a:rPr lang="en-US" b="1"/>
            <a:t>Contingency Reserves</a:t>
          </a:r>
          <a:r>
            <a:rPr lang="en-US"/>
            <a:t>:</a:t>
          </a:r>
        </a:p>
      </dgm:t>
    </dgm:pt>
    <dgm:pt modelId="{0F05E2D7-F16A-495F-B2EA-04F041CF46BE}" type="parTrans" cxnId="{9B90E8F9-C34E-4897-99CE-742ECC3A62F6}">
      <dgm:prSet/>
      <dgm:spPr/>
      <dgm:t>
        <a:bodyPr/>
        <a:lstStyle/>
        <a:p>
          <a:endParaRPr lang="en-US"/>
        </a:p>
      </dgm:t>
    </dgm:pt>
    <dgm:pt modelId="{51F629D5-FDDF-4BEC-BC4A-1395EE6441E5}" type="sibTrans" cxnId="{9B90E8F9-C34E-4897-99CE-742ECC3A62F6}">
      <dgm:prSet/>
      <dgm:spPr/>
      <dgm:t>
        <a:bodyPr/>
        <a:lstStyle/>
        <a:p>
          <a:endParaRPr lang="en-US"/>
        </a:p>
      </dgm:t>
    </dgm:pt>
    <dgm:pt modelId="{26DB100D-0F44-4550-80A9-88CB21B0FD84}">
      <dgm:prSet/>
      <dgm:spPr/>
      <dgm:t>
        <a:bodyPr/>
        <a:lstStyle/>
        <a:p>
          <a:r>
            <a:rPr lang="en-US"/>
            <a:t>Allocate 10% of portfolio budget to cover ESG/compliance risks.</a:t>
          </a:r>
        </a:p>
      </dgm:t>
    </dgm:pt>
    <dgm:pt modelId="{9922D041-EB08-49F9-B0F7-8E5833266558}" type="parTrans" cxnId="{475653F5-569F-4179-9D18-B3C318D0B448}">
      <dgm:prSet/>
      <dgm:spPr/>
      <dgm:t>
        <a:bodyPr/>
        <a:lstStyle/>
        <a:p>
          <a:endParaRPr lang="en-US"/>
        </a:p>
      </dgm:t>
    </dgm:pt>
    <dgm:pt modelId="{FFB589BB-D33F-4BE2-B28C-FD267FE84964}" type="sibTrans" cxnId="{475653F5-569F-4179-9D18-B3C318D0B448}">
      <dgm:prSet/>
      <dgm:spPr/>
      <dgm:t>
        <a:bodyPr/>
        <a:lstStyle/>
        <a:p>
          <a:endParaRPr lang="en-US"/>
        </a:p>
      </dgm:t>
    </dgm:pt>
    <dgm:pt modelId="{E8BE8EAB-C2D7-4A00-B6B2-14E70CBCDDE8}" type="pres">
      <dgm:prSet presAssocID="{5D028F75-A681-4CD4-83EE-362E47618064}" presName="linear" presStyleCnt="0">
        <dgm:presLayoutVars>
          <dgm:dir/>
          <dgm:animLvl val="lvl"/>
          <dgm:resizeHandles val="exact"/>
        </dgm:presLayoutVars>
      </dgm:prSet>
      <dgm:spPr/>
    </dgm:pt>
    <dgm:pt modelId="{89407494-E8E5-4CCD-8151-04085E7F05EE}" type="pres">
      <dgm:prSet presAssocID="{8FD05F62-D3B3-49CC-B052-89B62202E906}" presName="parentLin" presStyleCnt="0"/>
      <dgm:spPr/>
    </dgm:pt>
    <dgm:pt modelId="{89F10A23-61A0-4B41-8D8F-5284656F886E}" type="pres">
      <dgm:prSet presAssocID="{8FD05F62-D3B3-49CC-B052-89B62202E906}" presName="parentLeftMargin" presStyleLbl="node1" presStyleIdx="0" presStyleCnt="3"/>
      <dgm:spPr/>
    </dgm:pt>
    <dgm:pt modelId="{51947EF5-6A19-4595-AD94-77D7156FF90C}" type="pres">
      <dgm:prSet presAssocID="{8FD05F62-D3B3-49CC-B052-89B62202E9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804552-EE6D-4996-8ECC-E917867C177A}" type="pres">
      <dgm:prSet presAssocID="{8FD05F62-D3B3-49CC-B052-89B62202E906}" presName="negativeSpace" presStyleCnt="0"/>
      <dgm:spPr/>
    </dgm:pt>
    <dgm:pt modelId="{477BB070-ADB3-4595-8E2A-FE78A8C16FDD}" type="pres">
      <dgm:prSet presAssocID="{8FD05F62-D3B3-49CC-B052-89B62202E906}" presName="childText" presStyleLbl="conFgAcc1" presStyleIdx="0" presStyleCnt="3">
        <dgm:presLayoutVars>
          <dgm:bulletEnabled val="1"/>
        </dgm:presLayoutVars>
      </dgm:prSet>
      <dgm:spPr/>
    </dgm:pt>
    <dgm:pt modelId="{5E6277F8-A49D-410D-A75D-EFFBA59994B5}" type="pres">
      <dgm:prSet presAssocID="{B8E80D74-4554-4242-8115-71473514F1E9}" presName="spaceBetweenRectangles" presStyleCnt="0"/>
      <dgm:spPr/>
    </dgm:pt>
    <dgm:pt modelId="{D800A1D4-2724-4D88-844F-8ABA631070B9}" type="pres">
      <dgm:prSet presAssocID="{791159BB-EC7C-4A53-A173-7284DC2B6C63}" presName="parentLin" presStyleCnt="0"/>
      <dgm:spPr/>
    </dgm:pt>
    <dgm:pt modelId="{04054E7A-FC74-42F5-8688-35066E1E563E}" type="pres">
      <dgm:prSet presAssocID="{791159BB-EC7C-4A53-A173-7284DC2B6C63}" presName="parentLeftMargin" presStyleLbl="node1" presStyleIdx="0" presStyleCnt="3"/>
      <dgm:spPr/>
    </dgm:pt>
    <dgm:pt modelId="{5E4C07B0-66CB-4008-9D25-F54DB873DE33}" type="pres">
      <dgm:prSet presAssocID="{791159BB-EC7C-4A53-A173-7284DC2B6C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268607-FCEB-41F4-8DDC-99021CBF8B77}" type="pres">
      <dgm:prSet presAssocID="{791159BB-EC7C-4A53-A173-7284DC2B6C63}" presName="negativeSpace" presStyleCnt="0"/>
      <dgm:spPr/>
    </dgm:pt>
    <dgm:pt modelId="{E837CA87-3CEF-4398-A299-07D1926171CE}" type="pres">
      <dgm:prSet presAssocID="{791159BB-EC7C-4A53-A173-7284DC2B6C63}" presName="childText" presStyleLbl="conFgAcc1" presStyleIdx="1" presStyleCnt="3">
        <dgm:presLayoutVars>
          <dgm:bulletEnabled val="1"/>
        </dgm:presLayoutVars>
      </dgm:prSet>
      <dgm:spPr/>
    </dgm:pt>
    <dgm:pt modelId="{31645C49-EE94-4CD9-83C1-0FDACB8A9FC2}" type="pres">
      <dgm:prSet presAssocID="{3F2FD3B8-71F4-4E0C-B0E1-ECC065669E1A}" presName="spaceBetweenRectangles" presStyleCnt="0"/>
      <dgm:spPr/>
    </dgm:pt>
    <dgm:pt modelId="{4C9859EA-067F-4974-B6F7-0C2343779958}" type="pres">
      <dgm:prSet presAssocID="{EB2984D9-6414-41BC-82DF-55CE09997BCD}" presName="parentLin" presStyleCnt="0"/>
      <dgm:spPr/>
    </dgm:pt>
    <dgm:pt modelId="{6C585031-3CA2-4280-9387-965FF71A8FBF}" type="pres">
      <dgm:prSet presAssocID="{EB2984D9-6414-41BC-82DF-55CE09997BCD}" presName="parentLeftMargin" presStyleLbl="node1" presStyleIdx="1" presStyleCnt="3"/>
      <dgm:spPr/>
    </dgm:pt>
    <dgm:pt modelId="{4BA78E05-3C8C-4C6D-BF6F-703ADB227E9B}" type="pres">
      <dgm:prSet presAssocID="{EB2984D9-6414-41BC-82DF-55CE09997B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EC08CE-E334-4855-82E5-B9D27A34BE78}" type="pres">
      <dgm:prSet presAssocID="{EB2984D9-6414-41BC-82DF-55CE09997BCD}" presName="negativeSpace" presStyleCnt="0"/>
      <dgm:spPr/>
    </dgm:pt>
    <dgm:pt modelId="{9CDFFF77-0D08-452F-8760-868999838FED}" type="pres">
      <dgm:prSet presAssocID="{EB2984D9-6414-41BC-82DF-55CE09997B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EACD002-3D4E-4095-8C35-D5F18553E510}" type="presOf" srcId="{791159BB-EC7C-4A53-A173-7284DC2B6C63}" destId="{5E4C07B0-66CB-4008-9D25-F54DB873DE33}" srcOrd="1" destOrd="0" presId="urn:microsoft.com/office/officeart/2005/8/layout/list1"/>
    <dgm:cxn modelId="{A0D11C29-79FA-4706-A12A-DA1D9F5801FA}" type="presOf" srcId="{8FD05F62-D3B3-49CC-B052-89B62202E906}" destId="{51947EF5-6A19-4595-AD94-77D7156FF90C}" srcOrd="1" destOrd="0" presId="urn:microsoft.com/office/officeart/2005/8/layout/list1"/>
    <dgm:cxn modelId="{373DA733-5034-45F8-ABDF-22F3AC3D4B3B}" srcId="{791159BB-EC7C-4A53-A173-7284DC2B6C63}" destId="{6E19C17E-B0E5-4FB5-875E-4B0185F128B4}" srcOrd="0" destOrd="0" parTransId="{09030C2C-2728-4DD9-8691-197753C643D9}" sibTransId="{F2985E03-4CE0-4645-A633-E99275E9A86D}"/>
    <dgm:cxn modelId="{2E8D623A-414A-4291-BECB-D5FEE909BB86}" type="presOf" srcId="{EB2984D9-6414-41BC-82DF-55CE09997BCD}" destId="{6C585031-3CA2-4280-9387-965FF71A8FBF}" srcOrd="0" destOrd="0" presId="urn:microsoft.com/office/officeart/2005/8/layout/list1"/>
    <dgm:cxn modelId="{35806D3E-DE51-4EE3-A70F-25E59A0DDDFD}" type="presOf" srcId="{B8609FFB-7D2F-462B-A2EE-392925FEDAA6}" destId="{477BB070-ADB3-4595-8E2A-FE78A8C16FDD}" srcOrd="0" destOrd="0" presId="urn:microsoft.com/office/officeart/2005/8/layout/list1"/>
    <dgm:cxn modelId="{0C210C40-EC9B-477E-A092-4A077E65AAA0}" type="presOf" srcId="{6E19C17E-B0E5-4FB5-875E-4B0185F128B4}" destId="{E837CA87-3CEF-4398-A299-07D1926171CE}" srcOrd="0" destOrd="0" presId="urn:microsoft.com/office/officeart/2005/8/layout/list1"/>
    <dgm:cxn modelId="{994D7B5C-B657-432E-BA15-DED4D2B4F8DE}" srcId="{5D028F75-A681-4CD4-83EE-362E47618064}" destId="{8FD05F62-D3B3-49CC-B052-89B62202E906}" srcOrd="0" destOrd="0" parTransId="{353BDCF6-5F50-435F-A4F7-C65418728A9E}" sibTransId="{B8E80D74-4554-4242-8115-71473514F1E9}"/>
    <dgm:cxn modelId="{50C71B48-9677-47DE-8E67-05DE961F8E71}" type="presOf" srcId="{26DB100D-0F44-4550-80A9-88CB21B0FD84}" destId="{9CDFFF77-0D08-452F-8760-868999838FED}" srcOrd="0" destOrd="0" presId="urn:microsoft.com/office/officeart/2005/8/layout/list1"/>
    <dgm:cxn modelId="{E67F3A70-1DC9-4963-A7FE-50C19C9F9BF8}" srcId="{5D028F75-A681-4CD4-83EE-362E47618064}" destId="{791159BB-EC7C-4A53-A173-7284DC2B6C63}" srcOrd="1" destOrd="0" parTransId="{CE03F053-F437-4C16-BF52-66519893FB21}" sibTransId="{3F2FD3B8-71F4-4E0C-B0E1-ECC065669E1A}"/>
    <dgm:cxn modelId="{F650D3A9-9429-40FC-8792-E3990E301046}" type="presOf" srcId="{791159BB-EC7C-4A53-A173-7284DC2B6C63}" destId="{04054E7A-FC74-42F5-8688-35066E1E563E}" srcOrd="0" destOrd="0" presId="urn:microsoft.com/office/officeart/2005/8/layout/list1"/>
    <dgm:cxn modelId="{10D5CCB2-5CC0-4245-B16E-857756FF7E39}" type="presOf" srcId="{5D028F75-A681-4CD4-83EE-362E47618064}" destId="{E8BE8EAB-C2D7-4A00-B6B2-14E70CBCDDE8}" srcOrd="0" destOrd="0" presId="urn:microsoft.com/office/officeart/2005/8/layout/list1"/>
    <dgm:cxn modelId="{A57F87D6-79B4-4A76-A363-22557B3D0CB4}" type="presOf" srcId="{8FD05F62-D3B3-49CC-B052-89B62202E906}" destId="{89F10A23-61A0-4B41-8D8F-5284656F886E}" srcOrd="0" destOrd="0" presId="urn:microsoft.com/office/officeart/2005/8/layout/list1"/>
    <dgm:cxn modelId="{8C889CD8-091D-453C-9075-EF3996E64B86}" type="presOf" srcId="{EB2984D9-6414-41BC-82DF-55CE09997BCD}" destId="{4BA78E05-3C8C-4C6D-BF6F-703ADB227E9B}" srcOrd="1" destOrd="0" presId="urn:microsoft.com/office/officeart/2005/8/layout/list1"/>
    <dgm:cxn modelId="{475653F5-569F-4179-9D18-B3C318D0B448}" srcId="{EB2984D9-6414-41BC-82DF-55CE09997BCD}" destId="{26DB100D-0F44-4550-80A9-88CB21B0FD84}" srcOrd="0" destOrd="0" parTransId="{9922D041-EB08-49F9-B0F7-8E5833266558}" sibTransId="{FFB589BB-D33F-4BE2-B28C-FD267FE84964}"/>
    <dgm:cxn modelId="{9B90E8F9-C34E-4897-99CE-742ECC3A62F6}" srcId="{5D028F75-A681-4CD4-83EE-362E47618064}" destId="{EB2984D9-6414-41BC-82DF-55CE09997BCD}" srcOrd="2" destOrd="0" parTransId="{0F05E2D7-F16A-495F-B2EA-04F041CF46BE}" sibTransId="{51F629D5-FDDF-4BEC-BC4A-1395EE6441E5}"/>
    <dgm:cxn modelId="{33C750FD-A263-4E24-889C-EAB97FF3E893}" srcId="{8FD05F62-D3B3-49CC-B052-89B62202E906}" destId="{B8609FFB-7D2F-462B-A2EE-392925FEDAA6}" srcOrd="0" destOrd="0" parTransId="{D9EA9274-C980-41C0-88D9-599A592EEB64}" sibTransId="{22D084B0-1B75-4EB7-9B85-8D24C702306F}"/>
    <dgm:cxn modelId="{0CF83365-DF1C-44E6-A787-4890A04F0C80}" type="presParOf" srcId="{E8BE8EAB-C2D7-4A00-B6B2-14E70CBCDDE8}" destId="{89407494-E8E5-4CCD-8151-04085E7F05EE}" srcOrd="0" destOrd="0" presId="urn:microsoft.com/office/officeart/2005/8/layout/list1"/>
    <dgm:cxn modelId="{24B570B5-D6E8-4C5C-9D5F-554A65D6A5E4}" type="presParOf" srcId="{89407494-E8E5-4CCD-8151-04085E7F05EE}" destId="{89F10A23-61A0-4B41-8D8F-5284656F886E}" srcOrd="0" destOrd="0" presId="urn:microsoft.com/office/officeart/2005/8/layout/list1"/>
    <dgm:cxn modelId="{374A3CE4-1ECA-4399-A10D-B2EF665DF9EF}" type="presParOf" srcId="{89407494-E8E5-4CCD-8151-04085E7F05EE}" destId="{51947EF5-6A19-4595-AD94-77D7156FF90C}" srcOrd="1" destOrd="0" presId="urn:microsoft.com/office/officeart/2005/8/layout/list1"/>
    <dgm:cxn modelId="{52FFF0DD-13F0-4A8D-8575-E6CBEE319B32}" type="presParOf" srcId="{E8BE8EAB-C2D7-4A00-B6B2-14E70CBCDDE8}" destId="{07804552-EE6D-4996-8ECC-E917867C177A}" srcOrd="1" destOrd="0" presId="urn:microsoft.com/office/officeart/2005/8/layout/list1"/>
    <dgm:cxn modelId="{F7C10F80-9F50-4460-8983-4A137D533524}" type="presParOf" srcId="{E8BE8EAB-C2D7-4A00-B6B2-14E70CBCDDE8}" destId="{477BB070-ADB3-4595-8E2A-FE78A8C16FDD}" srcOrd="2" destOrd="0" presId="urn:microsoft.com/office/officeart/2005/8/layout/list1"/>
    <dgm:cxn modelId="{B92D2CCC-3937-47CF-B2B1-91D979F006E9}" type="presParOf" srcId="{E8BE8EAB-C2D7-4A00-B6B2-14E70CBCDDE8}" destId="{5E6277F8-A49D-410D-A75D-EFFBA59994B5}" srcOrd="3" destOrd="0" presId="urn:microsoft.com/office/officeart/2005/8/layout/list1"/>
    <dgm:cxn modelId="{46B713B6-F543-402D-9E64-87EC41263C86}" type="presParOf" srcId="{E8BE8EAB-C2D7-4A00-B6B2-14E70CBCDDE8}" destId="{D800A1D4-2724-4D88-844F-8ABA631070B9}" srcOrd="4" destOrd="0" presId="urn:microsoft.com/office/officeart/2005/8/layout/list1"/>
    <dgm:cxn modelId="{0F336BF7-05DA-409C-A8A7-D056EF3B278A}" type="presParOf" srcId="{D800A1D4-2724-4D88-844F-8ABA631070B9}" destId="{04054E7A-FC74-42F5-8688-35066E1E563E}" srcOrd="0" destOrd="0" presId="urn:microsoft.com/office/officeart/2005/8/layout/list1"/>
    <dgm:cxn modelId="{7AE8B4CD-7C16-4805-B9D4-86539F465555}" type="presParOf" srcId="{D800A1D4-2724-4D88-844F-8ABA631070B9}" destId="{5E4C07B0-66CB-4008-9D25-F54DB873DE33}" srcOrd="1" destOrd="0" presId="urn:microsoft.com/office/officeart/2005/8/layout/list1"/>
    <dgm:cxn modelId="{582125B0-D8B7-4DA0-AC57-1E4DE7EE43B5}" type="presParOf" srcId="{E8BE8EAB-C2D7-4A00-B6B2-14E70CBCDDE8}" destId="{B4268607-FCEB-41F4-8DDC-99021CBF8B77}" srcOrd="5" destOrd="0" presId="urn:microsoft.com/office/officeart/2005/8/layout/list1"/>
    <dgm:cxn modelId="{70D25527-7C2E-4F74-8A27-F3FCA1B2B312}" type="presParOf" srcId="{E8BE8EAB-C2D7-4A00-B6B2-14E70CBCDDE8}" destId="{E837CA87-3CEF-4398-A299-07D1926171CE}" srcOrd="6" destOrd="0" presId="urn:microsoft.com/office/officeart/2005/8/layout/list1"/>
    <dgm:cxn modelId="{714374B1-4E2A-427C-AAF5-3C2DE47DE091}" type="presParOf" srcId="{E8BE8EAB-C2D7-4A00-B6B2-14E70CBCDDE8}" destId="{31645C49-EE94-4CD9-83C1-0FDACB8A9FC2}" srcOrd="7" destOrd="0" presId="urn:microsoft.com/office/officeart/2005/8/layout/list1"/>
    <dgm:cxn modelId="{96D9585D-FA89-46D0-A7D1-1A2FD54A8061}" type="presParOf" srcId="{E8BE8EAB-C2D7-4A00-B6B2-14E70CBCDDE8}" destId="{4C9859EA-067F-4974-B6F7-0C2343779958}" srcOrd="8" destOrd="0" presId="urn:microsoft.com/office/officeart/2005/8/layout/list1"/>
    <dgm:cxn modelId="{65D4FC69-CE5C-48D7-A001-8EA5020E3E41}" type="presParOf" srcId="{4C9859EA-067F-4974-B6F7-0C2343779958}" destId="{6C585031-3CA2-4280-9387-965FF71A8FBF}" srcOrd="0" destOrd="0" presId="urn:microsoft.com/office/officeart/2005/8/layout/list1"/>
    <dgm:cxn modelId="{F45BEE92-E3CE-4BA3-9F2F-D4D6FBE0A134}" type="presParOf" srcId="{4C9859EA-067F-4974-B6F7-0C2343779958}" destId="{4BA78E05-3C8C-4C6D-BF6F-703ADB227E9B}" srcOrd="1" destOrd="0" presId="urn:microsoft.com/office/officeart/2005/8/layout/list1"/>
    <dgm:cxn modelId="{384AF2DA-D500-42E6-9F42-3CDB356687A3}" type="presParOf" srcId="{E8BE8EAB-C2D7-4A00-B6B2-14E70CBCDDE8}" destId="{05EC08CE-E334-4855-82E5-B9D27A34BE78}" srcOrd="9" destOrd="0" presId="urn:microsoft.com/office/officeart/2005/8/layout/list1"/>
    <dgm:cxn modelId="{E8691CBA-9561-437D-8031-EA83DD5B1A81}" type="presParOf" srcId="{E8BE8EAB-C2D7-4A00-B6B2-14E70CBCDDE8}" destId="{9CDFFF77-0D08-452F-8760-868999838FE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1BB733-C786-4C33-B89F-3ED160B425F9}" type="doc">
      <dgm:prSet loTypeId="urn:microsoft.com/office/officeart/2008/layout/LinedList" loCatId="list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F21B1B8-DB03-408E-BAE9-55E329D77C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Planned Value (PV):</a:t>
          </a:r>
          <a:r>
            <a:rPr lang="en-US"/>
            <a:t> Originally planned cost of the work that should have been done today.</a:t>
          </a:r>
        </a:p>
      </dgm:t>
    </dgm:pt>
    <dgm:pt modelId="{D32BF7CD-6811-4AFD-9DD3-247E17DAB34B}" type="parTrans" cxnId="{69D94FDE-E353-4FFF-8D2D-FA48826ADAFC}">
      <dgm:prSet/>
      <dgm:spPr/>
      <dgm:t>
        <a:bodyPr/>
        <a:lstStyle/>
        <a:p>
          <a:endParaRPr lang="en-US"/>
        </a:p>
      </dgm:t>
    </dgm:pt>
    <dgm:pt modelId="{44E4C366-2DDC-4942-B90A-4BE00B89B0BD}" type="sibTrans" cxnId="{69D94FDE-E353-4FFF-8D2D-FA48826ADAFC}">
      <dgm:prSet/>
      <dgm:spPr/>
      <dgm:t>
        <a:bodyPr/>
        <a:lstStyle/>
        <a:p>
          <a:endParaRPr lang="en-US"/>
        </a:p>
      </dgm:t>
    </dgm:pt>
    <dgm:pt modelId="{2B939839-B1F5-434F-96B2-7A6ABADE0D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Earned Value (EV):</a:t>
          </a:r>
          <a:r>
            <a:rPr lang="en-US"/>
            <a:t> Amount of originally budgeted work that is completed as per today</a:t>
          </a:r>
        </a:p>
      </dgm:t>
    </dgm:pt>
    <dgm:pt modelId="{1ABB271D-814E-4DA9-8C7E-D7F1BA2A0092}" type="parTrans" cxnId="{CCBABD99-D62D-4A7F-B5F3-CA8C0F55E915}">
      <dgm:prSet/>
      <dgm:spPr/>
      <dgm:t>
        <a:bodyPr/>
        <a:lstStyle/>
        <a:p>
          <a:endParaRPr lang="en-US"/>
        </a:p>
      </dgm:t>
    </dgm:pt>
    <dgm:pt modelId="{3D8A8E8C-BEC5-444F-8A5F-3259E2800BD2}" type="sibTrans" cxnId="{CCBABD99-D62D-4A7F-B5F3-CA8C0F55E915}">
      <dgm:prSet/>
      <dgm:spPr/>
      <dgm:t>
        <a:bodyPr/>
        <a:lstStyle/>
        <a:p>
          <a:endParaRPr lang="en-US"/>
        </a:p>
      </dgm:t>
    </dgm:pt>
    <dgm:pt modelId="{F64E530B-2A11-4555-B894-BA0BFF66F1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Actual Cost (AC):</a:t>
          </a:r>
          <a:r>
            <a:rPr lang="en-US"/>
            <a:t> Actual cost incurred.</a:t>
          </a:r>
        </a:p>
      </dgm:t>
    </dgm:pt>
    <dgm:pt modelId="{E6ACF6CB-54EC-4D47-9978-B192B89FE2BD}" type="parTrans" cxnId="{A8DDF168-67FD-4C11-B69B-E43C6B6CD685}">
      <dgm:prSet/>
      <dgm:spPr/>
      <dgm:t>
        <a:bodyPr/>
        <a:lstStyle/>
        <a:p>
          <a:endParaRPr lang="en-US"/>
        </a:p>
      </dgm:t>
    </dgm:pt>
    <dgm:pt modelId="{CD6F9FF4-24DE-4F5F-BDA6-FDC5858BF737}" type="sibTrans" cxnId="{A8DDF168-67FD-4C11-B69B-E43C6B6CD685}">
      <dgm:prSet/>
      <dgm:spPr/>
      <dgm:t>
        <a:bodyPr/>
        <a:lstStyle/>
        <a:p>
          <a:endParaRPr lang="en-US"/>
        </a:p>
      </dgm:t>
    </dgm:pt>
    <dgm:pt modelId="{376E4ACD-B760-48AC-9C52-317DD39B0F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Cost Variance (CV):</a:t>
          </a:r>
          <a:r>
            <a:rPr lang="en-US"/>
            <a:t> EV – AC (</a:t>
          </a:r>
          <a:r>
            <a:rPr lang="en-US" i="1"/>
            <a:t>Negative = Over Budget</a:t>
          </a:r>
          <a:r>
            <a:rPr lang="en-US"/>
            <a:t>).</a:t>
          </a:r>
        </a:p>
      </dgm:t>
    </dgm:pt>
    <dgm:pt modelId="{5DF79D3F-D1B1-486E-A3E8-AF7DA99527F3}" type="parTrans" cxnId="{EE754767-9D6D-4857-A4F4-A85BA6EAC093}">
      <dgm:prSet/>
      <dgm:spPr/>
      <dgm:t>
        <a:bodyPr/>
        <a:lstStyle/>
        <a:p>
          <a:endParaRPr lang="en-US"/>
        </a:p>
      </dgm:t>
    </dgm:pt>
    <dgm:pt modelId="{CFD13953-F5E7-4414-AB30-F6F24F3999D7}" type="sibTrans" cxnId="{EE754767-9D6D-4857-A4F4-A85BA6EAC093}">
      <dgm:prSet/>
      <dgm:spPr/>
      <dgm:t>
        <a:bodyPr/>
        <a:lstStyle/>
        <a:p>
          <a:endParaRPr lang="en-US"/>
        </a:p>
      </dgm:t>
    </dgm:pt>
    <dgm:pt modelId="{028C8423-11E8-4D7E-9A13-9A7D4E381F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Schedule Variance (SV):</a:t>
          </a:r>
          <a:r>
            <a:rPr lang="en-US"/>
            <a:t> EV – PV (</a:t>
          </a:r>
          <a:r>
            <a:rPr lang="en-US" i="1"/>
            <a:t>Negative = Behind Schedule</a:t>
          </a:r>
          <a:r>
            <a:rPr lang="en-US"/>
            <a:t>).</a:t>
          </a:r>
        </a:p>
      </dgm:t>
    </dgm:pt>
    <dgm:pt modelId="{35531551-4521-4513-9997-77E4F2D67B44}" type="parTrans" cxnId="{B0489D6D-8A70-424D-936B-1CDD04009C87}">
      <dgm:prSet/>
      <dgm:spPr/>
      <dgm:t>
        <a:bodyPr/>
        <a:lstStyle/>
        <a:p>
          <a:endParaRPr lang="en-US"/>
        </a:p>
      </dgm:t>
    </dgm:pt>
    <dgm:pt modelId="{1F7B9C45-ED84-4489-91C9-C1EC1192E015}" type="sibTrans" cxnId="{B0489D6D-8A70-424D-936B-1CDD04009C87}">
      <dgm:prSet/>
      <dgm:spPr/>
      <dgm:t>
        <a:bodyPr/>
        <a:lstStyle/>
        <a:p>
          <a:endParaRPr lang="en-US"/>
        </a:p>
      </dgm:t>
    </dgm:pt>
    <dgm:pt modelId="{90FEBB8B-3331-47E7-9131-A985E55DCE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% Complete:</a:t>
          </a:r>
          <a:r>
            <a:rPr lang="en-US"/>
            <a:t> (EV / BAC) × 100.</a:t>
          </a:r>
        </a:p>
      </dgm:t>
    </dgm:pt>
    <dgm:pt modelId="{E1589965-0DE5-4095-BD5D-CE39665021DB}" type="parTrans" cxnId="{E543B666-E4F8-4A83-8B81-0FF2BB543426}">
      <dgm:prSet/>
      <dgm:spPr/>
      <dgm:t>
        <a:bodyPr/>
        <a:lstStyle/>
        <a:p>
          <a:endParaRPr lang="en-US"/>
        </a:p>
      </dgm:t>
    </dgm:pt>
    <dgm:pt modelId="{E552C937-6137-4600-9145-28DC0530D1DB}" type="sibTrans" cxnId="{E543B666-E4F8-4A83-8B81-0FF2BB543426}">
      <dgm:prSet/>
      <dgm:spPr/>
      <dgm:t>
        <a:bodyPr/>
        <a:lstStyle/>
        <a:p>
          <a:endParaRPr lang="en-US"/>
        </a:p>
      </dgm:t>
    </dgm:pt>
    <dgm:pt modelId="{ECD57CAF-BEDD-467E-8B7A-2DF9E55BAC84}">
      <dgm:prSet phldr="0"/>
      <dgm:spPr/>
      <dgm:t>
        <a:bodyPr/>
        <a:lstStyle/>
        <a:p>
          <a:pPr rtl="0">
            <a:defRPr cap="all"/>
          </a:pPr>
          <a:r>
            <a:rPr lang="en-US">
              <a:solidFill>
                <a:srgbClr val="000000"/>
              </a:solidFill>
              <a:latin typeface="Calibri"/>
            </a:rPr>
            <a:t>Action: Terminate projects with CPI &lt; 1 or SPI &lt; 0.9.</a:t>
          </a:r>
          <a:endParaRPr lang="en-US">
            <a:latin typeface="Calibri"/>
          </a:endParaRPr>
        </a:p>
      </dgm:t>
    </dgm:pt>
    <dgm:pt modelId="{87A85160-9F7E-44BC-B02B-AFFD84F6E67E}" type="parTrans" cxnId="{23040ECF-77D9-44C3-B233-C0EC1E391D82}">
      <dgm:prSet/>
      <dgm:spPr/>
      <dgm:t>
        <a:bodyPr/>
        <a:lstStyle/>
        <a:p>
          <a:endParaRPr lang="en-FI"/>
        </a:p>
      </dgm:t>
    </dgm:pt>
    <dgm:pt modelId="{F4D6B19D-8DFD-4D91-9DC7-DC3754788418}" type="sibTrans" cxnId="{23040ECF-77D9-44C3-B233-C0EC1E391D82}">
      <dgm:prSet/>
      <dgm:spPr/>
      <dgm:t>
        <a:bodyPr/>
        <a:lstStyle/>
        <a:p>
          <a:endParaRPr lang="en-FI"/>
        </a:p>
      </dgm:t>
    </dgm:pt>
    <dgm:pt modelId="{416FAA99-C48B-48F4-A881-64C27496A31C}" type="pres">
      <dgm:prSet presAssocID="{0A1BB733-C786-4C33-B89F-3ED160B425F9}" presName="vert0" presStyleCnt="0">
        <dgm:presLayoutVars>
          <dgm:dir/>
          <dgm:animOne val="branch"/>
          <dgm:animLvl val="lvl"/>
        </dgm:presLayoutVars>
      </dgm:prSet>
      <dgm:spPr/>
    </dgm:pt>
    <dgm:pt modelId="{E1342E4C-F73C-4B61-9D01-12C12A79A82B}" type="pres">
      <dgm:prSet presAssocID="{6F21B1B8-DB03-408E-BAE9-55E329D77CE6}" presName="thickLine" presStyleLbl="alignNode1" presStyleIdx="0" presStyleCnt="7"/>
      <dgm:spPr/>
    </dgm:pt>
    <dgm:pt modelId="{9A244CD1-29AD-4243-ADB3-E988686E12BD}" type="pres">
      <dgm:prSet presAssocID="{6F21B1B8-DB03-408E-BAE9-55E329D77CE6}" presName="horz1" presStyleCnt="0"/>
      <dgm:spPr/>
    </dgm:pt>
    <dgm:pt modelId="{82D3511F-AA4F-494B-A2F9-685394563453}" type="pres">
      <dgm:prSet presAssocID="{6F21B1B8-DB03-408E-BAE9-55E329D77CE6}" presName="tx1" presStyleLbl="revTx" presStyleIdx="0" presStyleCnt="7"/>
      <dgm:spPr/>
    </dgm:pt>
    <dgm:pt modelId="{8CCEF7F3-153A-4A23-BADA-D7FEBE0EDA9D}" type="pres">
      <dgm:prSet presAssocID="{6F21B1B8-DB03-408E-BAE9-55E329D77CE6}" presName="vert1" presStyleCnt="0"/>
      <dgm:spPr/>
    </dgm:pt>
    <dgm:pt modelId="{DE105D3C-0220-4327-9180-D959C951E806}" type="pres">
      <dgm:prSet presAssocID="{2B939839-B1F5-434F-96B2-7A6ABADE0D80}" presName="thickLine" presStyleLbl="alignNode1" presStyleIdx="1" presStyleCnt="7"/>
      <dgm:spPr/>
    </dgm:pt>
    <dgm:pt modelId="{F397AF63-A363-47B4-A4A4-E20FDC7D4F34}" type="pres">
      <dgm:prSet presAssocID="{2B939839-B1F5-434F-96B2-7A6ABADE0D80}" presName="horz1" presStyleCnt="0"/>
      <dgm:spPr/>
    </dgm:pt>
    <dgm:pt modelId="{1D2CBCD3-0188-4D3A-BC32-04B08BDFA3A4}" type="pres">
      <dgm:prSet presAssocID="{2B939839-B1F5-434F-96B2-7A6ABADE0D80}" presName="tx1" presStyleLbl="revTx" presStyleIdx="1" presStyleCnt="7"/>
      <dgm:spPr/>
    </dgm:pt>
    <dgm:pt modelId="{FC18BE60-F580-4729-99F4-DD4D2ACD42F1}" type="pres">
      <dgm:prSet presAssocID="{2B939839-B1F5-434F-96B2-7A6ABADE0D80}" presName="vert1" presStyleCnt="0"/>
      <dgm:spPr/>
    </dgm:pt>
    <dgm:pt modelId="{EB579C78-546A-4C5C-84C0-A884279CE060}" type="pres">
      <dgm:prSet presAssocID="{F64E530B-2A11-4555-B894-BA0BFF66F16B}" presName="thickLine" presStyleLbl="alignNode1" presStyleIdx="2" presStyleCnt="7"/>
      <dgm:spPr/>
    </dgm:pt>
    <dgm:pt modelId="{6B51731F-A0B7-4437-ADDF-FBECE189150C}" type="pres">
      <dgm:prSet presAssocID="{F64E530B-2A11-4555-B894-BA0BFF66F16B}" presName="horz1" presStyleCnt="0"/>
      <dgm:spPr/>
    </dgm:pt>
    <dgm:pt modelId="{D793F583-53F6-4296-B1D0-7CA8A9F7A89F}" type="pres">
      <dgm:prSet presAssocID="{F64E530B-2A11-4555-B894-BA0BFF66F16B}" presName="tx1" presStyleLbl="revTx" presStyleIdx="2" presStyleCnt="7"/>
      <dgm:spPr/>
    </dgm:pt>
    <dgm:pt modelId="{4CFBA6EC-C76F-490A-BBB4-5E62BBB7A542}" type="pres">
      <dgm:prSet presAssocID="{F64E530B-2A11-4555-B894-BA0BFF66F16B}" presName="vert1" presStyleCnt="0"/>
      <dgm:spPr/>
    </dgm:pt>
    <dgm:pt modelId="{54B29BF3-5BBF-46A6-8EE6-AC69CFCF6DCC}" type="pres">
      <dgm:prSet presAssocID="{376E4ACD-B760-48AC-9C52-317DD39B0FD4}" presName="thickLine" presStyleLbl="alignNode1" presStyleIdx="3" presStyleCnt="7"/>
      <dgm:spPr/>
    </dgm:pt>
    <dgm:pt modelId="{C8CE315A-B2BA-4A72-9094-5B342F684C9D}" type="pres">
      <dgm:prSet presAssocID="{376E4ACD-B760-48AC-9C52-317DD39B0FD4}" presName="horz1" presStyleCnt="0"/>
      <dgm:spPr/>
    </dgm:pt>
    <dgm:pt modelId="{9B4E357A-E3E6-44B7-AB51-8E6C2FC7E92F}" type="pres">
      <dgm:prSet presAssocID="{376E4ACD-B760-48AC-9C52-317DD39B0FD4}" presName="tx1" presStyleLbl="revTx" presStyleIdx="3" presStyleCnt="7"/>
      <dgm:spPr/>
    </dgm:pt>
    <dgm:pt modelId="{45A31CCB-2955-48E3-B53B-C7207ECBCB06}" type="pres">
      <dgm:prSet presAssocID="{376E4ACD-B760-48AC-9C52-317DD39B0FD4}" presName="vert1" presStyleCnt="0"/>
      <dgm:spPr/>
    </dgm:pt>
    <dgm:pt modelId="{9A2B6A2F-A13D-4230-8154-B414B58922C8}" type="pres">
      <dgm:prSet presAssocID="{028C8423-11E8-4D7E-9A13-9A7D4E381F52}" presName="thickLine" presStyleLbl="alignNode1" presStyleIdx="4" presStyleCnt="7"/>
      <dgm:spPr/>
    </dgm:pt>
    <dgm:pt modelId="{41DB9CE1-88D4-4674-938C-432FB096515B}" type="pres">
      <dgm:prSet presAssocID="{028C8423-11E8-4D7E-9A13-9A7D4E381F52}" presName="horz1" presStyleCnt="0"/>
      <dgm:spPr/>
    </dgm:pt>
    <dgm:pt modelId="{48CBA4F8-AA5F-4A50-81A5-B40032129ADC}" type="pres">
      <dgm:prSet presAssocID="{028C8423-11E8-4D7E-9A13-9A7D4E381F52}" presName="tx1" presStyleLbl="revTx" presStyleIdx="4" presStyleCnt="7"/>
      <dgm:spPr/>
    </dgm:pt>
    <dgm:pt modelId="{331FED0F-4D95-48EC-85FC-DE53BBBDE3CB}" type="pres">
      <dgm:prSet presAssocID="{028C8423-11E8-4D7E-9A13-9A7D4E381F52}" presName="vert1" presStyleCnt="0"/>
      <dgm:spPr/>
    </dgm:pt>
    <dgm:pt modelId="{BE4FE6BD-5E8B-4F4C-90B5-C78BD048C696}" type="pres">
      <dgm:prSet presAssocID="{90FEBB8B-3331-47E7-9131-A985E55DCE3D}" presName="thickLine" presStyleLbl="alignNode1" presStyleIdx="5" presStyleCnt="7"/>
      <dgm:spPr/>
    </dgm:pt>
    <dgm:pt modelId="{4F26AD57-F7C9-4F0B-8628-DB17AF225AFA}" type="pres">
      <dgm:prSet presAssocID="{90FEBB8B-3331-47E7-9131-A985E55DCE3D}" presName="horz1" presStyleCnt="0"/>
      <dgm:spPr/>
    </dgm:pt>
    <dgm:pt modelId="{9A07C0C2-FA5F-467C-B8D0-ED9FB5564D9F}" type="pres">
      <dgm:prSet presAssocID="{90FEBB8B-3331-47E7-9131-A985E55DCE3D}" presName="tx1" presStyleLbl="revTx" presStyleIdx="5" presStyleCnt="7"/>
      <dgm:spPr/>
    </dgm:pt>
    <dgm:pt modelId="{C55A19C1-9660-4621-8805-965B40411A8D}" type="pres">
      <dgm:prSet presAssocID="{90FEBB8B-3331-47E7-9131-A985E55DCE3D}" presName="vert1" presStyleCnt="0"/>
      <dgm:spPr/>
    </dgm:pt>
    <dgm:pt modelId="{EC2DE73F-2BB4-4D5D-9C9E-1B125F0C3BC1}" type="pres">
      <dgm:prSet presAssocID="{ECD57CAF-BEDD-467E-8B7A-2DF9E55BAC84}" presName="thickLine" presStyleLbl="alignNode1" presStyleIdx="6" presStyleCnt="7"/>
      <dgm:spPr/>
    </dgm:pt>
    <dgm:pt modelId="{6E0CD380-9438-41D6-8905-0DBD8BD571B4}" type="pres">
      <dgm:prSet presAssocID="{ECD57CAF-BEDD-467E-8B7A-2DF9E55BAC84}" presName="horz1" presStyleCnt="0"/>
      <dgm:spPr/>
    </dgm:pt>
    <dgm:pt modelId="{A98D3AF0-BF62-411B-95CB-7131675D7618}" type="pres">
      <dgm:prSet presAssocID="{ECD57CAF-BEDD-467E-8B7A-2DF9E55BAC84}" presName="tx1" presStyleLbl="revTx" presStyleIdx="6" presStyleCnt="7"/>
      <dgm:spPr/>
    </dgm:pt>
    <dgm:pt modelId="{ED01C03C-F0BA-481F-B801-189404694962}" type="pres">
      <dgm:prSet presAssocID="{ECD57CAF-BEDD-467E-8B7A-2DF9E55BAC84}" presName="vert1" presStyleCnt="0"/>
      <dgm:spPr/>
    </dgm:pt>
  </dgm:ptLst>
  <dgm:cxnLst>
    <dgm:cxn modelId="{A938905E-99D8-4A7A-92B7-984026B7D776}" type="presOf" srcId="{0A1BB733-C786-4C33-B89F-3ED160B425F9}" destId="{416FAA99-C48B-48F4-A881-64C27496A31C}" srcOrd="0" destOrd="0" presId="urn:microsoft.com/office/officeart/2008/layout/LinedList"/>
    <dgm:cxn modelId="{E543B666-E4F8-4A83-8B81-0FF2BB543426}" srcId="{0A1BB733-C786-4C33-B89F-3ED160B425F9}" destId="{90FEBB8B-3331-47E7-9131-A985E55DCE3D}" srcOrd="5" destOrd="0" parTransId="{E1589965-0DE5-4095-BD5D-CE39665021DB}" sibTransId="{E552C937-6137-4600-9145-28DC0530D1DB}"/>
    <dgm:cxn modelId="{EE754767-9D6D-4857-A4F4-A85BA6EAC093}" srcId="{0A1BB733-C786-4C33-B89F-3ED160B425F9}" destId="{376E4ACD-B760-48AC-9C52-317DD39B0FD4}" srcOrd="3" destOrd="0" parTransId="{5DF79D3F-D1B1-486E-A3E8-AF7DA99527F3}" sibTransId="{CFD13953-F5E7-4414-AB30-F6F24F3999D7}"/>
    <dgm:cxn modelId="{A8DDF168-67FD-4C11-B69B-E43C6B6CD685}" srcId="{0A1BB733-C786-4C33-B89F-3ED160B425F9}" destId="{F64E530B-2A11-4555-B894-BA0BFF66F16B}" srcOrd="2" destOrd="0" parTransId="{E6ACF6CB-54EC-4D47-9978-B192B89FE2BD}" sibTransId="{CD6F9FF4-24DE-4F5F-BDA6-FDC5858BF737}"/>
    <dgm:cxn modelId="{B0489D6D-8A70-424D-936B-1CDD04009C87}" srcId="{0A1BB733-C786-4C33-B89F-3ED160B425F9}" destId="{028C8423-11E8-4D7E-9A13-9A7D4E381F52}" srcOrd="4" destOrd="0" parTransId="{35531551-4521-4513-9997-77E4F2D67B44}" sibTransId="{1F7B9C45-ED84-4489-91C9-C1EC1192E015}"/>
    <dgm:cxn modelId="{4E82F66E-19D4-43D6-BD52-4B591D61C21B}" type="presOf" srcId="{6F21B1B8-DB03-408E-BAE9-55E329D77CE6}" destId="{82D3511F-AA4F-494B-A2F9-685394563453}" srcOrd="0" destOrd="0" presId="urn:microsoft.com/office/officeart/2008/layout/LinedList"/>
    <dgm:cxn modelId="{60C44A77-A3EE-4925-9069-017D5C09A07E}" type="presOf" srcId="{90FEBB8B-3331-47E7-9131-A985E55DCE3D}" destId="{9A07C0C2-FA5F-467C-B8D0-ED9FB5564D9F}" srcOrd="0" destOrd="0" presId="urn:microsoft.com/office/officeart/2008/layout/LinedList"/>
    <dgm:cxn modelId="{CCBABD99-D62D-4A7F-B5F3-CA8C0F55E915}" srcId="{0A1BB733-C786-4C33-B89F-3ED160B425F9}" destId="{2B939839-B1F5-434F-96B2-7A6ABADE0D80}" srcOrd="1" destOrd="0" parTransId="{1ABB271D-814E-4DA9-8C7E-D7F1BA2A0092}" sibTransId="{3D8A8E8C-BEC5-444F-8A5F-3259E2800BD2}"/>
    <dgm:cxn modelId="{F58A6DA0-4206-4EBD-936E-36DAFD1C9FE6}" type="presOf" srcId="{028C8423-11E8-4D7E-9A13-9A7D4E381F52}" destId="{48CBA4F8-AA5F-4A50-81A5-B40032129ADC}" srcOrd="0" destOrd="0" presId="urn:microsoft.com/office/officeart/2008/layout/LinedList"/>
    <dgm:cxn modelId="{22860CB3-F1C1-439A-AE7A-3CDEED88AF3A}" type="presOf" srcId="{ECD57CAF-BEDD-467E-8B7A-2DF9E55BAC84}" destId="{A98D3AF0-BF62-411B-95CB-7131675D7618}" srcOrd="0" destOrd="0" presId="urn:microsoft.com/office/officeart/2008/layout/LinedList"/>
    <dgm:cxn modelId="{FC01CDC5-B413-4EDE-9252-CDF32D690596}" type="presOf" srcId="{2B939839-B1F5-434F-96B2-7A6ABADE0D80}" destId="{1D2CBCD3-0188-4D3A-BC32-04B08BDFA3A4}" srcOrd="0" destOrd="0" presId="urn:microsoft.com/office/officeart/2008/layout/LinedList"/>
    <dgm:cxn modelId="{10D272CB-8ECC-4E2C-9FD8-EE7BC2737759}" type="presOf" srcId="{376E4ACD-B760-48AC-9C52-317DD39B0FD4}" destId="{9B4E357A-E3E6-44B7-AB51-8E6C2FC7E92F}" srcOrd="0" destOrd="0" presId="urn:microsoft.com/office/officeart/2008/layout/LinedList"/>
    <dgm:cxn modelId="{23040ECF-77D9-44C3-B233-C0EC1E391D82}" srcId="{0A1BB733-C786-4C33-B89F-3ED160B425F9}" destId="{ECD57CAF-BEDD-467E-8B7A-2DF9E55BAC84}" srcOrd="6" destOrd="0" parTransId="{87A85160-9F7E-44BC-B02B-AFFD84F6E67E}" sibTransId="{F4D6B19D-8DFD-4D91-9DC7-DC3754788418}"/>
    <dgm:cxn modelId="{69D94FDE-E353-4FFF-8D2D-FA48826ADAFC}" srcId="{0A1BB733-C786-4C33-B89F-3ED160B425F9}" destId="{6F21B1B8-DB03-408E-BAE9-55E329D77CE6}" srcOrd="0" destOrd="0" parTransId="{D32BF7CD-6811-4AFD-9DD3-247E17DAB34B}" sibTransId="{44E4C366-2DDC-4942-B90A-4BE00B89B0BD}"/>
    <dgm:cxn modelId="{0123F0E3-667E-499C-AA74-C389B59B487A}" type="presOf" srcId="{F64E530B-2A11-4555-B894-BA0BFF66F16B}" destId="{D793F583-53F6-4296-B1D0-7CA8A9F7A89F}" srcOrd="0" destOrd="0" presId="urn:microsoft.com/office/officeart/2008/layout/LinedList"/>
    <dgm:cxn modelId="{4D010060-04D0-4E5C-9174-08F3E63AF799}" type="presParOf" srcId="{416FAA99-C48B-48F4-A881-64C27496A31C}" destId="{E1342E4C-F73C-4B61-9D01-12C12A79A82B}" srcOrd="0" destOrd="0" presId="urn:microsoft.com/office/officeart/2008/layout/LinedList"/>
    <dgm:cxn modelId="{BF900AC2-35BD-401F-AB5B-4EAFB79C9919}" type="presParOf" srcId="{416FAA99-C48B-48F4-A881-64C27496A31C}" destId="{9A244CD1-29AD-4243-ADB3-E988686E12BD}" srcOrd="1" destOrd="0" presId="urn:microsoft.com/office/officeart/2008/layout/LinedList"/>
    <dgm:cxn modelId="{9C57EDA5-B2C0-4B3B-943F-D1797BBA7163}" type="presParOf" srcId="{9A244CD1-29AD-4243-ADB3-E988686E12BD}" destId="{82D3511F-AA4F-494B-A2F9-685394563453}" srcOrd="0" destOrd="0" presId="urn:microsoft.com/office/officeart/2008/layout/LinedList"/>
    <dgm:cxn modelId="{35C8E3BD-4A06-40C5-978A-6784474CF7EF}" type="presParOf" srcId="{9A244CD1-29AD-4243-ADB3-E988686E12BD}" destId="{8CCEF7F3-153A-4A23-BADA-D7FEBE0EDA9D}" srcOrd="1" destOrd="0" presId="urn:microsoft.com/office/officeart/2008/layout/LinedList"/>
    <dgm:cxn modelId="{7945DE7C-CE26-4BC7-8417-90D0BBB00763}" type="presParOf" srcId="{416FAA99-C48B-48F4-A881-64C27496A31C}" destId="{DE105D3C-0220-4327-9180-D959C951E806}" srcOrd="2" destOrd="0" presId="urn:microsoft.com/office/officeart/2008/layout/LinedList"/>
    <dgm:cxn modelId="{2DE912FA-28D3-4E15-80D6-337A39A25573}" type="presParOf" srcId="{416FAA99-C48B-48F4-A881-64C27496A31C}" destId="{F397AF63-A363-47B4-A4A4-E20FDC7D4F34}" srcOrd="3" destOrd="0" presId="urn:microsoft.com/office/officeart/2008/layout/LinedList"/>
    <dgm:cxn modelId="{A6BC4567-9CDC-4ADA-B8E1-CC6DAC8D4BCE}" type="presParOf" srcId="{F397AF63-A363-47B4-A4A4-E20FDC7D4F34}" destId="{1D2CBCD3-0188-4D3A-BC32-04B08BDFA3A4}" srcOrd="0" destOrd="0" presId="urn:microsoft.com/office/officeart/2008/layout/LinedList"/>
    <dgm:cxn modelId="{827650B0-35A6-46B2-8CCD-3706A6C508CA}" type="presParOf" srcId="{F397AF63-A363-47B4-A4A4-E20FDC7D4F34}" destId="{FC18BE60-F580-4729-99F4-DD4D2ACD42F1}" srcOrd="1" destOrd="0" presId="urn:microsoft.com/office/officeart/2008/layout/LinedList"/>
    <dgm:cxn modelId="{D1AAD512-C1D3-42B7-A860-BAFAB9BFA884}" type="presParOf" srcId="{416FAA99-C48B-48F4-A881-64C27496A31C}" destId="{EB579C78-546A-4C5C-84C0-A884279CE060}" srcOrd="4" destOrd="0" presId="urn:microsoft.com/office/officeart/2008/layout/LinedList"/>
    <dgm:cxn modelId="{A847C285-5B38-43F9-96BD-F98659AF8075}" type="presParOf" srcId="{416FAA99-C48B-48F4-A881-64C27496A31C}" destId="{6B51731F-A0B7-4437-ADDF-FBECE189150C}" srcOrd="5" destOrd="0" presId="urn:microsoft.com/office/officeart/2008/layout/LinedList"/>
    <dgm:cxn modelId="{2213EBA0-F2CE-434D-A476-BE93EF45FA7F}" type="presParOf" srcId="{6B51731F-A0B7-4437-ADDF-FBECE189150C}" destId="{D793F583-53F6-4296-B1D0-7CA8A9F7A89F}" srcOrd="0" destOrd="0" presId="urn:microsoft.com/office/officeart/2008/layout/LinedList"/>
    <dgm:cxn modelId="{694B78B1-5B0A-4127-9AED-5FC655DE8CEF}" type="presParOf" srcId="{6B51731F-A0B7-4437-ADDF-FBECE189150C}" destId="{4CFBA6EC-C76F-490A-BBB4-5E62BBB7A542}" srcOrd="1" destOrd="0" presId="urn:microsoft.com/office/officeart/2008/layout/LinedList"/>
    <dgm:cxn modelId="{CE2D1051-54AD-4C3E-815F-5F818C3EB9F0}" type="presParOf" srcId="{416FAA99-C48B-48F4-A881-64C27496A31C}" destId="{54B29BF3-5BBF-46A6-8EE6-AC69CFCF6DCC}" srcOrd="6" destOrd="0" presId="urn:microsoft.com/office/officeart/2008/layout/LinedList"/>
    <dgm:cxn modelId="{391D52B2-E1B3-4D97-8A98-5C40AC605352}" type="presParOf" srcId="{416FAA99-C48B-48F4-A881-64C27496A31C}" destId="{C8CE315A-B2BA-4A72-9094-5B342F684C9D}" srcOrd="7" destOrd="0" presId="urn:microsoft.com/office/officeart/2008/layout/LinedList"/>
    <dgm:cxn modelId="{583DB8D2-9FC7-41BB-A64F-AE9A408FFC85}" type="presParOf" srcId="{C8CE315A-B2BA-4A72-9094-5B342F684C9D}" destId="{9B4E357A-E3E6-44B7-AB51-8E6C2FC7E92F}" srcOrd="0" destOrd="0" presId="urn:microsoft.com/office/officeart/2008/layout/LinedList"/>
    <dgm:cxn modelId="{30C2E970-759A-4AF3-8D27-903C05D34FAC}" type="presParOf" srcId="{C8CE315A-B2BA-4A72-9094-5B342F684C9D}" destId="{45A31CCB-2955-48E3-B53B-C7207ECBCB06}" srcOrd="1" destOrd="0" presId="urn:microsoft.com/office/officeart/2008/layout/LinedList"/>
    <dgm:cxn modelId="{B83D1F8E-2161-4239-A908-BBDDB1B06281}" type="presParOf" srcId="{416FAA99-C48B-48F4-A881-64C27496A31C}" destId="{9A2B6A2F-A13D-4230-8154-B414B58922C8}" srcOrd="8" destOrd="0" presId="urn:microsoft.com/office/officeart/2008/layout/LinedList"/>
    <dgm:cxn modelId="{D7810FCF-EFD4-4DC3-8DF5-CBABF8099E52}" type="presParOf" srcId="{416FAA99-C48B-48F4-A881-64C27496A31C}" destId="{41DB9CE1-88D4-4674-938C-432FB096515B}" srcOrd="9" destOrd="0" presId="urn:microsoft.com/office/officeart/2008/layout/LinedList"/>
    <dgm:cxn modelId="{7428314E-AC1A-422A-A99B-1E755C5F3B79}" type="presParOf" srcId="{41DB9CE1-88D4-4674-938C-432FB096515B}" destId="{48CBA4F8-AA5F-4A50-81A5-B40032129ADC}" srcOrd="0" destOrd="0" presId="urn:microsoft.com/office/officeart/2008/layout/LinedList"/>
    <dgm:cxn modelId="{2DAA0BCF-7141-4B40-B92C-E7EC82C99F5D}" type="presParOf" srcId="{41DB9CE1-88D4-4674-938C-432FB096515B}" destId="{331FED0F-4D95-48EC-85FC-DE53BBBDE3CB}" srcOrd="1" destOrd="0" presId="urn:microsoft.com/office/officeart/2008/layout/LinedList"/>
    <dgm:cxn modelId="{F1DF12CD-5505-489A-A0C7-56D87C02F173}" type="presParOf" srcId="{416FAA99-C48B-48F4-A881-64C27496A31C}" destId="{BE4FE6BD-5E8B-4F4C-90B5-C78BD048C696}" srcOrd="10" destOrd="0" presId="urn:microsoft.com/office/officeart/2008/layout/LinedList"/>
    <dgm:cxn modelId="{7E2F563F-1CEA-4D40-BAF4-D086BDB66F22}" type="presParOf" srcId="{416FAA99-C48B-48F4-A881-64C27496A31C}" destId="{4F26AD57-F7C9-4F0B-8628-DB17AF225AFA}" srcOrd="11" destOrd="0" presId="urn:microsoft.com/office/officeart/2008/layout/LinedList"/>
    <dgm:cxn modelId="{A7E1C1F9-BFE7-4C10-B2E3-EA2BD0E8F379}" type="presParOf" srcId="{4F26AD57-F7C9-4F0B-8628-DB17AF225AFA}" destId="{9A07C0C2-FA5F-467C-B8D0-ED9FB5564D9F}" srcOrd="0" destOrd="0" presId="urn:microsoft.com/office/officeart/2008/layout/LinedList"/>
    <dgm:cxn modelId="{BE3A8398-1BE9-4306-A8E5-C5444E1842B9}" type="presParOf" srcId="{4F26AD57-F7C9-4F0B-8628-DB17AF225AFA}" destId="{C55A19C1-9660-4621-8805-965B40411A8D}" srcOrd="1" destOrd="0" presId="urn:microsoft.com/office/officeart/2008/layout/LinedList"/>
    <dgm:cxn modelId="{77221E67-8A95-4921-BEF5-DCFD8EC9AE06}" type="presParOf" srcId="{416FAA99-C48B-48F4-A881-64C27496A31C}" destId="{EC2DE73F-2BB4-4D5D-9C9E-1B125F0C3BC1}" srcOrd="12" destOrd="0" presId="urn:microsoft.com/office/officeart/2008/layout/LinedList"/>
    <dgm:cxn modelId="{7FEADBE5-45D0-450F-9A4C-82D845A01AA3}" type="presParOf" srcId="{416FAA99-C48B-48F4-A881-64C27496A31C}" destId="{6E0CD380-9438-41D6-8905-0DBD8BD571B4}" srcOrd="13" destOrd="0" presId="urn:microsoft.com/office/officeart/2008/layout/LinedList"/>
    <dgm:cxn modelId="{E6088A56-8BF7-40E2-81EE-B6B96BE7D7A5}" type="presParOf" srcId="{6E0CD380-9438-41D6-8905-0DBD8BD571B4}" destId="{A98D3AF0-BF62-411B-95CB-7131675D7618}" srcOrd="0" destOrd="0" presId="urn:microsoft.com/office/officeart/2008/layout/LinedList"/>
    <dgm:cxn modelId="{B578BAE7-6C81-4F09-B232-5FE99D2B31BC}" type="presParOf" srcId="{6E0CD380-9438-41D6-8905-0DBD8BD571B4}" destId="{ED01C03C-F0BA-481F-B801-1894046949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5AEDE-36F3-4A83-91E5-26ECEB322091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A925E-1DD5-47A1-8ADD-2BF4C8B375A9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9AB1B-E3A7-4E60-BB19-28095AF3E75B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Political: Government policies, regulatory environment.</a:t>
          </a:r>
        </a:p>
      </dsp:txBody>
      <dsp:txXfrm>
        <a:off x="228784" y="1313725"/>
        <a:ext cx="1641796" cy="656718"/>
      </dsp:txXfrm>
    </dsp:sp>
    <dsp:sp modelId="{EA28EBBD-1AF7-4D03-B1CA-1CC9C352BE08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2EBBC-03FC-40F0-AF70-D98648459A6B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73B0-3CEE-440D-B231-070B5B073478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Economic: Economic growth, energy prices, funding.</a:t>
          </a:r>
        </a:p>
      </dsp:txBody>
      <dsp:txXfrm>
        <a:off x="2157895" y="1313725"/>
        <a:ext cx="1641796" cy="656718"/>
      </dsp:txXfrm>
    </dsp:sp>
    <dsp:sp modelId="{20C74392-B2F1-4B11-BA37-D03106B4A275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C911B-1C2C-420B-9589-FD3E99C5A38F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8747-808C-45DC-A1C3-AC59E931B1FA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Social: Public awareness, community engagement.</a:t>
          </a:r>
        </a:p>
      </dsp:txBody>
      <dsp:txXfrm>
        <a:off x="4087007" y="1313725"/>
        <a:ext cx="1641796" cy="656718"/>
      </dsp:txXfrm>
    </dsp:sp>
    <dsp:sp modelId="{3EE1B0A9-7F18-4F28-84E1-76C3A8E7A49A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0D0FC-2DF3-4132-BD40-508EABF7A0E5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8EAA4-D73F-459A-AFDF-D19DCB6E372B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Technological: Innovation, digitalization, R&amp;D.</a:t>
          </a:r>
        </a:p>
      </dsp:txBody>
      <dsp:txXfrm>
        <a:off x="6016118" y="1313725"/>
        <a:ext cx="1641796" cy="656718"/>
      </dsp:txXfrm>
    </dsp:sp>
    <dsp:sp modelId="{0A024605-2FB2-46F0-8CC6-0B0148EA54E9}">
      <dsp:nvSpPr>
        <dsp:cNvPr id="0" name=""/>
        <dsp:cNvSpPr/>
      </dsp:nvSpPr>
      <dsp:spPr>
        <a:xfrm>
          <a:off x="2478046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A19F6-B830-4B8E-800A-84E5DF8062A8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FC8B9-369A-4418-B3D1-E08AE4EBD3B8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Environmental: Climate change, land use, weather.</a:t>
          </a:r>
        </a:p>
      </dsp:txBody>
      <dsp:txXfrm>
        <a:off x="2157895" y="3694331"/>
        <a:ext cx="1641796" cy="656718"/>
      </dsp:txXfrm>
    </dsp:sp>
    <dsp:sp modelId="{5C883693-F6CD-4AB8-81DD-360D358CE00C}">
      <dsp:nvSpPr>
        <dsp:cNvPr id="0" name=""/>
        <dsp:cNvSpPr/>
      </dsp:nvSpPr>
      <dsp:spPr>
        <a:xfrm>
          <a:off x="4407157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EA28D-CAF4-4090-80C4-8C2F227E96AF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9ACCD-030F-4CE9-A61A-4D1A69C513B7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Legal: Compliance, intellectual property, contracts.</a:t>
          </a:r>
        </a:p>
      </dsp:txBody>
      <dsp:txXfrm>
        <a:off x="4087007" y="3694331"/>
        <a:ext cx="1641796" cy="65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D1464-0771-4C14-A3B3-487883DAE5E9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Strategic Fit</a:t>
          </a:r>
          <a:r>
            <a:rPr lang="en-US" sz="1700" kern="1200"/>
            <a:t>: A score of 6.0 indicates strong alignment with </a:t>
          </a:r>
          <a:r>
            <a:rPr lang="en-US" sz="1700" kern="1200" err="1"/>
            <a:t>MaxSolar’s</a:t>
          </a:r>
          <a:r>
            <a:rPr lang="en-US" sz="1700" kern="1200"/>
            <a:t> corporate strategy.</a:t>
          </a:r>
        </a:p>
      </dsp:txBody>
      <dsp:txXfrm>
        <a:off x="27017" y="27017"/>
        <a:ext cx="5483391" cy="868383"/>
      </dsp:txXfrm>
    </dsp:sp>
    <dsp:sp modelId="{77361B6E-75E3-4244-8AAB-884052DE1E3D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PTQ</a:t>
          </a:r>
          <a:r>
            <a:rPr lang="en-US" sz="1700" kern="1200"/>
            <a:t>: A score of 5.5 suggests effective project termination processes, but there is room for improvement.</a:t>
          </a:r>
        </a:p>
      </dsp:txBody>
      <dsp:txXfrm>
        <a:off x="576140" y="1117146"/>
        <a:ext cx="5353968" cy="868383"/>
      </dsp:txXfrm>
    </dsp:sp>
    <dsp:sp modelId="{C24A16D5-E633-42B5-9E58-454CB79C83D7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SMI</a:t>
          </a:r>
          <a:r>
            <a:rPr lang="en-US" sz="1700" kern="1200"/>
            <a:t>: A score of 5.0 indicates moderate senior management involvement, which is likely beneficial but could be optimized.</a:t>
          </a:r>
        </a:p>
      </dsp:txBody>
      <dsp:txXfrm>
        <a:off x="1117067" y="2207275"/>
        <a:ext cx="5362164" cy="868383"/>
      </dsp:txXfrm>
    </dsp:sp>
    <dsp:sp modelId="{75F17A18-7FC5-40CB-944E-F0F94A111DC4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Overall Score</a:t>
          </a:r>
          <a:r>
            <a:rPr lang="en-US" sz="1700" kern="1200"/>
            <a:t>: A total weighted score of </a:t>
          </a:r>
          <a:r>
            <a:rPr lang="en-US" sz="1700" b="1" kern="1200"/>
            <a:t>5.45</a:t>
          </a:r>
          <a:r>
            <a:rPr lang="en-US" sz="1700" kern="1200"/>
            <a:t> (out of 7) suggests that </a:t>
          </a:r>
          <a:r>
            <a:rPr lang="en-US" sz="1700" kern="1200" err="1"/>
            <a:t>MaxSolar’s</a:t>
          </a:r>
          <a:r>
            <a:rPr lang="en-US" sz="1700" kern="1200"/>
            <a:t> project portfolio is performing well but could improve in areas like PTQ and SMI.</a:t>
          </a:r>
        </a:p>
      </dsp:txBody>
      <dsp:txXfrm>
        <a:off x="1666191" y="3297404"/>
        <a:ext cx="5353968" cy="868383"/>
      </dsp:txXfrm>
    </dsp:sp>
    <dsp:sp modelId="{6C2E77CF-750A-4E9B-8F87-6456CE8C794D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BF9D5BFC-CC1E-4A2D-9D3B-9812C7D5AF1A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C134D79A-F4A4-44C6-9FBB-F16351C1D928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DD9E7-7FE1-4348-8101-59486D2572AD}">
      <dsp:nvSpPr>
        <dsp:cNvPr id="0" name=""/>
        <dsp:cNvSpPr/>
      </dsp:nvSpPr>
      <dsp:spPr>
        <a:xfrm>
          <a:off x="0" y="46641"/>
          <a:ext cx="8229600" cy="67158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Top-Down Approach:</a:t>
          </a:r>
        </a:p>
      </dsp:txBody>
      <dsp:txXfrm>
        <a:off x="32784" y="79425"/>
        <a:ext cx="8164032" cy="606012"/>
      </dsp:txXfrm>
    </dsp:sp>
    <dsp:sp modelId="{CDE83003-030E-4936-B280-FA11F36F68CB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Market Expansion: 30%</a:t>
          </a:r>
        </a:p>
      </dsp:txBody>
      <dsp:txXfrm>
        <a:off x="32784" y="831645"/>
        <a:ext cx="8164032" cy="606012"/>
      </dsp:txXfrm>
    </dsp:sp>
    <dsp:sp modelId="{D31A60BC-AFBB-4ED8-864B-4D970302D161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Operational Efficiency: 25%</a:t>
          </a:r>
        </a:p>
      </dsp:txBody>
      <dsp:txXfrm>
        <a:off x="32784" y="1583865"/>
        <a:ext cx="8164032" cy="606012"/>
      </dsp:txXfrm>
    </dsp:sp>
    <dsp:sp modelId="{F0D75E58-BED4-4110-B679-521F3EC62B9C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Customer Experience: 20%</a:t>
          </a:r>
        </a:p>
      </dsp:txBody>
      <dsp:txXfrm>
        <a:off x="32784" y="2336085"/>
        <a:ext cx="8164032" cy="606012"/>
      </dsp:txXfrm>
    </dsp:sp>
    <dsp:sp modelId="{1E183CFF-00EA-453D-8797-5F4D17F2C4E7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R&amp;D and Innovation: 15%</a:t>
          </a:r>
        </a:p>
      </dsp:txBody>
      <dsp:txXfrm>
        <a:off x="32784" y="3088305"/>
        <a:ext cx="8164032" cy="606012"/>
      </dsp:txXfrm>
    </dsp:sp>
    <dsp:sp modelId="{1F63D1E8-E4CF-4B8C-83D6-AA220047CFC6}">
      <dsp:nvSpPr>
        <dsp:cNvPr id="0" name=""/>
        <dsp:cNvSpPr/>
      </dsp:nvSpPr>
      <dsp:spPr>
        <a:xfrm>
          <a:off x="0" y="38077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Employee Development: 10%</a:t>
          </a:r>
        </a:p>
      </dsp:txBody>
      <dsp:txXfrm>
        <a:off x="32784" y="3840525"/>
        <a:ext cx="8164032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08AC3-33C0-42C6-BB14-83CD5A0D1F56}">
      <dsp:nvSpPr>
        <dsp:cNvPr id="0" name=""/>
        <dsp:cNvSpPr/>
      </dsp:nvSpPr>
      <dsp:spPr>
        <a:xfrm>
          <a:off x="0" y="114185"/>
          <a:ext cx="5175384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Five Components:</a:t>
          </a:r>
        </a:p>
      </dsp:txBody>
      <dsp:txXfrm>
        <a:off x="40724" y="154909"/>
        <a:ext cx="5093936" cy="752780"/>
      </dsp:txXfrm>
    </dsp:sp>
    <dsp:sp modelId="{D4B5E5A4-C646-4850-8063-61CA31732C4F}">
      <dsp:nvSpPr>
        <dsp:cNvPr id="0" name=""/>
        <dsp:cNvSpPr/>
      </dsp:nvSpPr>
      <dsp:spPr>
        <a:xfrm>
          <a:off x="0" y="1008893"/>
          <a:ext cx="5175384" cy="834228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Strategic Direction: Vision, mission, and goals.</a:t>
          </a:r>
        </a:p>
      </dsp:txBody>
      <dsp:txXfrm>
        <a:off x="40724" y="1049617"/>
        <a:ext cx="5093936" cy="752780"/>
      </dsp:txXfrm>
    </dsp:sp>
    <dsp:sp modelId="{F8378ABE-5B7B-4BE0-A387-9AF7C5CAC3BE}">
      <dsp:nvSpPr>
        <dsp:cNvPr id="0" name=""/>
        <dsp:cNvSpPr/>
      </dsp:nvSpPr>
      <dsp:spPr>
        <a:xfrm>
          <a:off x="0" y="1903602"/>
          <a:ext cx="5175384" cy="834228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Performance Monitoring: KPIs and dashboards.</a:t>
          </a:r>
        </a:p>
      </dsp:txBody>
      <dsp:txXfrm>
        <a:off x="40724" y="1944326"/>
        <a:ext cx="5093936" cy="752780"/>
      </dsp:txXfrm>
    </dsp:sp>
    <dsp:sp modelId="{2F0A4CE4-8350-44CF-A0C2-1F36367A1282}">
      <dsp:nvSpPr>
        <dsp:cNvPr id="0" name=""/>
        <dsp:cNvSpPr/>
      </dsp:nvSpPr>
      <dsp:spPr>
        <a:xfrm>
          <a:off x="0" y="2798310"/>
          <a:ext cx="5175384" cy="834228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Decision authority :Resource Allocation and Budget alignment with priorities.</a:t>
          </a:r>
        </a:p>
      </dsp:txBody>
      <dsp:txXfrm>
        <a:off x="40724" y="2839034"/>
        <a:ext cx="5093936" cy="752780"/>
      </dsp:txXfrm>
    </dsp:sp>
    <dsp:sp modelId="{3C0C3D33-8A46-4C21-A0FA-78E24EEAF1FD}">
      <dsp:nvSpPr>
        <dsp:cNvPr id="0" name=""/>
        <dsp:cNvSpPr/>
      </dsp:nvSpPr>
      <dsp:spPr>
        <a:xfrm>
          <a:off x="0" y="3693018"/>
          <a:ext cx="5175384" cy="834228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Risk Management: PESTEL-based risk mitigation.</a:t>
          </a:r>
        </a:p>
      </dsp:txBody>
      <dsp:txXfrm>
        <a:off x="40724" y="3733742"/>
        <a:ext cx="5093936" cy="752780"/>
      </dsp:txXfrm>
    </dsp:sp>
    <dsp:sp modelId="{A38AF610-2374-4A2B-B6CC-9FEEF5AE7BBE}">
      <dsp:nvSpPr>
        <dsp:cNvPr id="0" name=""/>
        <dsp:cNvSpPr/>
      </dsp:nvSpPr>
      <dsp:spPr>
        <a:xfrm>
          <a:off x="0" y="4587727"/>
          <a:ext cx="5175384" cy="8342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Accountability and Culture: Clear ownership and innovation culture.</a:t>
          </a:r>
        </a:p>
      </dsp:txBody>
      <dsp:txXfrm>
        <a:off x="40724" y="4628451"/>
        <a:ext cx="5093936" cy="752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44877-D02A-644B-B9C1-217C956748E2}">
      <dsp:nvSpPr>
        <dsp:cNvPr id="0" name=""/>
        <dsp:cNvSpPr/>
      </dsp:nvSpPr>
      <dsp:spPr>
        <a:xfrm rot="5400000">
          <a:off x="5145406" y="-2151228"/>
          <a:ext cx="691883" cy="516832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PMO needs to ensures the standardized  PPM methodologies, process and tools for tracking Project Progress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Standardize evaluation criteria(Scoring model, checklists ) to filter out non-viable projects</a:t>
          </a:r>
        </a:p>
      </dsp:txBody>
      <dsp:txXfrm rot="-5400000">
        <a:off x="2907185" y="120768"/>
        <a:ext cx="5134552" cy="624333"/>
      </dsp:txXfrm>
    </dsp:sp>
    <dsp:sp modelId="{986D6EDA-3B3E-B24D-BA2F-FA0436E43F9C}">
      <dsp:nvSpPr>
        <dsp:cNvPr id="0" name=""/>
        <dsp:cNvSpPr/>
      </dsp:nvSpPr>
      <dsp:spPr>
        <a:xfrm>
          <a:off x="0" y="507"/>
          <a:ext cx="2907184" cy="864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Portfolio Standard</a:t>
          </a:r>
          <a:endParaRPr lang="en-US" sz="2400" kern="1200"/>
        </a:p>
      </dsp:txBody>
      <dsp:txXfrm>
        <a:off x="42219" y="42726"/>
        <a:ext cx="2822746" cy="780416"/>
      </dsp:txXfrm>
    </dsp:sp>
    <dsp:sp modelId="{F63EFE50-211B-2C4C-86A5-43B8D78D320B}">
      <dsp:nvSpPr>
        <dsp:cNvPr id="0" name=""/>
        <dsp:cNvSpPr/>
      </dsp:nvSpPr>
      <dsp:spPr>
        <a:xfrm rot="5400000">
          <a:off x="5145406" y="-1243131"/>
          <a:ext cx="691883" cy="516832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Coordinate across projects, programs and portfolios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standardizes governance, reporting and decision making across all levels</a:t>
          </a:r>
        </a:p>
      </dsp:txBody>
      <dsp:txXfrm rot="-5400000">
        <a:off x="2907185" y="1028865"/>
        <a:ext cx="5134552" cy="624333"/>
      </dsp:txXfrm>
    </dsp:sp>
    <dsp:sp modelId="{6BB39115-F11E-9C42-9F94-484BFD7851D9}">
      <dsp:nvSpPr>
        <dsp:cNvPr id="0" name=""/>
        <dsp:cNvSpPr/>
      </dsp:nvSpPr>
      <dsp:spPr>
        <a:xfrm>
          <a:off x="0" y="908604"/>
          <a:ext cx="2907184" cy="86485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Portfolio Oversight</a:t>
          </a:r>
          <a:endParaRPr lang="en-US" sz="2400" kern="1200"/>
        </a:p>
      </dsp:txBody>
      <dsp:txXfrm>
        <a:off x="42219" y="950823"/>
        <a:ext cx="2822746" cy="780416"/>
      </dsp:txXfrm>
    </dsp:sp>
    <dsp:sp modelId="{743F5E42-77BC-384B-AA83-2A6208C4DAE9}">
      <dsp:nvSpPr>
        <dsp:cNvPr id="0" name=""/>
        <dsp:cNvSpPr/>
      </dsp:nvSpPr>
      <dsp:spPr>
        <a:xfrm rot="5400000">
          <a:off x="4963704" y="-245494"/>
          <a:ext cx="1033846" cy="515823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Ensures the projects align with Max’s solar renewable energy strategy, sustainability goals, and regulatory requirement.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Initial screening of the project(strategic fit, feasibility check, Risk assessment 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Assessing project feasibility, ensuring compliance with green energy regulations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Prioritizing investments that maximize the company’s impact on the renewable energy market.</a:t>
          </a:r>
        </a:p>
      </dsp:txBody>
      <dsp:txXfrm rot="-5400000">
        <a:off x="2901508" y="1867170"/>
        <a:ext cx="5107770" cy="932910"/>
      </dsp:txXfrm>
    </dsp:sp>
    <dsp:sp modelId="{548AE5D7-FDEF-A04E-BD28-716FF52E0DE2}">
      <dsp:nvSpPr>
        <dsp:cNvPr id="0" name=""/>
        <dsp:cNvSpPr/>
      </dsp:nvSpPr>
      <dsp:spPr>
        <a:xfrm>
          <a:off x="0" y="1901197"/>
          <a:ext cx="2901508" cy="8648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Strategic Alignment</a:t>
          </a:r>
          <a:endParaRPr lang="en-US" sz="2400" kern="1200"/>
        </a:p>
      </dsp:txBody>
      <dsp:txXfrm>
        <a:off x="42219" y="1943416"/>
        <a:ext cx="2817070" cy="780416"/>
      </dsp:txXfrm>
    </dsp:sp>
    <dsp:sp modelId="{E9A5B505-15BF-C04F-BCA1-3D2E0292CB38}">
      <dsp:nvSpPr>
        <dsp:cNvPr id="0" name=""/>
        <dsp:cNvSpPr/>
      </dsp:nvSpPr>
      <dsp:spPr>
        <a:xfrm rot="5400000">
          <a:off x="5145406" y="742054"/>
          <a:ext cx="691883" cy="5168327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/>
            <a:t>Manage resources across the projects as well as operations to prevent the bottlenecks.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/>
            <a:t>maintain the skill matrix and reallocates the teams based on Project priorities</a:t>
          </a:r>
          <a:endParaRPr lang="en-US" sz="1100" kern="1200"/>
        </a:p>
      </dsp:txBody>
      <dsp:txXfrm rot="-5400000">
        <a:off x="2907185" y="3014051"/>
        <a:ext cx="5134552" cy="624333"/>
      </dsp:txXfrm>
    </dsp:sp>
    <dsp:sp modelId="{7EAFEDE7-9F86-4847-AD7F-5F30C590E349}">
      <dsp:nvSpPr>
        <dsp:cNvPr id="0" name=""/>
        <dsp:cNvSpPr/>
      </dsp:nvSpPr>
      <dsp:spPr>
        <a:xfrm>
          <a:off x="0" y="2893791"/>
          <a:ext cx="2907184" cy="864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Resource Management </a:t>
          </a:r>
          <a:endParaRPr lang="en-US" sz="2400" kern="1200"/>
        </a:p>
      </dsp:txBody>
      <dsp:txXfrm>
        <a:off x="42219" y="2936010"/>
        <a:ext cx="2822746" cy="780416"/>
      </dsp:txXfrm>
    </dsp:sp>
    <dsp:sp modelId="{DD3E0796-3CB4-4E89-93B1-E255D9658FF4}">
      <dsp:nvSpPr>
        <dsp:cNvPr id="0" name=""/>
        <dsp:cNvSpPr/>
      </dsp:nvSpPr>
      <dsp:spPr>
        <a:xfrm rot="5400000">
          <a:off x="5145406" y="1650151"/>
          <a:ext cx="691883" cy="5168327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>
              <a:solidFill>
                <a:srgbClr val="000000"/>
              </a:solidFill>
            </a:rPr>
            <a:t>Establish a governance Framework that guides project approvals, investment and risk management</a:t>
          </a:r>
          <a:r>
            <a:rPr lang="en-US" sz="1100" b="0" kern="1200"/>
            <a:t>.</a:t>
          </a:r>
          <a:endParaRPr lang="en-US" sz="1100" b="0" kern="1200">
            <a:latin typeface="Calibri"/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rgbClr val="000000"/>
              </a:solidFill>
            </a:rPr>
            <a:t>Assist Executives with GO/NO-GO Decision</a:t>
          </a:r>
          <a:endParaRPr lang="en-US" sz="1100" kern="1200">
            <a:latin typeface="Calibri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 rot="-5400000">
        <a:off x="2907185" y="3922148"/>
        <a:ext cx="5134552" cy="624333"/>
      </dsp:txXfrm>
    </dsp:sp>
    <dsp:sp modelId="{CDFC5462-5DD3-164E-8996-733F5F4E1619}">
      <dsp:nvSpPr>
        <dsp:cNvPr id="0" name=""/>
        <dsp:cNvSpPr/>
      </dsp:nvSpPr>
      <dsp:spPr>
        <a:xfrm>
          <a:off x="0" y="3801887"/>
          <a:ext cx="2907184" cy="86485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Governance</a:t>
          </a:r>
          <a:endParaRPr lang="en-US" sz="2400" kern="1200"/>
        </a:p>
      </dsp:txBody>
      <dsp:txXfrm>
        <a:off x="42219" y="3844106"/>
        <a:ext cx="2822746" cy="7804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F5339-CC26-2043-96E4-69BD684014AD}">
      <dsp:nvSpPr>
        <dsp:cNvPr id="0" name=""/>
        <dsp:cNvSpPr/>
      </dsp:nvSpPr>
      <dsp:spPr>
        <a:xfrm>
          <a:off x="1577340" y="2008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/>
            <a:t>PMO must acts as communication hub between project teams, stakeholders/Investors and Executives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/>
            <a:t>Report on achievements to stakeholders and investors</a:t>
          </a:r>
          <a:endParaRPr lang="en-US" sz="1100" kern="1200"/>
        </a:p>
      </dsp:txBody>
      <dsp:txXfrm>
        <a:off x="1577340" y="2008"/>
        <a:ext cx="6309360" cy="1040317"/>
      </dsp:txXfrm>
    </dsp:sp>
    <dsp:sp modelId="{43791211-AF67-F04C-9556-648FE32F735D}">
      <dsp:nvSpPr>
        <dsp:cNvPr id="0" name=""/>
        <dsp:cNvSpPr/>
      </dsp:nvSpPr>
      <dsp:spPr>
        <a:xfrm>
          <a:off x="0" y="2008"/>
          <a:ext cx="1577340" cy="10403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Communication Management</a:t>
          </a:r>
          <a:endParaRPr lang="en-US" sz="1400" kern="1200"/>
        </a:p>
      </dsp:txBody>
      <dsp:txXfrm>
        <a:off x="0" y="2008"/>
        <a:ext cx="1577340" cy="1040317"/>
      </dsp:txXfrm>
    </dsp:sp>
    <dsp:sp modelId="{9665671F-0D1B-364A-A91B-2C06ED65631C}">
      <dsp:nvSpPr>
        <dsp:cNvPr id="0" name=""/>
        <dsp:cNvSpPr/>
      </dsp:nvSpPr>
      <dsp:spPr>
        <a:xfrm>
          <a:off x="1577340" y="1104744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Host a centralized Solar portfolio dashboard for tracking project progress, Maintenances and  performance 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Integrates with the Companies IT system and tools(IOT/sensor data ) from solar panel real time monitoring and predictive maintenance</a:t>
          </a:r>
          <a:endParaRPr lang="en-US" sz="1100" kern="1200"/>
        </a:p>
      </dsp:txBody>
      <dsp:txXfrm>
        <a:off x="1577340" y="1104744"/>
        <a:ext cx="6309360" cy="1040317"/>
      </dsp:txXfrm>
    </dsp:sp>
    <dsp:sp modelId="{81E704AD-86FB-6148-BCCD-531C6995C02B}">
      <dsp:nvSpPr>
        <dsp:cNvPr id="0" name=""/>
        <dsp:cNvSpPr/>
      </dsp:nvSpPr>
      <dsp:spPr>
        <a:xfrm>
          <a:off x="0" y="1104744"/>
          <a:ext cx="1577340" cy="1040317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Integrated Data and Performance Tracking</a:t>
          </a:r>
          <a:endParaRPr lang="en-US" sz="1400" kern="1200"/>
        </a:p>
      </dsp:txBody>
      <dsp:txXfrm>
        <a:off x="0" y="1104744"/>
        <a:ext cx="1577340" cy="1040317"/>
      </dsp:txXfrm>
    </dsp:sp>
    <dsp:sp modelId="{96A90BF6-1FFD-9643-8553-5EE9ACC857AD}">
      <dsp:nvSpPr>
        <dsp:cNvPr id="0" name=""/>
        <dsp:cNvSpPr/>
      </dsp:nvSpPr>
      <dsp:spPr>
        <a:xfrm>
          <a:off x="1577340" y="2207481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Validate the completed product delivers the project goals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Compare projected vs actual ROI</a:t>
          </a:r>
          <a:endParaRPr lang="en-US" sz="1100" kern="1200"/>
        </a:p>
      </dsp:txBody>
      <dsp:txXfrm>
        <a:off x="1577340" y="2207481"/>
        <a:ext cx="6309360" cy="1040317"/>
      </dsp:txXfrm>
    </dsp:sp>
    <dsp:sp modelId="{37A5A903-7981-5E49-BC57-708BE03F416B}">
      <dsp:nvSpPr>
        <dsp:cNvPr id="0" name=""/>
        <dsp:cNvSpPr/>
      </dsp:nvSpPr>
      <dsp:spPr>
        <a:xfrm>
          <a:off x="0" y="2207481"/>
          <a:ext cx="1577340" cy="1040317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Benefit realization and Value tracking	</a:t>
          </a:r>
          <a:endParaRPr lang="en-US" sz="1400" kern="1200"/>
        </a:p>
      </dsp:txBody>
      <dsp:txXfrm>
        <a:off x="0" y="2207481"/>
        <a:ext cx="1577340" cy="1040317"/>
      </dsp:txXfrm>
    </dsp:sp>
    <dsp:sp modelId="{9A14A0A9-A0D6-4543-BBA6-9180937634F9}">
      <dsp:nvSpPr>
        <dsp:cNvPr id="0" name=""/>
        <dsp:cNvSpPr/>
      </dsp:nvSpPr>
      <dsp:spPr>
        <a:xfrm>
          <a:off x="1577340" y="3310218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Capture lessons learned from the past experience  (Challenges, bottlenecks, or efficiency improvements) and use those insights for future to drive continuous improvement</a:t>
          </a:r>
          <a:endParaRPr lang="en-US" sz="1100" kern="1200"/>
        </a:p>
      </dsp:txBody>
      <dsp:txXfrm>
        <a:off x="1577340" y="3310218"/>
        <a:ext cx="6309360" cy="1040317"/>
      </dsp:txXfrm>
    </dsp:sp>
    <dsp:sp modelId="{1CB1B931-F4E2-CB4E-85E3-CC1A65C1CA29}">
      <dsp:nvSpPr>
        <dsp:cNvPr id="0" name=""/>
        <dsp:cNvSpPr/>
      </dsp:nvSpPr>
      <dsp:spPr>
        <a:xfrm>
          <a:off x="0" y="3310218"/>
          <a:ext cx="1577340" cy="104031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Continuous Improvement and Innovation</a:t>
          </a:r>
          <a:endParaRPr lang="en-US" sz="1400" kern="1200"/>
        </a:p>
      </dsp:txBody>
      <dsp:txXfrm>
        <a:off x="0" y="3310218"/>
        <a:ext cx="1577340" cy="10403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7FBFC-A55C-46A5-9A14-66D7181CD8DE}">
      <dsp:nvSpPr>
        <dsp:cNvPr id="0" name=""/>
        <dsp:cNvSpPr/>
      </dsp:nvSpPr>
      <dsp:spPr>
        <a:xfrm>
          <a:off x="0" y="146754"/>
          <a:ext cx="7886700" cy="3357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</a:rPr>
            <a:t>Resource Risks</a:t>
          </a:r>
          <a:r>
            <a:rPr lang="en-US" sz="1400" kern="1200">
              <a:latin typeface="Calibri"/>
            </a:rPr>
            <a:t>: dependency on the external resources and infrastructure.</a:t>
          </a:r>
          <a:endParaRPr lang="en-US" sz="1400" kern="1200"/>
        </a:p>
      </dsp:txBody>
      <dsp:txXfrm>
        <a:off x="16392" y="163146"/>
        <a:ext cx="7853916" cy="303006"/>
      </dsp:txXfrm>
    </dsp:sp>
    <dsp:sp modelId="{DB1F3E7F-DD8E-44C9-BF7F-8820885CADC3}">
      <dsp:nvSpPr>
        <dsp:cNvPr id="0" name=""/>
        <dsp:cNvSpPr/>
      </dsp:nvSpPr>
      <dsp:spPr>
        <a:xfrm>
          <a:off x="0" y="522864"/>
          <a:ext cx="7886700" cy="335790"/>
        </a:xfrm>
        <a:prstGeom prst="round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</a:rPr>
            <a:t>Enviromental Risks</a:t>
          </a:r>
          <a:r>
            <a:rPr lang="en-US" sz="1400" kern="1200"/>
            <a:t>: </a:t>
          </a:r>
          <a:r>
            <a:rPr lang="en-US" sz="1400" kern="1200">
              <a:latin typeface="Calibri"/>
            </a:rPr>
            <a:t>threat to wildlife to get harmed or damaged.</a:t>
          </a:r>
          <a:endParaRPr lang="en-US" sz="1400" kern="1200"/>
        </a:p>
      </dsp:txBody>
      <dsp:txXfrm>
        <a:off x="16392" y="539256"/>
        <a:ext cx="7853916" cy="303006"/>
      </dsp:txXfrm>
    </dsp:sp>
    <dsp:sp modelId="{4D6F5FD7-6710-403C-992F-09DE353142EA}">
      <dsp:nvSpPr>
        <dsp:cNvPr id="0" name=""/>
        <dsp:cNvSpPr/>
      </dsp:nvSpPr>
      <dsp:spPr>
        <a:xfrm>
          <a:off x="0" y="898974"/>
          <a:ext cx="7886700" cy="33579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Operational Risks</a:t>
          </a:r>
          <a:r>
            <a:rPr lang="en-US" sz="1400" kern="1200"/>
            <a:t>: Delays in project timelines.</a:t>
          </a:r>
        </a:p>
      </dsp:txBody>
      <dsp:txXfrm>
        <a:off x="16392" y="915366"/>
        <a:ext cx="7853916" cy="303006"/>
      </dsp:txXfrm>
    </dsp:sp>
    <dsp:sp modelId="{E80DD115-B6D2-4D0B-8971-1AD4F81F7093}">
      <dsp:nvSpPr>
        <dsp:cNvPr id="0" name=""/>
        <dsp:cNvSpPr/>
      </dsp:nvSpPr>
      <dsp:spPr>
        <a:xfrm>
          <a:off x="0" y="1275084"/>
          <a:ext cx="7886700" cy="335790"/>
        </a:xfrm>
        <a:prstGeom prst="round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Technological Risks</a:t>
          </a:r>
          <a:r>
            <a:rPr lang="en-US" sz="1400" kern="1200"/>
            <a:t>: Obsolescence of energy storage solutions.</a:t>
          </a:r>
        </a:p>
      </dsp:txBody>
      <dsp:txXfrm>
        <a:off x="16392" y="1291476"/>
        <a:ext cx="7853916" cy="303006"/>
      </dsp:txXfrm>
    </dsp:sp>
    <dsp:sp modelId="{3866DF4F-A500-4C21-BDCF-6C76908FCB5A}">
      <dsp:nvSpPr>
        <dsp:cNvPr id="0" name=""/>
        <dsp:cNvSpPr/>
      </dsp:nvSpPr>
      <dsp:spPr>
        <a:xfrm>
          <a:off x="0" y="1651194"/>
          <a:ext cx="7886700" cy="33579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Public </a:t>
          </a:r>
          <a:r>
            <a:rPr lang="en-US" sz="1400" b="1" kern="1200">
              <a:latin typeface="Calibri"/>
            </a:rPr>
            <a:t>Relations</a:t>
          </a:r>
          <a:r>
            <a:rPr lang="en-US" sz="1400" b="1" kern="1200"/>
            <a:t> </a:t>
          </a:r>
          <a:r>
            <a:rPr lang="en-US" sz="1400" b="1" kern="1200">
              <a:latin typeface="Calibri"/>
            </a:rPr>
            <a:t>Risks</a:t>
          </a:r>
          <a:r>
            <a:rPr lang="en-US" sz="1400" kern="1200"/>
            <a:t>: Community resistance to large-scale solar farms.</a:t>
          </a:r>
        </a:p>
      </dsp:txBody>
      <dsp:txXfrm>
        <a:off x="16392" y="1667586"/>
        <a:ext cx="7853916" cy="303006"/>
      </dsp:txXfrm>
    </dsp:sp>
    <dsp:sp modelId="{0C1DA29A-BA4B-4CE5-9AC2-373083C7EA67}">
      <dsp:nvSpPr>
        <dsp:cNvPr id="0" name=""/>
        <dsp:cNvSpPr/>
      </dsp:nvSpPr>
      <dsp:spPr>
        <a:xfrm>
          <a:off x="0" y="2027304"/>
          <a:ext cx="7886700" cy="335790"/>
        </a:xfrm>
        <a:prstGeom prst="round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Regulatory</a:t>
          </a:r>
          <a:r>
            <a:rPr lang="en-US" sz="1400" b="1" kern="1200">
              <a:latin typeface="Calibri"/>
            </a:rPr>
            <a:t> Risks:</a:t>
          </a:r>
          <a:r>
            <a:rPr lang="en-US" sz="1400" b="0" kern="1200">
              <a:latin typeface="Calibri"/>
            </a:rPr>
            <a:t> Blockchain and AI use can be the future threat.</a:t>
          </a:r>
        </a:p>
      </dsp:txBody>
      <dsp:txXfrm>
        <a:off x="16392" y="2043696"/>
        <a:ext cx="7853916" cy="303006"/>
      </dsp:txXfrm>
    </dsp:sp>
    <dsp:sp modelId="{EF4F24B9-D02E-4BC9-AA76-8327CFE6C3F6}">
      <dsp:nvSpPr>
        <dsp:cNvPr id="0" name=""/>
        <dsp:cNvSpPr/>
      </dsp:nvSpPr>
      <dsp:spPr>
        <a:xfrm>
          <a:off x="0" y="2403414"/>
          <a:ext cx="7886700" cy="33579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Organizational </a:t>
          </a:r>
          <a:r>
            <a:rPr lang="en-US" sz="1400" b="1" kern="1200">
              <a:latin typeface="Calibri"/>
            </a:rPr>
            <a:t>Risk:</a:t>
          </a:r>
          <a:r>
            <a:rPr lang="en-US" sz="1400" b="0" kern="1200">
              <a:latin typeface="Calibri"/>
            </a:rPr>
            <a:t> </a:t>
          </a:r>
          <a:r>
            <a:rPr lang="en-US" sz="1400" b="0" kern="1200"/>
            <a:t>longer payback time</a:t>
          </a:r>
          <a:r>
            <a:rPr lang="en-US" sz="1400" b="0" kern="1200">
              <a:latin typeface="Calibri"/>
            </a:rPr>
            <a:t>.</a:t>
          </a:r>
          <a:endParaRPr lang="en-US" sz="1400" b="0" kern="1200"/>
        </a:p>
      </dsp:txBody>
      <dsp:txXfrm>
        <a:off x="16392" y="2419806"/>
        <a:ext cx="7853916" cy="303006"/>
      </dsp:txXfrm>
    </dsp:sp>
    <dsp:sp modelId="{F4B7FEE0-0BF0-4611-A081-CA53A46D1E4E}">
      <dsp:nvSpPr>
        <dsp:cNvPr id="0" name=""/>
        <dsp:cNvSpPr/>
      </dsp:nvSpPr>
      <dsp:spPr>
        <a:xfrm>
          <a:off x="0" y="2779524"/>
          <a:ext cx="7886700" cy="335790"/>
        </a:xfrm>
        <a:prstGeom prst="round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Tolerance Limits</a:t>
          </a:r>
          <a:r>
            <a:rPr lang="en-US" sz="1400" kern="1200"/>
            <a:t>:</a:t>
          </a:r>
        </a:p>
      </dsp:txBody>
      <dsp:txXfrm>
        <a:off x="16392" y="2795916"/>
        <a:ext cx="7853916" cy="303006"/>
      </dsp:txXfrm>
    </dsp:sp>
    <dsp:sp modelId="{F03621F8-AE60-400E-8CAE-01C026182851}">
      <dsp:nvSpPr>
        <dsp:cNvPr id="0" name=""/>
        <dsp:cNvSpPr/>
      </dsp:nvSpPr>
      <dsp:spPr>
        <a:xfrm>
          <a:off x="0" y="3115313"/>
          <a:ext cx="7886700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Budget overruns: ≤10% of project cost.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Schedule delays: ≤15% of timeline.</a:t>
          </a:r>
        </a:p>
      </dsp:txBody>
      <dsp:txXfrm>
        <a:off x="0" y="3115313"/>
        <a:ext cx="7886700" cy="376740"/>
      </dsp:txXfrm>
    </dsp:sp>
    <dsp:sp modelId="{C9301FF4-2D59-43F7-A7F1-8FDD7C438578}">
      <dsp:nvSpPr>
        <dsp:cNvPr id="0" name=""/>
        <dsp:cNvSpPr/>
      </dsp:nvSpPr>
      <dsp:spPr>
        <a:xfrm>
          <a:off x="0" y="3492054"/>
          <a:ext cx="7886700" cy="3357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Discount Rates</a:t>
          </a:r>
          <a:r>
            <a:rPr lang="en-US" sz="1400" kern="1200"/>
            <a:t>:</a:t>
          </a:r>
        </a:p>
      </dsp:txBody>
      <dsp:txXfrm>
        <a:off x="16392" y="3508446"/>
        <a:ext cx="7853916" cy="303006"/>
      </dsp:txXfrm>
    </dsp:sp>
    <dsp:sp modelId="{25E43319-6946-4C7F-8966-B3B3B2C7D1DD}">
      <dsp:nvSpPr>
        <dsp:cNvPr id="0" name=""/>
        <dsp:cNvSpPr/>
      </dsp:nvSpPr>
      <dsp:spPr>
        <a:xfrm>
          <a:off x="0" y="3827844"/>
          <a:ext cx="7886700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2024</a:t>
          </a:r>
          <a:r>
            <a:rPr lang="en-US" sz="1100" kern="1200"/>
            <a:t>: 8% (reflecting inflation risks).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2025</a:t>
          </a:r>
          <a:r>
            <a:rPr lang="en-US" sz="1100" kern="1200"/>
            <a:t>: 7% (assuming stabilized supply chains).</a:t>
          </a:r>
        </a:p>
      </dsp:txBody>
      <dsp:txXfrm>
        <a:off x="0" y="3827844"/>
        <a:ext cx="7886700" cy="376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BB070-ADB3-4595-8E2A-FE78A8C16FDD}">
      <dsp:nvSpPr>
        <dsp:cNvPr id="0" name=""/>
        <dsp:cNvSpPr/>
      </dsp:nvSpPr>
      <dsp:spPr>
        <a:xfrm>
          <a:off x="0" y="418774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Track CPI/SPI and strategic debt for all projects.</a:t>
          </a:r>
        </a:p>
      </dsp:txBody>
      <dsp:txXfrm>
        <a:off x="0" y="418774"/>
        <a:ext cx="5000124" cy="1247400"/>
      </dsp:txXfrm>
    </dsp:sp>
    <dsp:sp modelId="{51947EF5-6A19-4595-AD94-77D7156FF90C}">
      <dsp:nvSpPr>
        <dsp:cNvPr id="0" name=""/>
        <dsp:cNvSpPr/>
      </dsp:nvSpPr>
      <dsp:spPr>
        <a:xfrm>
          <a:off x="250006" y="94054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Monthly Reviews</a:t>
          </a:r>
          <a:r>
            <a:rPr lang="en-US" sz="2200" kern="1200"/>
            <a:t>:</a:t>
          </a:r>
        </a:p>
      </dsp:txBody>
      <dsp:txXfrm>
        <a:off x="281709" y="125757"/>
        <a:ext cx="3436680" cy="586034"/>
      </dsp:txXfrm>
    </dsp:sp>
    <dsp:sp modelId="{E837CA87-3CEF-4398-A299-07D1926171CE}">
      <dsp:nvSpPr>
        <dsp:cNvPr id="0" name=""/>
        <dsp:cNvSpPr/>
      </dsp:nvSpPr>
      <dsp:spPr>
        <a:xfrm>
          <a:off x="0" y="2109694"/>
          <a:ext cx="5000124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High-risk projects (e.g., Delta) require executive sign-off for next phase.</a:t>
          </a:r>
        </a:p>
      </dsp:txBody>
      <dsp:txXfrm>
        <a:off x="0" y="2109694"/>
        <a:ext cx="5000124" cy="1559250"/>
      </dsp:txXfrm>
    </dsp:sp>
    <dsp:sp modelId="{5E4C07B0-66CB-4008-9D25-F54DB873DE33}">
      <dsp:nvSpPr>
        <dsp:cNvPr id="0" name=""/>
        <dsp:cNvSpPr/>
      </dsp:nvSpPr>
      <dsp:spPr>
        <a:xfrm>
          <a:off x="250006" y="1784974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Stage-Gate Approvals</a:t>
          </a:r>
          <a:r>
            <a:rPr lang="en-US" sz="2200" kern="1200"/>
            <a:t>:</a:t>
          </a:r>
        </a:p>
      </dsp:txBody>
      <dsp:txXfrm>
        <a:off x="281709" y="1816677"/>
        <a:ext cx="3436680" cy="586034"/>
      </dsp:txXfrm>
    </dsp:sp>
    <dsp:sp modelId="{9CDFFF77-0D08-452F-8760-868999838FED}">
      <dsp:nvSpPr>
        <dsp:cNvPr id="0" name=""/>
        <dsp:cNvSpPr/>
      </dsp:nvSpPr>
      <dsp:spPr>
        <a:xfrm>
          <a:off x="0" y="4112465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Allocate 10% of portfolio budget to cover ESG/compliance risks.</a:t>
          </a:r>
        </a:p>
      </dsp:txBody>
      <dsp:txXfrm>
        <a:off x="0" y="4112465"/>
        <a:ext cx="5000124" cy="1247400"/>
      </dsp:txXfrm>
    </dsp:sp>
    <dsp:sp modelId="{4BA78E05-3C8C-4C6D-BF6F-703ADB227E9B}">
      <dsp:nvSpPr>
        <dsp:cNvPr id="0" name=""/>
        <dsp:cNvSpPr/>
      </dsp:nvSpPr>
      <dsp:spPr>
        <a:xfrm>
          <a:off x="250006" y="3787745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Contingency Reserves</a:t>
          </a:r>
          <a:r>
            <a:rPr lang="en-US" sz="2200" kern="1200"/>
            <a:t>:</a:t>
          </a:r>
        </a:p>
      </dsp:txBody>
      <dsp:txXfrm>
        <a:off x="281709" y="3819448"/>
        <a:ext cx="3436680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42E4C-F73C-4B61-9D01-12C12A79A82B}">
      <dsp:nvSpPr>
        <dsp:cNvPr id="0" name=""/>
        <dsp:cNvSpPr/>
      </dsp:nvSpPr>
      <dsp:spPr>
        <a:xfrm>
          <a:off x="0" y="511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3511F-AA4F-494B-A2F9-685394563453}">
      <dsp:nvSpPr>
        <dsp:cNvPr id="0" name=""/>
        <dsp:cNvSpPr/>
      </dsp:nvSpPr>
      <dsp:spPr>
        <a:xfrm>
          <a:off x="0" y="511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Planned Value (PV):</a:t>
          </a:r>
          <a:r>
            <a:rPr lang="en-US" sz="1500" kern="1200"/>
            <a:t> Originally planned cost of the work that should have been done today.</a:t>
          </a:r>
        </a:p>
      </dsp:txBody>
      <dsp:txXfrm>
        <a:off x="0" y="511"/>
        <a:ext cx="8195871" cy="598825"/>
      </dsp:txXfrm>
    </dsp:sp>
    <dsp:sp modelId="{DE105D3C-0220-4327-9180-D959C951E806}">
      <dsp:nvSpPr>
        <dsp:cNvPr id="0" name=""/>
        <dsp:cNvSpPr/>
      </dsp:nvSpPr>
      <dsp:spPr>
        <a:xfrm>
          <a:off x="0" y="599337"/>
          <a:ext cx="81958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CBCD3-0188-4D3A-BC32-04B08BDFA3A4}">
      <dsp:nvSpPr>
        <dsp:cNvPr id="0" name=""/>
        <dsp:cNvSpPr/>
      </dsp:nvSpPr>
      <dsp:spPr>
        <a:xfrm>
          <a:off x="0" y="599337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Earned Value (EV):</a:t>
          </a:r>
          <a:r>
            <a:rPr lang="en-US" sz="1500" kern="1200"/>
            <a:t> Amount of originally budgeted work that is completed as per today</a:t>
          </a:r>
        </a:p>
      </dsp:txBody>
      <dsp:txXfrm>
        <a:off x="0" y="599337"/>
        <a:ext cx="8195871" cy="598825"/>
      </dsp:txXfrm>
    </dsp:sp>
    <dsp:sp modelId="{EB579C78-546A-4C5C-84C0-A884279CE060}">
      <dsp:nvSpPr>
        <dsp:cNvPr id="0" name=""/>
        <dsp:cNvSpPr/>
      </dsp:nvSpPr>
      <dsp:spPr>
        <a:xfrm>
          <a:off x="0" y="1198163"/>
          <a:ext cx="819587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3F583-53F6-4296-B1D0-7CA8A9F7A89F}">
      <dsp:nvSpPr>
        <dsp:cNvPr id="0" name=""/>
        <dsp:cNvSpPr/>
      </dsp:nvSpPr>
      <dsp:spPr>
        <a:xfrm>
          <a:off x="0" y="1198163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Actual Cost (AC):</a:t>
          </a:r>
          <a:r>
            <a:rPr lang="en-US" sz="1500" kern="1200"/>
            <a:t> Actual cost incurred.</a:t>
          </a:r>
        </a:p>
      </dsp:txBody>
      <dsp:txXfrm>
        <a:off x="0" y="1198163"/>
        <a:ext cx="8195871" cy="598825"/>
      </dsp:txXfrm>
    </dsp:sp>
    <dsp:sp modelId="{54B29BF3-5BBF-46A6-8EE6-AC69CFCF6DCC}">
      <dsp:nvSpPr>
        <dsp:cNvPr id="0" name=""/>
        <dsp:cNvSpPr/>
      </dsp:nvSpPr>
      <dsp:spPr>
        <a:xfrm>
          <a:off x="0" y="1796989"/>
          <a:ext cx="819587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E357A-E3E6-44B7-AB51-8E6C2FC7E92F}">
      <dsp:nvSpPr>
        <dsp:cNvPr id="0" name=""/>
        <dsp:cNvSpPr/>
      </dsp:nvSpPr>
      <dsp:spPr>
        <a:xfrm>
          <a:off x="0" y="1796989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Cost Variance (CV):</a:t>
          </a:r>
          <a:r>
            <a:rPr lang="en-US" sz="1500" kern="1200"/>
            <a:t> EV – AC (</a:t>
          </a:r>
          <a:r>
            <a:rPr lang="en-US" sz="1500" i="1" kern="1200"/>
            <a:t>Negative = Over Budget</a:t>
          </a:r>
          <a:r>
            <a:rPr lang="en-US" sz="1500" kern="1200"/>
            <a:t>).</a:t>
          </a:r>
        </a:p>
      </dsp:txBody>
      <dsp:txXfrm>
        <a:off x="0" y="1796989"/>
        <a:ext cx="8195871" cy="598825"/>
      </dsp:txXfrm>
    </dsp:sp>
    <dsp:sp modelId="{9A2B6A2F-A13D-4230-8154-B414B58922C8}">
      <dsp:nvSpPr>
        <dsp:cNvPr id="0" name=""/>
        <dsp:cNvSpPr/>
      </dsp:nvSpPr>
      <dsp:spPr>
        <a:xfrm>
          <a:off x="0" y="2395815"/>
          <a:ext cx="819587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BA4F8-AA5F-4A50-81A5-B40032129ADC}">
      <dsp:nvSpPr>
        <dsp:cNvPr id="0" name=""/>
        <dsp:cNvSpPr/>
      </dsp:nvSpPr>
      <dsp:spPr>
        <a:xfrm>
          <a:off x="0" y="2395815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Schedule Variance (SV):</a:t>
          </a:r>
          <a:r>
            <a:rPr lang="en-US" sz="1500" kern="1200"/>
            <a:t> EV – PV (</a:t>
          </a:r>
          <a:r>
            <a:rPr lang="en-US" sz="1500" i="1" kern="1200"/>
            <a:t>Negative = Behind Schedule</a:t>
          </a:r>
          <a:r>
            <a:rPr lang="en-US" sz="1500" kern="1200"/>
            <a:t>).</a:t>
          </a:r>
        </a:p>
      </dsp:txBody>
      <dsp:txXfrm>
        <a:off x="0" y="2395815"/>
        <a:ext cx="8195871" cy="598825"/>
      </dsp:txXfrm>
    </dsp:sp>
    <dsp:sp modelId="{BE4FE6BD-5E8B-4F4C-90B5-C78BD048C696}">
      <dsp:nvSpPr>
        <dsp:cNvPr id="0" name=""/>
        <dsp:cNvSpPr/>
      </dsp:nvSpPr>
      <dsp:spPr>
        <a:xfrm>
          <a:off x="0" y="2994641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7C0C2-FA5F-467C-B8D0-ED9FB5564D9F}">
      <dsp:nvSpPr>
        <dsp:cNvPr id="0" name=""/>
        <dsp:cNvSpPr/>
      </dsp:nvSpPr>
      <dsp:spPr>
        <a:xfrm>
          <a:off x="0" y="2994641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% Complete:</a:t>
          </a:r>
          <a:r>
            <a:rPr lang="en-US" sz="1500" kern="1200"/>
            <a:t> (EV / BAC) × 100.</a:t>
          </a:r>
        </a:p>
      </dsp:txBody>
      <dsp:txXfrm>
        <a:off x="0" y="2994641"/>
        <a:ext cx="8195871" cy="598825"/>
      </dsp:txXfrm>
    </dsp:sp>
    <dsp:sp modelId="{EC2DE73F-2BB4-4D5D-9C9E-1B125F0C3BC1}">
      <dsp:nvSpPr>
        <dsp:cNvPr id="0" name=""/>
        <dsp:cNvSpPr/>
      </dsp:nvSpPr>
      <dsp:spPr>
        <a:xfrm>
          <a:off x="0" y="3593467"/>
          <a:ext cx="81958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D3AF0-BF62-411B-95CB-7131675D7618}">
      <dsp:nvSpPr>
        <dsp:cNvPr id="0" name=""/>
        <dsp:cNvSpPr/>
      </dsp:nvSpPr>
      <dsp:spPr>
        <a:xfrm>
          <a:off x="0" y="3593467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solidFill>
                <a:srgbClr val="000000"/>
              </a:solidFill>
              <a:latin typeface="Calibri"/>
            </a:rPr>
            <a:t>Action: Terminate projects with CPI &lt; 1 or SPI &lt; 0.9.</a:t>
          </a:r>
          <a:endParaRPr lang="en-US" sz="1500" kern="1200">
            <a:latin typeface="Calibri"/>
          </a:endParaRPr>
        </a:p>
      </dsp:txBody>
      <dsp:txXfrm>
        <a:off x="0" y="3593467"/>
        <a:ext cx="8195871" cy="59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solar.com/en/company/profil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Strategic Analysis of MaxSolar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Balanced Scorecard, PESTEL Analysis, and Strategic Recommendations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MAX SOLAR 2 :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Mikael Latva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Juhani Eskola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/>
              <a:t>Nasim Mahmoudi 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/>
              <a:t>Chippy Chandra Pillai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Redouane </a:t>
            </a:r>
            <a:r>
              <a:rPr lang="en-US" sz="1800" err="1">
                <a:ea typeface="Calibri"/>
                <a:cs typeface="Calibri"/>
              </a:rPr>
              <a:t>Afilali</a:t>
            </a: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Md Aman Hossain</a:t>
            </a: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Vaasa 2025</a:t>
            </a:r>
            <a:endParaRPr lang="en-US" sz="1800">
              <a:ea typeface="Calibri"/>
              <a:cs typeface="Calibri"/>
            </a:endParaRPr>
          </a:p>
        </p:txBody>
      </p:sp>
      <p:pic>
        <p:nvPicPr>
          <p:cNvPr id="5" name="Picture 4" descr="Pipette adding DNA sample to a petri dish">
            <a:extLst>
              <a:ext uri="{FF2B5EF4-FFF2-40B4-BE49-F238E27FC236}">
                <a16:creationId xmlns:a16="http://schemas.microsoft.com/office/drawing/2014/main" id="{1A921145-8935-9CD9-F701-DEF1B00D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08" r="4269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  <a:ln>
            <a:solidFill>
              <a:srgbClr val="FFFF00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900"/>
              <a:t>1. Introduction to </a:t>
            </a:r>
            <a:r>
              <a:rPr lang="en-US" sz="1900" err="1"/>
              <a:t>MaxSolar</a:t>
            </a:r>
            <a:endParaRPr lang="en-US" sz="1900"/>
          </a:p>
          <a:p>
            <a:r>
              <a:rPr lang="en-US" sz="1900"/>
              <a:t>2. Strategic Framework (Balanced Scorecard)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3. PESTEL Analysis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4. Scoring Model and Resource Allocation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5. Governance Model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>
                <a:ea typeface="Calibri"/>
                <a:cs typeface="Calibri"/>
              </a:rPr>
              <a:t>6. Role of PMO in Portfolio Governance</a:t>
            </a:r>
          </a:p>
          <a:p>
            <a:r>
              <a:rPr lang="en-US" sz="1900">
                <a:ea typeface="Calibri"/>
                <a:cs typeface="Calibri"/>
              </a:rPr>
              <a:t>7. Screening of New projects</a:t>
            </a:r>
            <a:endParaRPr lang="en-US" sz="1900"/>
          </a:p>
          <a:p>
            <a:r>
              <a:rPr lang="en-US" sz="1900">
                <a:ea typeface="Calibri"/>
                <a:cs typeface="Calibri"/>
              </a:rPr>
              <a:t>8. Risk Categories, Tolerance Limits &amp; Mitigation Strategies</a:t>
            </a:r>
          </a:p>
          <a:p>
            <a:r>
              <a:rPr lang="en-US" sz="1900">
                <a:ea typeface="Calibri"/>
                <a:cs typeface="Calibri"/>
              </a:rPr>
              <a:t>9. Forced Ranking Matrix</a:t>
            </a:r>
            <a:endParaRPr lang="en-US" sz="1900"/>
          </a:p>
          <a:p>
            <a:r>
              <a:rPr lang="en-US" sz="1900">
                <a:ea typeface="Calibri"/>
                <a:cs typeface="Calibri"/>
              </a:rPr>
              <a:t>10. EVM Evaluation</a:t>
            </a:r>
          </a:p>
          <a:p>
            <a:r>
              <a:rPr lang="en-US" sz="1900">
                <a:ea typeface="Calibri"/>
                <a:cs typeface="Calibri"/>
              </a:rPr>
              <a:t>11. Portfolio EVM</a:t>
            </a:r>
            <a:endParaRPr lang="en-US" sz="1900"/>
          </a:p>
          <a:p>
            <a:r>
              <a:rPr lang="en-US" sz="1900"/>
              <a:t>12. Strategic Recommendations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13. Conclusion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>
                <a:ea typeface="Calibri"/>
                <a:cs typeface="Calibri"/>
              </a:rPr>
              <a:t>14. Contribution of members</a:t>
            </a:r>
            <a:br>
              <a:rPr lang="en-US" sz="1900">
                <a:ea typeface="Calibri"/>
                <a:cs typeface="Calibri"/>
              </a:rPr>
            </a:br>
            <a:endParaRPr lang="en-US" sz="1900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28D9D-6199-6336-AD4A-5F34574E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5F6EA9-B45E-EA13-6B14-1A2A68500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0FBCA-2B2E-DE95-E96E-9C746A8A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MaxSolar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17C5FA2C-0477-93AC-6450-F4A7412CA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12" r="28545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EF7691B8-3D53-0ED4-A74F-D38B3D543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C8A6-1796-426F-E024-C30D1C2AB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</a:t>
            </a:r>
            <a:r>
              <a:rPr lang="en-GB" sz="1800" kern="100"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a company operating in the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photovoltaic and energy infrastructure sector.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 a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leading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provider of integrated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renewable energy solutions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, encompassing the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development, planning, installation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, and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operation of systems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that amalgamate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photovoltaics, wind energy, storage solutions, electric mobility, and heat supply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’s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strategic focus is on delivering cross</a:t>
            </a:r>
            <a:r>
              <a:rPr lang="en-GB" sz="1800" kern="100">
                <a:effectLst/>
                <a:latin typeface="Cambria Math" panose="02040503050406030204" pitchFamily="18" charset="0"/>
                <a:ea typeface="NSimSun" panose="02010609030101010101" pitchFamily="49" charset="-122"/>
                <a:cs typeface="Cambria Math" panose="02040503050406030204" pitchFamily="18" charset="0"/>
              </a:rPr>
              <a:t>‐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sector energy concepts and </a:t>
            </a:r>
            <a:r>
              <a:rPr lang="en-GB" sz="1800" kern="100"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the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Project Portfolio Management (PPM) is aligned with 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 err="1">
                <a:effectLst/>
                <a:latin typeface="Aptos" panose="020B0004020202020204" pitchFamily="34" charset="0"/>
                <a:ea typeface="NSimSun" panose="02010609030101010101" pitchFamily="49" charset="-122"/>
                <a:cs typeface="Aptos" panose="020B0004020202020204" pitchFamily="34" charset="0"/>
              </a:rPr>
              <a:t>’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business objectives and is aligned with the evolving dynamics of the European renewable energy market.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(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: Grüner Strom für alle, </a:t>
            </a:r>
            <a:r>
              <a:rPr lang="fi-FI" sz="1800" u="sng" kern="100">
                <a:solidFill>
                  <a:srgbClr val="2E74B5"/>
                </a:solidFill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  <a:hlinkClick r:id="rId3"/>
              </a:rPr>
              <a:t>https://www.maxsolar.com/en/company/profile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) 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 A Germany-based solar energy company.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specialises in project development, EPC, and O&amp;M.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MaxSolar’s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Mission: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Drive the transition to renewable energy.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MaxSolar’s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Key Strengths: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15+ years of experience.</a:t>
            </a:r>
          </a:p>
          <a:p>
            <a:pPr>
              <a:lnSpc>
                <a:spcPct val="150000"/>
              </a:lnSpc>
              <a:buNone/>
            </a:pP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Diverse project portfolio (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utility-scale, community solar, innovative solutions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0874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033272"/>
          </a:xfrm>
        </p:spPr>
        <p:txBody>
          <a:bodyPr anchor="b">
            <a:noAutofit/>
          </a:bodyPr>
          <a:lstStyle/>
          <a:p>
            <a:r>
              <a:rPr lang="en-US" sz="3200" err="1"/>
              <a:t>MaxSolar’s</a:t>
            </a:r>
            <a:r>
              <a:rPr lang="en-US" sz="3200"/>
              <a:t> positioning in Renewable energy market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554D19AE-C32E-EB8E-13FB-096BD3BB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12" r="28545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 of the European Renewable Energy Market</a:t>
            </a:r>
            <a:endParaRPr lang="en-GB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European Union 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has demonstrated a robust commitment to renewable energy, with solar power emerging as the fastest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growing energy source. It is reported that, between 2010 and 2020, the cost of solar power declined by 82%, thereby enhancing its competitive stance across the region (AP News, 2024; Wikipedia, 2024). Furthermore, in 2024 the EU achieved a significant milestone by generating more electricity from solar power than from coal, with solar contributing 11% of the electricity mix (Guardian, 2024; Reuters, 2024). Nonetheless, the recent deceleration in the growth rate of solar installations is attributed to challenges such as ageing power grids and diminished incentives for rooftop solar installations following a decline in energy prices (Energy, 2024).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Competitive Landscape</a:t>
            </a:r>
            <a:endParaRPr lang="en-GB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European solar market is highly competitive, comprising both well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established companies and rapidly expanding enterprises. For instance, Menlo Electric, a Polish solar panel wholesaler, recorded an annual growth rate of 830.8% between 2020 and 2023, which underlines the intensity of competition within the sector (Grand View Research, 2024; Reuters, 2024; Financial Times, 2024). Additionally, the market faces challenges such as overcapacity and price reductions, prompting firms to diversify their procurement strategies and explore emerging markets (Financial Times, 2024).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MaxSolar’s</a:t>
            </a: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Strategic Positioning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MaxSolar’s</a:t>
            </a: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comprehensive approach to renewable energy uniquely positions it within the market. By integrating various renewable technologies and focusing on innovative, cross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sector solutions, MaxSolar distinguishes itself from competitors who may specialise exclusively in photovoltaic installations. This strategy is in keeping with the EU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’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 Solar Energy Strategy, which aims to increase solar capacity to nearly 600 GW by 2030, thereby highlighting the need for diverse and integrated energy solutions (Foreign Policy, 2024; Wikipedia, 2024).</a:t>
            </a:r>
          </a:p>
          <a:p>
            <a:pPr marL="0" indent="0">
              <a:buNone/>
            </a:pP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Strategic Framework (Balanced Scorecard)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F514EA8E-D345-F399-7FD6-A01A4719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79" r="36988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/>
              <a:t>Definition of Balanced Scorecard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Balanced scorecard (BSC) is a framework for PPM. It provides a clear foundation to categorize and evaluate the projects and other initiatives.</a:t>
            </a:r>
          </a:p>
          <a:p>
            <a:pPr>
              <a:lnSpc>
                <a:spcPct val="90000"/>
              </a:lnSpc>
            </a:pPr>
            <a:r>
              <a:rPr lang="en-US" sz="1600"/>
              <a:t>It aligns PPM to organization vision and strategic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2B30-E987-696B-1C73-9E6DFE8F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855"/>
            <a:ext cx="8229600" cy="403267"/>
          </a:xfrm>
        </p:spPr>
        <p:txBody>
          <a:bodyPr>
            <a:noAutofit/>
          </a:bodyPr>
          <a:lstStyle/>
          <a:p>
            <a:r>
              <a:rPr lang="en-US" sz="2800"/>
              <a:t>Strategic Framework (Balanced Scorecard)</a:t>
            </a:r>
            <a:endParaRPr lang="en-FI" sz="2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A40D43-5266-4E66-4DCE-AC2CA218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392" y="2314444"/>
            <a:ext cx="6948641" cy="330710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/>
              <a:t>MaxSolar strategic themes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25A230-E822-F1E3-6D2A-04D48EBCD020}"/>
              </a:ext>
            </a:extLst>
          </p:cNvPr>
          <p:cNvGrpSpPr/>
          <p:nvPr/>
        </p:nvGrpSpPr>
        <p:grpSpPr>
          <a:xfrm>
            <a:off x="1322222" y="2728214"/>
            <a:ext cx="1677394" cy="660877"/>
            <a:chOff x="0" y="0"/>
            <a:chExt cx="6637526" cy="92241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05A4B43-70B0-345A-E83D-32E4B38B560F}"/>
                </a:ext>
              </a:extLst>
            </p:cNvPr>
            <p:cNvSpPr/>
            <p:nvPr/>
          </p:nvSpPr>
          <p:spPr>
            <a:xfrm>
              <a:off x="0" y="0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AA145FB9-A78A-8B6E-6473-69F65BD36E38}"/>
                </a:ext>
              </a:extLst>
            </p:cNvPr>
            <p:cNvSpPr txBox="1"/>
            <p:nvPr/>
          </p:nvSpPr>
          <p:spPr>
            <a:xfrm>
              <a:off x="54036" y="27017"/>
              <a:ext cx="6583490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/>
                <a:t>Market leader in renewable energy provider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164FEC-1F5F-4EDF-581D-4D3D0C971D57}"/>
              </a:ext>
            </a:extLst>
          </p:cNvPr>
          <p:cNvGrpSpPr/>
          <p:nvPr/>
        </p:nvGrpSpPr>
        <p:grpSpPr>
          <a:xfrm>
            <a:off x="4796542" y="2750350"/>
            <a:ext cx="1656967" cy="660877"/>
            <a:chOff x="549123" y="1090129"/>
            <a:chExt cx="6556696" cy="92241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8FD8A81-3610-88D9-8864-E6BE13775861}"/>
                </a:ext>
              </a:extLst>
            </p:cNvPr>
            <p:cNvSpPr/>
            <p:nvPr/>
          </p:nvSpPr>
          <p:spPr>
            <a:xfrm>
              <a:off x="549123" y="1090129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010BDEF-FF51-0B13-DACF-A85F5AF3314C}"/>
                </a:ext>
              </a:extLst>
            </p:cNvPr>
            <p:cNvSpPr txBox="1"/>
            <p:nvPr/>
          </p:nvSpPr>
          <p:spPr>
            <a:xfrm>
              <a:off x="576141" y="1117146"/>
              <a:ext cx="6502660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endParaRPr lang="en-US" sz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455F61-1999-93AC-18FB-6342D879065C}"/>
              </a:ext>
            </a:extLst>
          </p:cNvPr>
          <p:cNvGrpSpPr/>
          <p:nvPr/>
        </p:nvGrpSpPr>
        <p:grpSpPr>
          <a:xfrm>
            <a:off x="3066210" y="2728008"/>
            <a:ext cx="1643311" cy="660877"/>
            <a:chOff x="1090050" y="2180258"/>
            <a:chExt cx="6556696" cy="92241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A2DD8FC-CAA6-B323-2CAF-2848BA4104C7}"/>
                </a:ext>
              </a:extLst>
            </p:cNvPr>
            <p:cNvSpPr/>
            <p:nvPr/>
          </p:nvSpPr>
          <p:spPr>
            <a:xfrm>
              <a:off x="1090050" y="2180258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7689D966-D4B9-116E-C069-AFAEB78865B7}"/>
                </a:ext>
              </a:extLst>
            </p:cNvPr>
            <p:cNvSpPr txBox="1"/>
            <p:nvPr/>
          </p:nvSpPr>
          <p:spPr>
            <a:xfrm>
              <a:off x="1144309" y="2196218"/>
              <a:ext cx="6502437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200"/>
                <a:t>Position as preferred and loyal partner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07C416-77A4-A239-4B15-0693BFAF6FE5}"/>
              </a:ext>
            </a:extLst>
          </p:cNvPr>
          <p:cNvGrpSpPr/>
          <p:nvPr/>
        </p:nvGrpSpPr>
        <p:grpSpPr>
          <a:xfrm>
            <a:off x="4867308" y="2741206"/>
            <a:ext cx="3330189" cy="660877"/>
            <a:chOff x="-4981844" y="3270387"/>
            <a:chExt cx="13177714" cy="92241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4BE6365-0059-25D6-B338-68E833751C6B}"/>
                </a:ext>
              </a:extLst>
            </p:cNvPr>
            <p:cNvSpPr/>
            <p:nvPr/>
          </p:nvSpPr>
          <p:spPr>
            <a:xfrm>
              <a:off x="1639174" y="3270387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200"/>
                <a:t>Attract talents and be recognized on the professionalism</a:t>
              </a:r>
              <a:endParaRPr lang="en-FI" sz="12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38B8CE3C-1272-06BF-EA83-D6612C4926C6}"/>
                </a:ext>
              </a:extLst>
            </p:cNvPr>
            <p:cNvSpPr txBox="1"/>
            <p:nvPr/>
          </p:nvSpPr>
          <p:spPr>
            <a:xfrm>
              <a:off x="-4981844" y="3281693"/>
              <a:ext cx="6448847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/>
                <a:t>Deliver as per your commitments</a:t>
              </a:r>
              <a:endParaRPr lang="en-US" sz="1200" kern="1200"/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FC4392E-E120-AA78-2A59-3A4A9FB7FAE6}"/>
              </a:ext>
            </a:extLst>
          </p:cNvPr>
          <p:cNvSpPr txBox="1">
            <a:spLocks/>
          </p:cNvSpPr>
          <p:nvPr/>
        </p:nvSpPr>
        <p:spPr>
          <a:xfrm>
            <a:off x="1322222" y="3528034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business from four perspectives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76DBDA-0267-19EA-9B18-37BE88DAA0B5}"/>
              </a:ext>
            </a:extLst>
          </p:cNvPr>
          <p:cNvSpPr/>
          <p:nvPr/>
        </p:nvSpPr>
        <p:spPr>
          <a:xfrm>
            <a:off x="1322223" y="3929423"/>
            <a:ext cx="6948642" cy="612648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Financial</a:t>
            </a:r>
            <a:r>
              <a:rPr lang="en-US" sz="1100"/>
              <a:t>: “To succeed financially, how should we appear to our shareholders”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Revenue growth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Profit margins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4101102-B63A-804E-6C92-5D1E7349DC6D}"/>
              </a:ext>
            </a:extLst>
          </p:cNvPr>
          <p:cNvSpPr/>
          <p:nvPr/>
        </p:nvSpPr>
        <p:spPr>
          <a:xfrm>
            <a:off x="1322223" y="4663860"/>
            <a:ext cx="6948642" cy="612648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Customer</a:t>
            </a:r>
            <a:r>
              <a:rPr lang="en-US" sz="1100"/>
              <a:t>: “To achieve our vision, how should we appear to our customers”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Customer satisfaction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Market share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D5A33F7-D384-AFD1-F2E1-1EB1046B21EC}"/>
              </a:ext>
            </a:extLst>
          </p:cNvPr>
          <p:cNvSpPr/>
          <p:nvPr/>
        </p:nvSpPr>
        <p:spPr>
          <a:xfrm>
            <a:off x="1322223" y="5398297"/>
            <a:ext cx="6948642" cy="612648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Internal Processes</a:t>
            </a:r>
            <a:r>
              <a:rPr lang="en-US" sz="1100"/>
              <a:t>: “To satisfy our shareholders and customers, what business processes must we excel at”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Efficiency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Project timelines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C79BE6-BF43-1115-6100-94894899E1A2}"/>
              </a:ext>
            </a:extLst>
          </p:cNvPr>
          <p:cNvSpPr/>
          <p:nvPr/>
        </p:nvSpPr>
        <p:spPr>
          <a:xfrm>
            <a:off x="1322223" y="6127281"/>
            <a:ext cx="6948642" cy="612648"/>
          </a:xfrm>
          <a:prstGeom prst="roundRect">
            <a:avLst/>
          </a:prstGeom>
          <a:solidFill>
            <a:schemeClr val="accent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/>
              <a:t>Learning &amp; Growth: </a:t>
            </a:r>
            <a:r>
              <a:rPr lang="en-US" sz="1200"/>
              <a:t>“ To achieve our vision, how will we sustain our ability to change and improve?”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200"/>
              <a:t>Employee development and talent attraction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200"/>
              <a:t>R&amp;D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58DBA48-535C-3985-D40D-C588DD758E6D}"/>
              </a:ext>
            </a:extLst>
          </p:cNvPr>
          <p:cNvSpPr txBox="1">
            <a:spLocks/>
          </p:cNvSpPr>
          <p:nvPr/>
        </p:nvSpPr>
        <p:spPr>
          <a:xfrm>
            <a:off x="1322220" y="624473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vision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50695E-D466-DA89-DC1A-3484FAEDA8BE}"/>
              </a:ext>
            </a:extLst>
          </p:cNvPr>
          <p:cNvSpPr/>
          <p:nvPr/>
        </p:nvSpPr>
        <p:spPr>
          <a:xfrm>
            <a:off x="1322220" y="1025353"/>
            <a:ext cx="6941813" cy="333764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Become recognized leader in transition to renewable energy</a:t>
            </a:r>
            <a:endParaRPr lang="en-FI" sz="160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0BD75FF-9FD7-148A-66D1-7ADB99466202}"/>
              </a:ext>
            </a:extLst>
          </p:cNvPr>
          <p:cNvSpPr txBox="1">
            <a:spLocks/>
          </p:cNvSpPr>
          <p:nvPr/>
        </p:nvSpPr>
        <p:spPr>
          <a:xfrm>
            <a:off x="1315392" y="1462442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mission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8D3102-7292-7236-6DF7-B3ECD5081694}"/>
              </a:ext>
            </a:extLst>
          </p:cNvPr>
          <p:cNvSpPr/>
          <p:nvPr/>
        </p:nvSpPr>
        <p:spPr>
          <a:xfrm>
            <a:off x="1315392" y="1863322"/>
            <a:ext cx="6941813" cy="333764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Drive the transition to renewable energy</a:t>
            </a:r>
            <a:endParaRPr lang="en-FI" sz="1600"/>
          </a:p>
        </p:txBody>
      </p:sp>
    </p:spTree>
    <p:extLst>
      <p:ext uri="{BB962C8B-B14F-4D97-AF65-F5344CB8AC3E}">
        <p14:creationId xmlns:p14="http://schemas.microsoft.com/office/powerpoint/2010/main" val="30702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56B2-C451-2649-A0FD-26B3C953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8F10-EBA3-6415-571E-3CF1321F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92874"/>
          </a:xfrm>
        </p:spPr>
        <p:txBody>
          <a:bodyPr>
            <a:noAutofit/>
          </a:bodyPr>
          <a:lstStyle/>
          <a:p>
            <a:r>
              <a:rPr lang="en-US" sz="3600"/>
              <a:t>MaxSolar: Balanced Scorecard</a:t>
            </a:r>
            <a:endParaRPr lang="en-FI" sz="3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096C4A-8F32-8A5F-2E4B-81BE7331A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40256"/>
              </p:ext>
            </p:extLst>
          </p:nvPr>
        </p:nvGraphicFramePr>
        <p:xfrm>
          <a:off x="1" y="969263"/>
          <a:ext cx="9143999" cy="58887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866">
                  <a:extLst>
                    <a:ext uri="{9D8B030D-6E8A-4147-A177-3AD203B41FA5}">
                      <a16:colId xmlns:a16="http://schemas.microsoft.com/office/drawing/2014/main" val="2174679345"/>
                    </a:ext>
                  </a:extLst>
                </a:gridCol>
                <a:gridCol w="1903410">
                  <a:extLst>
                    <a:ext uri="{9D8B030D-6E8A-4147-A177-3AD203B41FA5}">
                      <a16:colId xmlns:a16="http://schemas.microsoft.com/office/drawing/2014/main" val="3048993581"/>
                    </a:ext>
                  </a:extLst>
                </a:gridCol>
                <a:gridCol w="2071440">
                  <a:extLst>
                    <a:ext uri="{9D8B030D-6E8A-4147-A177-3AD203B41FA5}">
                      <a16:colId xmlns:a16="http://schemas.microsoft.com/office/drawing/2014/main" val="1021992255"/>
                    </a:ext>
                  </a:extLst>
                </a:gridCol>
                <a:gridCol w="2201985">
                  <a:extLst>
                    <a:ext uri="{9D8B030D-6E8A-4147-A177-3AD203B41FA5}">
                      <a16:colId xmlns:a16="http://schemas.microsoft.com/office/drawing/2014/main" val="809516519"/>
                    </a:ext>
                  </a:extLst>
                </a:gridCol>
                <a:gridCol w="2267298">
                  <a:extLst>
                    <a:ext uri="{9D8B030D-6E8A-4147-A177-3AD203B41FA5}">
                      <a16:colId xmlns:a16="http://schemas.microsoft.com/office/drawing/2014/main" val="4039198284"/>
                    </a:ext>
                  </a:extLst>
                </a:gridCol>
              </a:tblGrid>
              <a:tr h="336631">
                <a:tc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Objectives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Measures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Targets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Initiatives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608778"/>
                  </a:ext>
                </a:extLst>
              </a:tr>
              <a:tr h="73446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Financial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Revenue from the renewable energy projects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Achieve 20% growth in revenue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Partnership program to align sales efforts, tools, resources and R&amp;D data across the ecosystem.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619202"/>
                  </a:ext>
                </a:extLst>
              </a:tr>
              <a:tr h="569402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Revenue margin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Maintain 15%  profit margin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697"/>
                  </a:ext>
                </a:extLst>
              </a:tr>
              <a:tr h="56940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Customer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NPS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Achieve 80+ scoring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400"/>
                        <a:t>“MaxSolar family” loyalty program launch in the major markets.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1400"/>
                    </a:p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80410"/>
                  </a:ext>
                </a:extLst>
              </a:tr>
              <a:tr h="734467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Increase in customer awareness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Reach 23% market share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920258"/>
                  </a:ext>
                </a:extLst>
              </a:tr>
              <a:tr h="1138801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Internal processes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Project timelines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Increase efficiency by 15%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Lean Six Sigma roll-out to entire delivery organization.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239322"/>
                  </a:ext>
                </a:extLst>
              </a:tr>
              <a:tr h="116290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L&amp;G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Employee skills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Upskill employees on renewable technologies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2 hours learning activities on weekly basis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Launch recruitment program in higher education institutions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“Go to the NEW”(program (investment program to new renewable  energy factory)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68552"/>
                  </a:ext>
                </a:extLst>
              </a:tr>
              <a:tr h="642660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R&amp;D investments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15% increase in yearly investment plan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96766"/>
                  </a:ext>
                </a:extLst>
              </a:tr>
            </a:tbl>
          </a:graphicData>
        </a:graphic>
      </p:graphicFrame>
      <p:sp>
        <p:nvSpPr>
          <p:cNvPr id="3" name="Rectangle: Rounded Corners 4">
            <a:extLst>
              <a:ext uri="{FF2B5EF4-FFF2-40B4-BE49-F238E27FC236}">
                <a16:creationId xmlns:a16="http://schemas.microsoft.com/office/drawing/2014/main" id="{9672A5CB-2588-3F5C-7A41-82B3E7021339}"/>
              </a:ext>
            </a:extLst>
          </p:cNvPr>
          <p:cNvSpPr txBox="1"/>
          <p:nvPr/>
        </p:nvSpPr>
        <p:spPr>
          <a:xfrm>
            <a:off x="831412" y="1520244"/>
            <a:ext cx="1663738" cy="718125"/>
          </a:xfrm>
          <a:prstGeom prst="rect">
            <a:avLst/>
          </a:prstGeom>
          <a:solidFill>
            <a:schemeClr val="accent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/>
              <a:t>Market leader in renewable energy provider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354B5F0F-B9B5-C768-59C0-D29E13578BF9}"/>
              </a:ext>
            </a:extLst>
          </p:cNvPr>
          <p:cNvSpPr txBox="1"/>
          <p:nvPr/>
        </p:nvSpPr>
        <p:spPr>
          <a:xfrm>
            <a:off x="831412" y="2849445"/>
            <a:ext cx="1629712" cy="718125"/>
          </a:xfrm>
          <a:prstGeom prst="rect">
            <a:avLst/>
          </a:prstGeom>
          <a:solidFill>
            <a:schemeClr val="accent4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/>
              <a:t>Position as preferred and loyal partner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9765EC-E907-B86E-4211-9F506CD64576}"/>
              </a:ext>
            </a:extLst>
          </p:cNvPr>
          <p:cNvSpPr txBox="1"/>
          <p:nvPr/>
        </p:nvSpPr>
        <p:spPr>
          <a:xfrm>
            <a:off x="831412" y="4067713"/>
            <a:ext cx="1629712" cy="718125"/>
          </a:xfrm>
          <a:prstGeom prst="rect">
            <a:avLst/>
          </a:prstGeom>
          <a:solidFill>
            <a:schemeClr val="accent3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/>
              <a:t>Deliver as per your commitments</a:t>
            </a:r>
            <a:endParaRPr lang="en-US" sz="1400" kern="1200"/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36A15428-3FCB-A0F7-9431-42FAC0AD4ECD}"/>
              </a:ext>
            </a:extLst>
          </p:cNvPr>
          <p:cNvSpPr txBox="1"/>
          <p:nvPr/>
        </p:nvSpPr>
        <p:spPr>
          <a:xfrm>
            <a:off x="831412" y="5568283"/>
            <a:ext cx="1629712" cy="718125"/>
          </a:xfrm>
          <a:prstGeom prst="rect">
            <a:avLst/>
          </a:prstGeom>
          <a:solidFill>
            <a:schemeClr val="accent5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algn="ctr"/>
            <a:r>
              <a:rPr lang="en-US" sz="1400"/>
              <a:t>Attract talents and be recognized on the professionalism</a:t>
            </a:r>
            <a:endParaRPr lang="en-FI" sz="1400"/>
          </a:p>
        </p:txBody>
      </p:sp>
    </p:spTree>
    <p:extLst>
      <p:ext uri="{BB962C8B-B14F-4D97-AF65-F5344CB8AC3E}">
        <p14:creationId xmlns:p14="http://schemas.microsoft.com/office/powerpoint/2010/main" val="264540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PESTEL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6D808B6-32C5-D9AD-15F2-9E68FE45F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93939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PESTEL Opportunities and Threats</a:t>
            </a:r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CB72C7AC-C91F-087B-154D-B3CCF691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83" r="31328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Opportunities:</a:t>
            </a:r>
          </a:p>
          <a:p>
            <a:pPr>
              <a:buFontTx/>
              <a:buChar char="-"/>
            </a:pPr>
            <a:r>
              <a:rPr lang="en-US" sz="1900"/>
              <a:t>Supportive policies, economic growth, technological advances.</a:t>
            </a:r>
          </a:p>
          <a:p>
            <a:pPr marL="0" indent="0">
              <a:buNone/>
            </a:pPr>
            <a:endParaRPr lang="en-US" sz="1900"/>
          </a:p>
          <a:p>
            <a:r>
              <a:rPr lang="en-US" sz="1900"/>
              <a:t>Threats:</a:t>
            </a:r>
          </a:p>
          <a:p>
            <a:pPr marL="0" indent="0">
              <a:buNone/>
            </a:pPr>
            <a:r>
              <a:rPr lang="en-US" sz="1900"/>
              <a:t>- Regulatory hurdles, inflation, community resistance.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6B7F0-B0A5-521F-E8F0-0EC35271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326FE-5B59-A095-337D-27376AC3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9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Scoring Model - Integrated Renewable Energy Solutions and Project Portfolio Management at MaxSolar</a:t>
            </a:r>
            <a:endParaRPr lang="en-GB" sz="1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9A2C1-B5A9-2EBD-65FE-28134ECBA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/>
          </a:p>
          <a:p>
            <a:endParaRPr lang="en-US" sz="190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2CC75255-5147-9EBD-4736-82B92CFF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77" r="29906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6A01089-FD41-1EA5-88BB-1DFC7D615532}"/>
              </a:ext>
            </a:extLst>
          </p:cNvPr>
          <p:cNvSpPr txBox="1">
            <a:spLocks/>
          </p:cNvSpPr>
          <p:nvPr/>
        </p:nvSpPr>
        <p:spPr>
          <a:xfrm>
            <a:off x="457200" y="3289300"/>
            <a:ext cx="3060700" cy="2836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 on a synthesis of exemplary project portfolio scoring systems used by real-world organisations in energy, software, and government sectors</a:t>
            </a:r>
            <a:r>
              <a:rPr lang="en-GB" sz="1800" kern="10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​​​ </a:t>
            </a:r>
            <a:r>
              <a:rPr lang="en-GB" sz="18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formulated Project Portfolio Scoring Model for MaxSolar enterprise in the renewable energy sector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31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A6030-CAEC-8608-A756-4C099C91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56275-1A62-D01E-34C4-22994F0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MaxSolar </a:t>
            </a:r>
            <a:r>
              <a:rPr lang="en-US"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Portfolio Table </a:t>
            </a:r>
            <a:r>
              <a:rPr lang="en-US" sz="2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Proposed Project Portfolio Scoring Model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5683B-979C-1675-1AEB-1AFE65286284}"/>
              </a:ext>
            </a:extLst>
          </p:cNvPr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</a:rPr>
              <a:t>To </a:t>
            </a:r>
            <a:r>
              <a:rPr lang="en-US" sz="1600" b="1">
                <a:effectLst/>
              </a:rPr>
              <a:t>evaluate</a:t>
            </a:r>
            <a:r>
              <a:rPr lang="en-US" sz="1600">
                <a:effectLst/>
              </a:rPr>
              <a:t> and </a:t>
            </a:r>
            <a:r>
              <a:rPr lang="en-US" sz="1600" b="1">
                <a:effectLst/>
              </a:rPr>
              <a:t>prioritise</a:t>
            </a:r>
            <a:r>
              <a:rPr lang="en-US" sz="1600">
                <a:effectLst/>
              </a:rPr>
              <a:t> projects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Table </a:t>
            </a:r>
            <a:r>
              <a:rPr lang="en-US" sz="1600">
                <a:effectLst/>
              </a:rPr>
              <a:t>presents</a:t>
            </a:r>
            <a:r>
              <a:rPr lang="en-US" sz="1600" b="1">
                <a:effectLst/>
              </a:rPr>
              <a:t> MaxSolars Project Portfolios </a:t>
            </a:r>
            <a:r>
              <a:rPr lang="en-US" sz="1600">
                <a:effectLst/>
              </a:rPr>
              <a:t>for </a:t>
            </a:r>
            <a:r>
              <a:rPr lang="en-US" sz="1600" b="1">
                <a:effectLst/>
              </a:rPr>
              <a:t>for </a:t>
            </a:r>
            <a:r>
              <a:rPr lang="en-US" sz="1600">
                <a:effectLst/>
              </a:rPr>
              <a:t>proposed  scoring model tailored along both MaxSolar’s </a:t>
            </a:r>
            <a:r>
              <a:rPr lang="en-US" sz="1600" b="1">
                <a:effectLst/>
              </a:rPr>
              <a:t>strategic imperatives </a:t>
            </a:r>
            <a:r>
              <a:rPr lang="en-US" sz="1600">
                <a:effectLst/>
              </a:rPr>
              <a:t>and the </a:t>
            </a:r>
            <a:r>
              <a:rPr lang="en-US" sz="1600" b="1">
                <a:effectLst/>
              </a:rPr>
              <a:t>current market environment </a:t>
            </a:r>
            <a:r>
              <a:rPr lang="en-US" sz="1600">
                <a:effectLst/>
              </a:rPr>
              <a:t>in the field of the energy related business</a:t>
            </a:r>
            <a:endParaRPr lang="en-US" sz="160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EF3A4F4-C1AA-B1C4-828A-EF86B7E51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997736"/>
              </p:ext>
            </p:extLst>
          </p:nvPr>
        </p:nvGraphicFramePr>
        <p:xfrm>
          <a:off x="473202" y="2676489"/>
          <a:ext cx="8188455" cy="3188249"/>
        </p:xfrm>
        <a:graphic>
          <a:graphicData uri="http://schemas.openxmlformats.org/drawingml/2006/table">
            <a:tbl>
              <a:tblPr firstRow="1" firstCol="1" bandRow="1"/>
              <a:tblGrid>
                <a:gridCol w="1416189">
                  <a:extLst>
                    <a:ext uri="{9D8B030D-6E8A-4147-A177-3AD203B41FA5}">
                      <a16:colId xmlns:a16="http://schemas.microsoft.com/office/drawing/2014/main" val="403979561"/>
                    </a:ext>
                  </a:extLst>
                </a:gridCol>
                <a:gridCol w="954128">
                  <a:extLst>
                    <a:ext uri="{9D8B030D-6E8A-4147-A177-3AD203B41FA5}">
                      <a16:colId xmlns:a16="http://schemas.microsoft.com/office/drawing/2014/main" val="3895168580"/>
                    </a:ext>
                  </a:extLst>
                </a:gridCol>
                <a:gridCol w="954128">
                  <a:extLst>
                    <a:ext uri="{9D8B030D-6E8A-4147-A177-3AD203B41FA5}">
                      <a16:colId xmlns:a16="http://schemas.microsoft.com/office/drawing/2014/main" val="3943567824"/>
                    </a:ext>
                  </a:extLst>
                </a:gridCol>
                <a:gridCol w="1405706">
                  <a:extLst>
                    <a:ext uri="{9D8B030D-6E8A-4147-A177-3AD203B41FA5}">
                      <a16:colId xmlns:a16="http://schemas.microsoft.com/office/drawing/2014/main" val="294238356"/>
                    </a:ext>
                  </a:extLst>
                </a:gridCol>
                <a:gridCol w="910827">
                  <a:extLst>
                    <a:ext uri="{9D8B030D-6E8A-4147-A177-3AD203B41FA5}">
                      <a16:colId xmlns:a16="http://schemas.microsoft.com/office/drawing/2014/main" val="1992493818"/>
                    </a:ext>
                  </a:extLst>
                </a:gridCol>
                <a:gridCol w="1096407">
                  <a:extLst>
                    <a:ext uri="{9D8B030D-6E8A-4147-A177-3AD203B41FA5}">
                      <a16:colId xmlns:a16="http://schemas.microsoft.com/office/drawing/2014/main" val="94268776"/>
                    </a:ext>
                  </a:extLst>
                </a:gridCol>
                <a:gridCol w="1451070">
                  <a:extLst>
                    <a:ext uri="{9D8B030D-6E8A-4147-A177-3AD203B41FA5}">
                      <a16:colId xmlns:a16="http://schemas.microsoft.com/office/drawing/2014/main" val="3160466134"/>
                    </a:ext>
                  </a:extLst>
                </a:gridCol>
              </a:tblGrid>
              <a:tr h="378153">
                <a:tc gridSpan="7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MaxSolar Project Portfolio Table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564" marR="106564" marT="53282" marB="5328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486327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NPV (Relative)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(Relative)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Investment (€M)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IRR (%)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Fit (1-10)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ESG Contribution (1-10)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60761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Agri-PV Pilot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361488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 Grid Tools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993873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Storage R&amp;D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257380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Eastern Europe Entry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402953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O&amp;M Automation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40880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 Infrastructure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092700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+ Heat Hybrid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789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94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02213-56EA-34D4-1A30-3CB0B018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38468-2324-185F-0D40-51D43708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Proposed Project Portfolio Scoring Model for MaxSolar</a:t>
            </a:r>
            <a:br>
              <a:rPr lang="en-US" sz="2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F98DC-44DA-A6B6-B6E6-BC52F6C72687}"/>
              </a:ext>
            </a:extLst>
          </p:cNvPr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numCol="2" spcCol="36000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Portfolio Scoring Model provides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Strategic</a:t>
            </a:r>
            <a:r>
              <a:rPr lang="en-US" sz="1500">
                <a:effectLst/>
              </a:rPr>
              <a:t> selection</a:t>
            </a: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Evaluation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>
                <a:effectLst/>
              </a:rPr>
              <a:t>Prioritisation of projects </a:t>
            </a: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In</a:t>
            </a:r>
            <a:r>
              <a:rPr lang="en-US" sz="1500">
                <a:effectLst/>
              </a:rPr>
              <a:t> line with the firm’s</a:t>
            </a:r>
            <a:r>
              <a:rPr lang="en-US" sz="1500"/>
              <a:t> 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Growth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Sustainability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Innovation</a:t>
            </a:r>
            <a:r>
              <a:rPr lang="en-US" sz="1500">
                <a:effectLst/>
              </a:rPr>
              <a:t> imperatives</a:t>
            </a:r>
            <a:endParaRPr lang="en-US" sz="150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F96157B-9935-58FF-A6B8-19DB3A6F3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29867"/>
              </p:ext>
            </p:extLst>
          </p:nvPr>
        </p:nvGraphicFramePr>
        <p:xfrm>
          <a:off x="473202" y="2543947"/>
          <a:ext cx="8188454" cy="345333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111356">
                  <a:extLst>
                    <a:ext uri="{9D8B030D-6E8A-4147-A177-3AD203B41FA5}">
                      <a16:colId xmlns:a16="http://schemas.microsoft.com/office/drawing/2014/main" val="3998181701"/>
                    </a:ext>
                  </a:extLst>
                </a:gridCol>
                <a:gridCol w="1795141">
                  <a:extLst>
                    <a:ext uri="{9D8B030D-6E8A-4147-A177-3AD203B41FA5}">
                      <a16:colId xmlns:a16="http://schemas.microsoft.com/office/drawing/2014/main" val="4033404779"/>
                    </a:ext>
                  </a:extLst>
                </a:gridCol>
                <a:gridCol w="1371150">
                  <a:extLst>
                    <a:ext uri="{9D8B030D-6E8A-4147-A177-3AD203B41FA5}">
                      <a16:colId xmlns:a16="http://schemas.microsoft.com/office/drawing/2014/main" val="2114827732"/>
                    </a:ext>
                  </a:extLst>
                </a:gridCol>
                <a:gridCol w="1910980">
                  <a:extLst>
                    <a:ext uri="{9D8B030D-6E8A-4147-A177-3AD203B41FA5}">
                      <a16:colId xmlns:a16="http://schemas.microsoft.com/office/drawing/2014/main" val="3876426358"/>
                    </a:ext>
                  </a:extLst>
                </a:gridCol>
                <a:gridCol w="1999827">
                  <a:extLst>
                    <a:ext uri="{9D8B030D-6E8A-4147-A177-3AD203B41FA5}">
                      <a16:colId xmlns:a16="http://schemas.microsoft.com/office/drawing/2014/main" val="3679541576"/>
                    </a:ext>
                  </a:extLst>
                </a:gridCol>
              </a:tblGrid>
              <a:tr h="166795">
                <a:tc gridSpan="5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8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MaxSolar Project Portfolio Scoring Model</a:t>
                      </a:r>
                      <a:endParaRPr lang="en-GB" sz="8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34" marR="5234" marT="24542" marB="2617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62177"/>
                  </a:ext>
                </a:extLst>
              </a:tr>
              <a:tr h="17461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Selection Criterion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 Point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 Points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 Points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Condition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4014609086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 Strategic Fit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1 corporate strategy (e.g., cost reduction)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2–3 strategic priorities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≥4 strategic goals (e.g., solar expansion, digitalisation, ESG)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not aligned with any strategic goal unless a regulatory/joker- project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1906454358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 Competitive Advantage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Existing market already saturated with ≥3 similar offerings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Moderate differentiation; 1–2 competitors in market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Unique value proposition; no known direct competition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955765309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 Market Attractiveness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targets a shrinking or low-growth regional segment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maintains current market position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opens access to high-growth, high-margin markets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2439145490"/>
                  </a:ext>
                </a:extLst>
              </a:tr>
              <a:tr h="42293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 Technological Feasibility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unfamiliar, unproven, or untested tech; high external dependency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Leverages moderately familiar technologies; some outsourcing needed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Technologically mature and internally well-understood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domain completely unknown and high-risk unless “joker”/mandatory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975778728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5. Environmental &amp; Social Impact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measurable CO₂ savings or ESG alignment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Indirect impact, moderate ESG relevance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Direct measurable CO₂ reduction, biodiversity gain, or community benefit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3223280105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6. Financial Performance (IRR)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&lt; 6%; uncertain profitability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6%–10%; modest returns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&gt; 10%; strong commercial case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IRR &lt; 6% unless strategic breakthrough or required for license to operate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856711741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7. Risk Exposure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≥3 major risk areas (e.g., regulatory, reputational, financial, operational)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1–2 moderate risks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Minimal exposure; strong controls in place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legal or reputational risks are deemed unmanageable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467803377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8. Implementation Capacity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&gt;300 person-months or extensive subcontracting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200–300 person-months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&lt;200 person-months; well within internal delivery capability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2473016862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9. Portfolio Balance Contribution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Increases imbalance (e.g., overloads transformation segment or region)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Maintains existing balance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Optimises underrepresented bucket (e.g., maintenance, strategic breakthrough)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699183294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10. Innovation &amp; Knowledge Capital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meaningful learning or patent/IP gain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Moderate learning; industry standard tech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Generates new intellectual property or internal competencies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1780959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484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F2529-2497-9291-C04A-09F550C0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BE20A-A397-1B26-B80B-90DD90C3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3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Portfolio Buckets (Suggested Distribution)</a:t>
            </a:r>
            <a:endParaRPr lang="en-GB" sz="2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B092E385-63ED-4F3D-4444-F8A4C832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 fontScale="47500" lnSpcReduction="20000"/>
          </a:bodyPr>
          <a:lstStyle/>
          <a:p>
            <a:pPr>
              <a:buNone/>
            </a:pPr>
            <a:r>
              <a:rPr lang="en-GB" b="1"/>
              <a:t>Special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/>
              <a:t>Joker Projects</a:t>
            </a:r>
            <a:r>
              <a:rPr lang="en-GB"/>
              <a:t> receive an automatic 51</a:t>
            </a:r>
            <a:r>
              <a:rPr lang="en-GB" b="1"/>
              <a:t> points</a:t>
            </a:r>
            <a:r>
              <a:rPr lang="en-GB"/>
              <a:t> and are used sparingly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Regulatory mandates (e.g., EU Energy Efficiency Directive compliance).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Projects critical to business continuity or safety.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Transformational R&amp;D with clear executive endorsement.</a:t>
            </a:r>
          </a:p>
          <a:p>
            <a:endParaRPr lang="en-US" sz="1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24D1D-D67C-4086-E7E1-AC27F49AAF93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28" name="Content Placeholder 5">
            <a:extLst>
              <a:ext uri="{FF2B5EF4-FFF2-40B4-BE49-F238E27FC236}">
                <a16:creationId xmlns:a16="http://schemas.microsoft.com/office/drawing/2014/main" id="{801B04D3-7232-A361-8B4A-B259EB7F45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842501"/>
              </p:ext>
            </p:extLst>
          </p:nvPr>
        </p:nvGraphicFramePr>
        <p:xfrm>
          <a:off x="473202" y="2336710"/>
          <a:ext cx="8188453" cy="3867810"/>
        </p:xfrm>
        <a:graphic>
          <a:graphicData uri="http://schemas.openxmlformats.org/drawingml/2006/table">
            <a:tbl>
              <a:tblPr firstRow="1" firstCol="1" bandRow="1"/>
              <a:tblGrid>
                <a:gridCol w="2310633">
                  <a:extLst>
                    <a:ext uri="{9D8B030D-6E8A-4147-A177-3AD203B41FA5}">
                      <a16:colId xmlns:a16="http://schemas.microsoft.com/office/drawing/2014/main" val="1492836472"/>
                    </a:ext>
                  </a:extLst>
                </a:gridCol>
                <a:gridCol w="3563118">
                  <a:extLst>
                    <a:ext uri="{9D8B030D-6E8A-4147-A177-3AD203B41FA5}">
                      <a16:colId xmlns:a16="http://schemas.microsoft.com/office/drawing/2014/main" val="4044127017"/>
                    </a:ext>
                  </a:extLst>
                </a:gridCol>
                <a:gridCol w="2314702">
                  <a:extLst>
                    <a:ext uri="{9D8B030D-6E8A-4147-A177-3AD203B41FA5}">
                      <a16:colId xmlns:a16="http://schemas.microsoft.com/office/drawing/2014/main" val="1490289423"/>
                    </a:ext>
                  </a:extLst>
                </a:gridCol>
              </a:tblGrid>
              <a:tr h="403969">
                <a:tc gridSpan="3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Portfolio Buckets (Suggested Distribution)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533" marR="115533" marT="57766" marB="577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675069"/>
                  </a:ext>
                </a:extLst>
              </a:tr>
              <a:tr h="289733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Bucket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 Share of Budget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3569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Regulatory &amp; Compliance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Legal obligations, grid code compliance, safety standards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 required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738731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 &amp; Efficiency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Cost-saving upgrades, digitalisation of existing infrastructure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79976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Growth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farm expansions, storage integration, market entry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399073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&amp; R&amp;D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tech, hydrogen-PV hybrids, AI forecasting for grid loads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96476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Breakthroughs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Highly uncertain but potentially transformative tech (e.g., agri-PV, VPPs)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7283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ESG &amp; Community Projects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Social value creation, biodiversity, local partnerships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59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931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F81A9-AF7B-BF2D-9F99-1034DFAF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834DD-424A-C2C0-6CB9-7A8A2750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5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NPV vs. Risk portfolio balance chart, adapted for MaxSolar. The chart presents hypothetical projects represented as variable sized crosses Presenting strength of each project</a:t>
            </a:r>
            <a:endParaRPr lang="en-GB" sz="15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A08A7-D0CE-9344-CC8A-40D60BF6E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Balance Chart (NPV vs. Risk), featuring specific (hypothetical) project names</a:t>
            </a:r>
            <a:endParaRPr lang="en-GB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Agri-PV Pilot: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Promising low-risk, high-return initiative.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Grid Tools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Low risk but with modest financial value.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Storage R&amp;D: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High-potential yet risk-intensive.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Eastern Europe Entry: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market expansion with high uncertainty.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O&amp;M Automation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Centrally positioned, balanced project.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 Infrastructure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Emerging market, moderate investment with some risk.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Solar + Heat Hybrid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Technologically feasible, aligned with sustainability trends.</a:t>
            </a:r>
          </a:p>
          <a:p>
            <a:pPr>
              <a:lnSpc>
                <a:spcPct val="90000"/>
              </a:lnSpc>
            </a:pPr>
            <a:endParaRPr lang="en-GB" sz="1000"/>
          </a:p>
        </p:txBody>
      </p:sp>
      <p:pic>
        <p:nvPicPr>
          <p:cNvPr id="5" name="Picture 4" descr="A graph with colored x and x marks&#10;&#10;AI-generated content may be incorrect.">
            <a:extLst>
              <a:ext uri="{FF2B5EF4-FFF2-40B4-BE49-F238E27FC236}">
                <a16:creationId xmlns:a16="http://schemas.microsoft.com/office/drawing/2014/main" id="{D67F705C-1717-E854-BB2F-A94BA3DD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237" y="352879"/>
            <a:ext cx="5177790" cy="54791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8B0A11-E12C-63A4-9FC3-A100409BD890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DD5A8-7135-45C4-88AD-936E32CB22DC}"/>
              </a:ext>
            </a:extLst>
          </p:cNvPr>
          <p:cNvSpPr txBox="1"/>
          <p:nvPr/>
        </p:nvSpPr>
        <p:spPr>
          <a:xfrm>
            <a:off x="3709132" y="588334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/>
              <a:t>X-axis indicates the Net Present Value (NPV) from low (left) to high (right).</a:t>
            </a:r>
          </a:p>
          <a:p>
            <a:endParaRPr lang="en-GB" sz="800"/>
          </a:p>
          <a:p>
            <a:r>
              <a:rPr lang="en-GB" sz="800"/>
              <a:t>Y-axis indicates Risk from low (top) to high (bottom).</a:t>
            </a:r>
          </a:p>
        </p:txBody>
      </p:sp>
    </p:spTree>
    <p:extLst>
      <p:ext uri="{BB962C8B-B14F-4D97-AF65-F5344CB8AC3E}">
        <p14:creationId xmlns:p14="http://schemas.microsoft.com/office/powerpoint/2010/main" val="1373909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54630-D4E3-D401-D50A-A865841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0C01B-2DE5-2D38-2B1B-6EEEDC3D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440365"/>
            <a:ext cx="3184398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GB" sz="2200" b="1"/>
              <a:t>Portfolio Evaluation Charts</a:t>
            </a:r>
            <a:br>
              <a:rPr lang="en-GB" sz="2200" b="1"/>
            </a:br>
            <a:r>
              <a:rPr lang="en-GB" sz="2200"/>
              <a:t>To visualise and balance MaxSolar’s projectportfolio</a:t>
            </a:r>
          </a:p>
        </p:txBody>
      </p:sp>
      <p:pic>
        <p:nvPicPr>
          <p:cNvPr id="7" name="Picture 6" descr="A graph with colored x and x marks&#10;&#10;AI-generated content may be incorrect.">
            <a:extLst>
              <a:ext uri="{FF2B5EF4-FFF2-40B4-BE49-F238E27FC236}">
                <a16:creationId xmlns:a16="http://schemas.microsoft.com/office/drawing/2014/main" id="{A36BD4FA-14AB-DBDA-91D3-5150B067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35" y="320040"/>
            <a:ext cx="3711044" cy="3927031"/>
          </a:xfrm>
          <a:prstGeom prst="rect">
            <a:avLst/>
          </a:prstGeom>
        </p:spPr>
      </p:pic>
      <p:sp>
        <p:nvSpPr>
          <p:cNvPr id="80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8668" y="529485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060C3-0BE9-6B4C-B79C-15CC412D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9" y="4440365"/>
            <a:ext cx="4661153" cy="1722691"/>
          </a:xfrm>
        </p:spPr>
        <p:txBody>
          <a:bodyPr anchor="ctr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ROI vs. Risk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reward–exposure clarity.</a:t>
            </a:r>
            <a:endParaRPr lang="en-GB" sz="10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Fit vs. Time to Market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manage long-term vs. short-term wins.</a:t>
            </a:r>
            <a:endParaRPr lang="en-GB" sz="10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Carbon </a:t>
            </a:r>
            <a:r>
              <a:rPr lang="en-GB" sz="9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</a:t>
            </a: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vs. Resource Demand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environmental efficiency insights.</a:t>
            </a:r>
            <a:endParaRPr lang="en-GB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0F6D-0FEF-932E-EAD9-1D80C4A62DCA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54484F-D0EB-BB3D-A390-933C81B29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448629"/>
              </p:ext>
            </p:extLst>
          </p:nvPr>
        </p:nvGraphicFramePr>
        <p:xfrm>
          <a:off x="4690872" y="817572"/>
          <a:ext cx="4103372" cy="29319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02263">
                  <a:extLst>
                    <a:ext uri="{9D8B030D-6E8A-4147-A177-3AD203B41FA5}">
                      <a16:colId xmlns:a16="http://schemas.microsoft.com/office/drawing/2014/main" val="301892940"/>
                    </a:ext>
                  </a:extLst>
                </a:gridCol>
                <a:gridCol w="549422">
                  <a:extLst>
                    <a:ext uri="{9D8B030D-6E8A-4147-A177-3AD203B41FA5}">
                      <a16:colId xmlns:a16="http://schemas.microsoft.com/office/drawing/2014/main" val="765647700"/>
                    </a:ext>
                  </a:extLst>
                </a:gridCol>
                <a:gridCol w="549422">
                  <a:extLst>
                    <a:ext uri="{9D8B030D-6E8A-4147-A177-3AD203B41FA5}">
                      <a16:colId xmlns:a16="http://schemas.microsoft.com/office/drawing/2014/main" val="476170165"/>
                    </a:ext>
                  </a:extLst>
                </a:gridCol>
                <a:gridCol w="601040">
                  <a:extLst>
                    <a:ext uri="{9D8B030D-6E8A-4147-A177-3AD203B41FA5}">
                      <a16:colId xmlns:a16="http://schemas.microsoft.com/office/drawing/2014/main" val="104502850"/>
                    </a:ext>
                  </a:extLst>
                </a:gridCol>
                <a:gridCol w="529982">
                  <a:extLst>
                    <a:ext uri="{9D8B030D-6E8A-4147-A177-3AD203B41FA5}">
                      <a16:colId xmlns:a16="http://schemas.microsoft.com/office/drawing/2014/main" val="2766145891"/>
                    </a:ext>
                  </a:extLst>
                </a:gridCol>
                <a:gridCol w="522608">
                  <a:extLst>
                    <a:ext uri="{9D8B030D-6E8A-4147-A177-3AD203B41FA5}">
                      <a16:colId xmlns:a16="http://schemas.microsoft.com/office/drawing/2014/main" val="4027506168"/>
                    </a:ext>
                  </a:extLst>
                </a:gridCol>
                <a:gridCol w="648635">
                  <a:extLst>
                    <a:ext uri="{9D8B030D-6E8A-4147-A177-3AD203B41FA5}">
                      <a16:colId xmlns:a16="http://schemas.microsoft.com/office/drawing/2014/main" val="2243233368"/>
                    </a:ext>
                  </a:extLst>
                </a:gridCol>
              </a:tblGrid>
              <a:tr h="234249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MaxSolar Project Portfolio Table</a:t>
                      </a:r>
                      <a:endParaRPr lang="en-GB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075478"/>
                  </a:ext>
                </a:extLst>
              </a:tr>
              <a:tr h="4401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Project Name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NPV (Relative)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Risk (Relative)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Estimated Investment (€M)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Expected IRR (%)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Strategic Fit (1-10)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ESG Contribution (1-10)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58360"/>
                  </a:ext>
                </a:extLst>
              </a:tr>
              <a:tr h="2342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Agri-PV Pilot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199790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Digital Grid Tools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173322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Battery Storage R&amp;D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220036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Eastern Europe Entry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54511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O&amp;M Automation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696071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EV Infrastructure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283932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Solar + Heat Hybrid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-0.25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0.25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86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91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169E9-38AF-9956-3BD1-2C66AE83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6D78-1AF3-34B3-3A78-F82F947B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Project Portfolio Evaluation: Score – Ranking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A431-3AB4-1686-34B3-8FE370FD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Balance Chart (NPV vs. Risk), featuring specific (hypothetical) project names</a:t>
            </a:r>
            <a:endParaRPr lang="en-GB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Agri-PV Pilot: Promising low-risk, high-return initiative.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Grid Tools: Low risk but with modest financial value.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Storage R&amp;D: High-potential yet risk-intensive.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Eastern Europe Entry: Strategic market expansion with high uncertainty.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O&amp;M Automation: Centrally positioned, balanced project.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 Infrastructure: Emerging market, moderate investment with some risk.</a:t>
            </a:r>
          </a:p>
          <a:p>
            <a:pPr marL="342900" lvl="0" indent="-342900">
              <a:lnSpc>
                <a:spcPct val="9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Solar + Heat Hybrid: Technologically feasible, aligned with sustainability trends.</a:t>
            </a:r>
          </a:p>
          <a:p>
            <a:pPr>
              <a:lnSpc>
                <a:spcPct val="90000"/>
              </a:lnSpc>
            </a:pPr>
            <a:endParaRPr lang="en-GB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06893-F605-CE89-1181-6B4CC23AD74B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2BF999-084F-87AA-90F9-C75F01EF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85779"/>
              </p:ext>
            </p:extLst>
          </p:nvPr>
        </p:nvGraphicFramePr>
        <p:xfrm>
          <a:off x="3490722" y="1661215"/>
          <a:ext cx="5177793" cy="3535575"/>
        </p:xfrm>
        <a:graphic>
          <a:graphicData uri="http://schemas.openxmlformats.org/drawingml/2006/table">
            <a:tbl>
              <a:tblPr firstRow="1" firstCol="1" bandRow="1"/>
              <a:tblGrid>
                <a:gridCol w="891305">
                  <a:extLst>
                    <a:ext uri="{9D8B030D-6E8A-4147-A177-3AD203B41FA5}">
                      <a16:colId xmlns:a16="http://schemas.microsoft.com/office/drawing/2014/main" val="2553646476"/>
                    </a:ext>
                  </a:extLst>
                </a:gridCol>
                <a:gridCol w="426241">
                  <a:extLst>
                    <a:ext uri="{9D8B030D-6E8A-4147-A177-3AD203B41FA5}">
                      <a16:colId xmlns:a16="http://schemas.microsoft.com/office/drawing/2014/main" val="3473187386"/>
                    </a:ext>
                  </a:extLst>
                </a:gridCol>
                <a:gridCol w="574687">
                  <a:extLst>
                    <a:ext uri="{9D8B030D-6E8A-4147-A177-3AD203B41FA5}">
                      <a16:colId xmlns:a16="http://schemas.microsoft.com/office/drawing/2014/main" val="2356515824"/>
                    </a:ext>
                  </a:extLst>
                </a:gridCol>
                <a:gridCol w="633859">
                  <a:extLst>
                    <a:ext uri="{9D8B030D-6E8A-4147-A177-3AD203B41FA5}">
                      <a16:colId xmlns:a16="http://schemas.microsoft.com/office/drawing/2014/main" val="3464430919"/>
                    </a:ext>
                  </a:extLst>
                </a:gridCol>
                <a:gridCol w="640087">
                  <a:extLst>
                    <a:ext uri="{9D8B030D-6E8A-4147-A177-3AD203B41FA5}">
                      <a16:colId xmlns:a16="http://schemas.microsoft.com/office/drawing/2014/main" val="1200923435"/>
                    </a:ext>
                  </a:extLst>
                </a:gridCol>
                <a:gridCol w="601678">
                  <a:extLst>
                    <a:ext uri="{9D8B030D-6E8A-4147-A177-3AD203B41FA5}">
                      <a16:colId xmlns:a16="http://schemas.microsoft.com/office/drawing/2014/main" val="2059780383"/>
                    </a:ext>
                  </a:extLst>
                </a:gridCol>
                <a:gridCol w="799953">
                  <a:extLst>
                    <a:ext uri="{9D8B030D-6E8A-4147-A177-3AD203B41FA5}">
                      <a16:colId xmlns:a16="http://schemas.microsoft.com/office/drawing/2014/main" val="4140222031"/>
                    </a:ext>
                  </a:extLst>
                </a:gridCol>
                <a:gridCol w="609983">
                  <a:extLst>
                    <a:ext uri="{9D8B030D-6E8A-4147-A177-3AD203B41FA5}">
                      <a16:colId xmlns:a16="http://schemas.microsoft.com/office/drawing/2014/main" val="4033149246"/>
                    </a:ext>
                  </a:extLst>
                </a:gridCol>
              </a:tblGrid>
              <a:tr h="244159">
                <a:tc gridSpan="8"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MaxSolar Project Portfolio Evaluation: Score - Ranking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94" marR="59794" marT="29897" marB="298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897481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Agri-PV Pilot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 Grid Tools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Storage R&amp;D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Eastern Europe Entry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O&amp;M Automation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 Infrastructure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+ Heat Hybrid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0599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Strategic Alignment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858500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Competitive Advantage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643226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Market Attractiveness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79494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 Technological Feasibility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70902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Environmental &amp; Social Impact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9588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 Financial Performance (IRR)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239919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 Risk Exposure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345972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 Implementation Capacity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1940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Portfolio Balance Contribution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68561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Innovation &amp; Knowledge Capital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51036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Score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8724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Rank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4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971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C0004-DF63-B698-7085-62B130A2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38699-81DB-0CCA-25F0-84A07F17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3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Recommendation Summary Summary for MaxSolar’s Strategic Project Portfolio</a:t>
            </a:r>
            <a:endParaRPr lang="en-US" sz="36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0AA81-D882-AA70-CCE7-50319AE12902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2C4D3A-17B8-A089-38DD-7A8762732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5855"/>
              </p:ext>
            </p:extLst>
          </p:nvPr>
        </p:nvGraphicFramePr>
        <p:xfrm>
          <a:off x="240030" y="2974794"/>
          <a:ext cx="8661655" cy="290371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336750">
                  <a:extLst>
                    <a:ext uri="{9D8B030D-6E8A-4147-A177-3AD203B41FA5}">
                      <a16:colId xmlns:a16="http://schemas.microsoft.com/office/drawing/2014/main" val="541306340"/>
                    </a:ext>
                  </a:extLst>
                </a:gridCol>
                <a:gridCol w="3129441">
                  <a:extLst>
                    <a:ext uri="{9D8B030D-6E8A-4147-A177-3AD203B41FA5}">
                      <a16:colId xmlns:a16="http://schemas.microsoft.com/office/drawing/2014/main" val="62668524"/>
                    </a:ext>
                  </a:extLst>
                </a:gridCol>
                <a:gridCol w="4195464">
                  <a:extLst>
                    <a:ext uri="{9D8B030D-6E8A-4147-A177-3AD203B41FA5}">
                      <a16:colId xmlns:a16="http://schemas.microsoft.com/office/drawing/2014/main" val="2128835131"/>
                    </a:ext>
                  </a:extLst>
                </a:gridCol>
              </a:tblGrid>
              <a:tr h="325168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0">
                          <a:effectLst/>
                        </a:rPr>
                        <a:t>Recommendation Summary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87747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Priority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Project Name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Action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048214559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1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Agri-PV Pilot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Immediate prioritisation and resource commitment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768617586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2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Solar + Heat Hybrid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Greenlight with targeted innovation funding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264243477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3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Eastern Europe Entry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Proceed cautiously with phased investment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116771074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4–5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Battery Storage R&amp;D, O&amp;M Automation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Monitor, revalidate feasibility milestones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139964974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6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EV Infrastructure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Reassess if bundling options or new partners emerge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135447705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7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Digital Grid Tools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Reposition as a support module within larger initiative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18398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46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D0725-BE47-F718-7F26-27546613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E7C30-14FB-F054-D2F1-B0F1D4A7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Resource Allocation Plan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74E3CA71-6D51-3C45-5ABE-637EFE74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Framework Applied Allocation: MaxSolar Project Portfolio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model has been applied to </a:t>
            </a:r>
            <a:r>
              <a:rPr lang="en-GB" sz="1300" kern="0" err="1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MaxSolar’s</a:t>
            </a: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seven prioritised strategic projects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resulting allocation, based on computed weights and normalised shares</a:t>
            </a:r>
            <a:endParaRPr lang="en-US" sz="13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AC4AD-387F-AF54-86BF-4D6A8F0A347A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59" name="Content Placeholder 9">
            <a:extLst>
              <a:ext uri="{FF2B5EF4-FFF2-40B4-BE49-F238E27FC236}">
                <a16:creationId xmlns:a16="http://schemas.microsoft.com/office/drawing/2014/main" id="{498479E1-C4A7-3D5E-4E87-4EC5EB78E5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0320699"/>
              </p:ext>
            </p:extLst>
          </p:nvPr>
        </p:nvGraphicFramePr>
        <p:xfrm>
          <a:off x="473202" y="2934917"/>
          <a:ext cx="8188455" cy="267139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046895">
                  <a:extLst>
                    <a:ext uri="{9D8B030D-6E8A-4147-A177-3AD203B41FA5}">
                      <a16:colId xmlns:a16="http://schemas.microsoft.com/office/drawing/2014/main" val="1482640539"/>
                    </a:ext>
                  </a:extLst>
                </a:gridCol>
                <a:gridCol w="1675341">
                  <a:extLst>
                    <a:ext uri="{9D8B030D-6E8A-4147-A177-3AD203B41FA5}">
                      <a16:colId xmlns:a16="http://schemas.microsoft.com/office/drawing/2014/main" val="91948363"/>
                    </a:ext>
                  </a:extLst>
                </a:gridCol>
                <a:gridCol w="1232557">
                  <a:extLst>
                    <a:ext uri="{9D8B030D-6E8A-4147-A177-3AD203B41FA5}">
                      <a16:colId xmlns:a16="http://schemas.microsoft.com/office/drawing/2014/main" val="519935275"/>
                    </a:ext>
                  </a:extLst>
                </a:gridCol>
                <a:gridCol w="1583622">
                  <a:extLst>
                    <a:ext uri="{9D8B030D-6E8A-4147-A177-3AD203B41FA5}">
                      <a16:colId xmlns:a16="http://schemas.microsoft.com/office/drawing/2014/main" val="3922301157"/>
                    </a:ext>
                  </a:extLst>
                </a:gridCol>
                <a:gridCol w="1650040">
                  <a:extLst>
                    <a:ext uri="{9D8B030D-6E8A-4147-A177-3AD203B41FA5}">
                      <a16:colId xmlns:a16="http://schemas.microsoft.com/office/drawing/2014/main" val="3736373456"/>
                    </a:ext>
                  </a:extLst>
                </a:gridCol>
              </a:tblGrid>
              <a:tr h="336444">
                <a:tc grid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0" cap="none" spc="30">
                          <a:solidFill>
                            <a:schemeClr val="tx1"/>
                          </a:solidFill>
                          <a:effectLst/>
                        </a:rPr>
                        <a:t>MaxSolar Resource Allocation Plan</a:t>
                      </a:r>
                      <a:endParaRPr lang="en-GB" sz="1800" b="1" kern="100" cap="none" spc="3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022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664179"/>
                  </a:ext>
                </a:extLst>
              </a:tr>
              <a:tr h="497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Project Name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Estimated Investment (€M)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Priority Rank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Weight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Allocated Resources (%)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274406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Agri-PV Pilot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38.57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1292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Solar + Heat Hybrid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19.28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172502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Eastern Europe Entry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0.33333…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12.86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02399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Battery Storage R&amp;D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0.25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9.64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2706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O&amp;M Automation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2.5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7.71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95939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EV Infrastructure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0.16666…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6.43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0843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Digital Grid Tools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0.142856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5.51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2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55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DAAA9-82C9-741B-ECBB-CBF1D1CE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6D3E-5678-ED85-394E-C1BA8946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Resource Allocation Plan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A34A8-3542-13D8-EA8A-54234AD4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endParaRPr lang="en-GB" sz="1900"/>
          </a:p>
        </p:txBody>
      </p:sp>
      <p:pic>
        <p:nvPicPr>
          <p:cNvPr id="6" name="Picture 5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47C2ECD2-62C5-A3D4-67B0-9A343D2F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422607"/>
            <a:ext cx="5177790" cy="4012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205FFA-F5B8-75D4-CA57-FACD8F9496B1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0376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0EF78-DA8E-10BA-F9B8-ED48F18B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D7697-5ADF-EC6B-ADA0-379C06ED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GB" sz="36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Portfolio-Level Observations</a:t>
            </a:r>
            <a:endParaRPr lang="en-GB" sz="3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2C5B6-6590-2F0C-75D7-48669B0F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a portfolio level, several key observations emerge.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top-tier projects, including Agri-PV Pilot, Solar + Heat Hybrid, and Eastern Europe Entry,scored highly, thereby reinforcing a strong linkage between strategic objectives and project execution.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ESG impact remains a pivotal differentiator, with projects that prioritise sustainability achieving markedly higher scores.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projects that exhibit medium or uncertain technical feasibility tend to be penalised unless their strategic value adequately offsets the attendant risks. </a:t>
            </a:r>
            <a:endParaRPr lang="en-GB" sz="1800" kern="10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a clear correlation between innovation potential and overall project score, with initiatives lacking in distinct innovative qualities, such as Digital Grid Tools, performing less favourably.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2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8AC62-649F-58B9-E4C3-7E173AD6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7CE7F-4AF5-EFAE-7451-E5194613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GB" sz="36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Discussion and Implications</a:t>
            </a:r>
            <a:endParaRPr lang="en-GB" sz="3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D60A-D306-D32D-7F14-844C1D1F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Indications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applied model reinforces MaxSolar’s strategic commitment to prioritising initiatives that deliver the highest organisational and societal impact.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Agri-PV Pilot, scoring top in strategic alignment, innovation, and ESG performance, receives the largest allocation.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Solar + Heat Hybrid, also highly ranked, benefits from a substantial yet proportionately smaller share.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Lower-priority projects, such as Digital Grid Tools, though still receiving resources, are clearly identified as secondary, thereby encouraging their integration within broader programmes rather than being pursued in isolation.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1300" b="1" kern="10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resource allocation framework adopted by MaxSolar exemplifies a balanced and academically grounded method for aligning strategic intent with operational capacity.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use of inverse-rank proportionality, informed by MCDA principles, ensures that high-impact projects receive the emphasis they merit, while safeguarding the inclusion and monitoring of emerging initiatives.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methodology offers both analytical rigour and practical applicability in the management of complex project portfolios in the renewable energy sector.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15F2B-8157-2C32-B6D1-DA777CC0C9DF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031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Scoring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33BD9-E4B6-8D0B-9D40-C6385B7A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5D4A594-DE7A-9D9D-2B49-E8B6EFA8A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5688926"/>
              </p:ext>
            </p:extLst>
          </p:nvPr>
        </p:nvGraphicFramePr>
        <p:xfrm>
          <a:off x="1" y="1741714"/>
          <a:ext cx="8711820" cy="43844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33263">
                  <a:extLst>
                    <a:ext uri="{9D8B030D-6E8A-4147-A177-3AD203B41FA5}">
                      <a16:colId xmlns:a16="http://schemas.microsoft.com/office/drawing/2014/main" val="3485540262"/>
                    </a:ext>
                  </a:extLst>
                </a:gridCol>
                <a:gridCol w="3578232">
                  <a:extLst>
                    <a:ext uri="{9D8B030D-6E8A-4147-A177-3AD203B41FA5}">
                      <a16:colId xmlns:a16="http://schemas.microsoft.com/office/drawing/2014/main" val="957454006"/>
                    </a:ext>
                  </a:extLst>
                </a:gridCol>
                <a:gridCol w="1122031">
                  <a:extLst>
                    <a:ext uri="{9D8B030D-6E8A-4147-A177-3AD203B41FA5}">
                      <a16:colId xmlns:a16="http://schemas.microsoft.com/office/drawing/2014/main" val="1288701681"/>
                    </a:ext>
                  </a:extLst>
                </a:gridCol>
                <a:gridCol w="990652">
                  <a:extLst>
                    <a:ext uri="{9D8B030D-6E8A-4147-A177-3AD203B41FA5}">
                      <a16:colId xmlns:a16="http://schemas.microsoft.com/office/drawing/2014/main" val="1818749292"/>
                    </a:ext>
                  </a:extLst>
                </a:gridCol>
                <a:gridCol w="1387642">
                  <a:extLst>
                    <a:ext uri="{9D8B030D-6E8A-4147-A177-3AD203B41FA5}">
                      <a16:colId xmlns:a16="http://schemas.microsoft.com/office/drawing/2014/main" val="3234939659"/>
                    </a:ext>
                  </a:extLst>
                </a:gridCol>
              </a:tblGrid>
              <a:tr h="51979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Perspective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Strategic Goal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Weight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Score (1-10)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Weighted Score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638532438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Financial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Achieve 20% annual revenue growth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20%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8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1.6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335106836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Financial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Maintain 15% profit margin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1.05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154635551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Customer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Achieve NPS of 80+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9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1.35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160420460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Customer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Expand market share by 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6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0.6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697976336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Internal Processes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Reduce project development timelines by 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1.05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4019554253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Internal Processes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Improve operational efficiency with advanced technologies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8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0.8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808037594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Learning &amp; Growth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Invest in employee training and development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0.7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606196525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Learning &amp; Growth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Increase R&amp;D spending by 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6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0.3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050381712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Total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 b="1">
                          <a:effectLst/>
                        </a:rPr>
                        <a:t>100%</a:t>
                      </a:r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 b="1">
                          <a:effectLst/>
                        </a:rPr>
                        <a:t>7.45</a:t>
                      </a:r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158283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0D3FEA-E331-2F88-876F-2A156A70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E483D8-6A55-A710-BF52-193D5E427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840592"/>
              </p:ext>
            </p:extLst>
          </p:nvPr>
        </p:nvGraphicFramePr>
        <p:xfrm>
          <a:off x="780666" y="2112579"/>
          <a:ext cx="7600624" cy="4192809"/>
        </p:xfrm>
        <a:graphic>
          <a:graphicData uri="http://schemas.openxmlformats.org/drawingml/2006/table">
            <a:tbl>
              <a:tblPr firstRow="1" firstCol="1" bandRow="1"/>
              <a:tblGrid>
                <a:gridCol w="2997793">
                  <a:extLst>
                    <a:ext uri="{9D8B030D-6E8A-4147-A177-3AD203B41FA5}">
                      <a16:colId xmlns:a16="http://schemas.microsoft.com/office/drawing/2014/main" val="1601021844"/>
                    </a:ext>
                  </a:extLst>
                </a:gridCol>
                <a:gridCol w="919065">
                  <a:extLst>
                    <a:ext uri="{9D8B030D-6E8A-4147-A177-3AD203B41FA5}">
                      <a16:colId xmlns:a16="http://schemas.microsoft.com/office/drawing/2014/main" val="2298532617"/>
                    </a:ext>
                  </a:extLst>
                </a:gridCol>
                <a:gridCol w="3683766">
                  <a:extLst>
                    <a:ext uri="{9D8B030D-6E8A-4147-A177-3AD203B41FA5}">
                      <a16:colId xmlns:a16="http://schemas.microsoft.com/office/drawing/2014/main" val="2744812210"/>
                    </a:ext>
                  </a:extLst>
                </a:gridCol>
              </a:tblGrid>
              <a:tr h="397958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Rationale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83510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Strategic Fit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 primary goal is to ensure the portfolio aligns with MaxSolar’s strategy.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03293"/>
                  </a:ext>
                </a:extLst>
              </a:tr>
              <a:tr h="7126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Project Termination Quality (PTQ)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High PTQ ensures resources are not wasted on misaligned projects.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522196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Senior Management Involvement (SMI)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SMI is critical for enforcing termination decisions and strategic alignment.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086029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Control Variables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Factors like portfolio budget and project size may influence outcomes.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302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355D0-8450-C5A1-0671-F692741C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B9EB71-5DB1-C17B-3B57-7EF0FD861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589450"/>
              </p:ext>
            </p:extLst>
          </p:nvPr>
        </p:nvGraphicFramePr>
        <p:xfrm>
          <a:off x="1087464" y="2112579"/>
          <a:ext cx="6987029" cy="4311324"/>
        </p:xfrm>
        <a:graphic>
          <a:graphicData uri="http://schemas.openxmlformats.org/drawingml/2006/table">
            <a:tbl>
              <a:tblPr firstRow="1" firstCol="1" bandRow="1"/>
              <a:tblGrid>
                <a:gridCol w="2354138">
                  <a:extLst>
                    <a:ext uri="{9D8B030D-6E8A-4147-A177-3AD203B41FA5}">
                      <a16:colId xmlns:a16="http://schemas.microsoft.com/office/drawing/2014/main" val="2405279041"/>
                    </a:ext>
                  </a:extLst>
                </a:gridCol>
                <a:gridCol w="1480310">
                  <a:extLst>
                    <a:ext uri="{9D8B030D-6E8A-4147-A177-3AD203B41FA5}">
                      <a16:colId xmlns:a16="http://schemas.microsoft.com/office/drawing/2014/main" val="1914722073"/>
                    </a:ext>
                  </a:extLst>
                </a:gridCol>
                <a:gridCol w="1056724">
                  <a:extLst>
                    <a:ext uri="{9D8B030D-6E8A-4147-A177-3AD203B41FA5}">
                      <a16:colId xmlns:a16="http://schemas.microsoft.com/office/drawing/2014/main" val="1314672759"/>
                    </a:ext>
                  </a:extLst>
                </a:gridCol>
                <a:gridCol w="2095857">
                  <a:extLst>
                    <a:ext uri="{9D8B030D-6E8A-4147-A177-3AD203B41FA5}">
                      <a16:colId xmlns:a16="http://schemas.microsoft.com/office/drawing/2014/main" val="1974874147"/>
                    </a:ext>
                  </a:extLst>
                </a:gridCol>
              </a:tblGrid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Score (1-7)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Weighted Score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8512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Strategic Fit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6.0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298764"/>
                  </a:ext>
                </a:extLst>
              </a:tr>
              <a:tr h="11812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Project Termination Quality (PTQ)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1.65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552151"/>
                  </a:ext>
                </a:extLst>
              </a:tr>
              <a:tr h="11812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Senior Management Involvement (SMI)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94329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Control Variables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86503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5.45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35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615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94B7F-31B4-4589-7F03-3962F394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03E6049-CE79-2470-2C85-6FEA43ECF1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4773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334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Allocation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8EF8C-CE11-0F05-255D-8F3415B06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08383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Governance Model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D06606-E1C9-95AC-79A3-1AA9ED0E5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95938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9CE4C2E1-2D05-8A50-F402-A1A049E6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990" t="9091" r="1210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E76514-7AF0-E1DD-6543-DA15D4326F7B}"/>
              </a:ext>
            </a:extLst>
          </p:cNvPr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Role of PMO in Portfolio Governance</a:t>
            </a:r>
          </a:p>
        </p:txBody>
      </p:sp>
      <p:graphicFrame>
        <p:nvGraphicFramePr>
          <p:cNvPr id="105" name="TextBox 65">
            <a:extLst>
              <a:ext uri="{FF2B5EF4-FFF2-40B4-BE49-F238E27FC236}">
                <a16:creationId xmlns:a16="http://schemas.microsoft.com/office/drawing/2014/main" id="{E951121C-8193-D2A2-EE3B-9BF0351CD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169542"/>
              </p:ext>
            </p:extLst>
          </p:nvPr>
        </p:nvGraphicFramePr>
        <p:xfrm>
          <a:off x="628650" y="1825625"/>
          <a:ext cx="8075512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4180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FF595-169F-EA91-1077-847ACB04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>
                <a:ea typeface="Calibri"/>
                <a:cs typeface="Calibri"/>
              </a:rPr>
              <a:t>Role of PMO in Portfolio Governance</a:t>
            </a:r>
            <a:endParaRPr lang="en-FI" sz="3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D5A4C-BCEE-465F-6BF3-ECE12B291D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87166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249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C6545-B5A9-123B-AC66-2DE0CFC6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Screening of New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4D5A6-A083-BABB-6294-F28E49044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492" y="2701427"/>
            <a:ext cx="6847521" cy="27447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/>
              <a:t>Candidate Project Overview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Project Name:</a:t>
            </a:r>
            <a:r>
              <a:rPr lang="en-US" sz="1600"/>
              <a:t> Next-Gen Secure Digital Service Platform</a:t>
            </a:r>
            <a:br>
              <a:rPr lang="en-US" sz="1600"/>
            </a:br>
            <a:r>
              <a:rPr lang="en-US" sz="1600" b="1"/>
              <a:t>Sponsor</a:t>
            </a:r>
            <a:r>
              <a:rPr lang="en-US" sz="1600"/>
              <a:t>: CIO </a:t>
            </a:r>
            <a:br>
              <a:rPr lang="en-US" sz="1600"/>
            </a:br>
            <a:r>
              <a:rPr lang="en-US" sz="1600" b="1"/>
              <a:t>Business Objective:</a:t>
            </a:r>
            <a:endParaRPr lang="en-US" sz="16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Develop a secure, analytics-driven platform to streamline operations and enhance customer value.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Address shareholder concerns over outdated infrastructure.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/>
              <a:t>Key Metrics: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Budget:</a:t>
            </a:r>
            <a:r>
              <a:rPr lang="en-US" sz="1600"/>
              <a:t> 12M€ (phased: 1M€, 3.5M€, 7.5M€) + 500k/yr DevOps.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Timeline:</a:t>
            </a:r>
            <a:r>
              <a:rPr lang="en-US" sz="1600"/>
              <a:t> 48 months.</a:t>
            </a:r>
            <a:endParaRPr lang="en-US" sz="1600">
              <a:ea typeface="Calibri"/>
              <a:cs typeface="Calibri"/>
            </a:endParaRP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EA5CF-97BB-D17E-86EF-81297D054B04}"/>
              </a:ext>
            </a:extLst>
          </p:cNvPr>
          <p:cNvSpPr txBox="1"/>
          <p:nvPr/>
        </p:nvSpPr>
        <p:spPr>
          <a:xfrm>
            <a:off x="1274221" y="2185956"/>
            <a:ext cx="6665580" cy="5484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>
                <a:solidFill>
                  <a:schemeClr val="accent2"/>
                </a:solidFill>
              </a:rPr>
              <a:t>Initial Evaluation of the "Next-Gen Secure Digital Service Platform"</a:t>
            </a:r>
            <a:endParaRPr lang="en-US" b="1">
              <a:solidFill>
                <a:schemeClr val="accent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4027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6813-3E78-D331-D55A-AE19CC72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186409"/>
            <a:ext cx="8231732" cy="1536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latin typeface="+mj-lt"/>
                <a:ea typeface="+mj-ea"/>
                <a:cs typeface="+mj-cs"/>
              </a:rPr>
              <a:t>Level 1 (L1) Screening Using </a:t>
            </a:r>
            <a:r>
              <a:rPr lang="en-US" sz="2800" kern="1200" err="1">
                <a:latin typeface="+mj-lt"/>
                <a:ea typeface="+mj-ea"/>
                <a:cs typeface="+mj-cs"/>
              </a:rPr>
              <a:t>MaxSolar’s</a:t>
            </a:r>
            <a:r>
              <a:rPr lang="en-US" sz="2800" kern="1200">
                <a:latin typeface="+mj-lt"/>
                <a:ea typeface="+mj-ea"/>
                <a:cs typeface="+mj-cs"/>
              </a:rPr>
              <a:t> Scoring Model</a:t>
            </a:r>
            <a:r>
              <a:rPr lang="en-US" sz="2800"/>
              <a:t> </a:t>
            </a:r>
            <a:r>
              <a:rPr lang="en-US" sz="1200" i="1">
                <a:solidFill>
                  <a:srgbClr val="404040"/>
                </a:solidFill>
              </a:rPr>
              <a:t>(</a:t>
            </a:r>
            <a:r>
              <a:rPr lang="en-US" sz="1200" i="1">
                <a:solidFill>
                  <a:srgbClr val="404040"/>
                </a:solidFill>
                <a:ea typeface="+mj-lt"/>
                <a:cs typeface="+mj-lt"/>
              </a:rPr>
              <a:t>Align with Strategic Buckets: Growth, Sustainability, Innovation)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</a:pP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1198D1E-BCF7-F336-E940-3157665D0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904719"/>
              </p:ext>
            </p:extLst>
          </p:nvPr>
        </p:nvGraphicFramePr>
        <p:xfrm>
          <a:off x="660693" y="1453526"/>
          <a:ext cx="7906096" cy="409437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81527">
                  <a:extLst>
                    <a:ext uri="{9D8B030D-6E8A-4147-A177-3AD203B41FA5}">
                      <a16:colId xmlns:a16="http://schemas.microsoft.com/office/drawing/2014/main" val="2655735251"/>
                    </a:ext>
                  </a:extLst>
                </a:gridCol>
                <a:gridCol w="2091016">
                  <a:extLst>
                    <a:ext uri="{9D8B030D-6E8A-4147-A177-3AD203B41FA5}">
                      <a16:colId xmlns:a16="http://schemas.microsoft.com/office/drawing/2014/main" val="3487963885"/>
                    </a:ext>
                  </a:extLst>
                </a:gridCol>
                <a:gridCol w="3333553">
                  <a:extLst>
                    <a:ext uri="{9D8B030D-6E8A-4147-A177-3AD203B41FA5}">
                      <a16:colId xmlns:a16="http://schemas.microsoft.com/office/drawing/2014/main" val="1656688894"/>
                    </a:ext>
                  </a:extLst>
                </a:gridCol>
              </a:tblGrid>
              <a:tr h="186634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Criteria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Score (1-5)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Rationale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1468396583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Strategic Fit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4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Aligns with digital transformation goals but limited direct link to renewable energy core.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5758278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Financial ROI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High upfront cost; ROI depends on operational efficiencies (long payback).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538903029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Risk Level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Moderate (technical complexity, phased funding risks).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343106092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Innovation Potential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5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High (advanced analytics, security features).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748538108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effectLst/>
                        </a:rPr>
                        <a:t>Business Value</a:t>
                      </a:r>
                    </a:p>
                  </a:txBody>
                  <a:tcPr marL="64487" marR="64487" marT="32244" marB="322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</a:p>
                  </a:txBody>
                  <a:tcPr marL="64487" marR="64487" marT="32244" marB="32244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Tangible: €9M revenue by Year 7 (from case study data). Intangible: Enhances shareholder trust and positions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MaxSolar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as a tech innovator.</a:t>
                      </a:r>
                      <a:endParaRPr lang="en-US"/>
                    </a:p>
                  </a:txBody>
                  <a:tcPr marL="64487" marR="64487" marT="32244" marB="32244" anchor="ctr"/>
                </a:tc>
                <a:extLst>
                  <a:ext uri="{0D108BD9-81ED-4DB2-BD59-A6C34878D82A}">
                    <a16:rowId xmlns:a16="http://schemas.microsoft.com/office/drawing/2014/main" val="327183123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ESG Impact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Indirect (supports operational sustainability, not core renewable energy).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44765159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789C8A2-ED84-20AC-1CBF-46FA81A5B16D}"/>
              </a:ext>
            </a:extLst>
          </p:cNvPr>
          <p:cNvSpPr txBox="1"/>
          <p:nvPr/>
        </p:nvSpPr>
        <p:spPr>
          <a:xfrm>
            <a:off x="4370993" y="5580841"/>
            <a:ext cx="4513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Total Score: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22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/30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(Threshold for "Go": ≥24)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94E455-07A1-142B-B5E4-5175099A6F4D}"/>
              </a:ext>
            </a:extLst>
          </p:cNvPr>
          <p:cNvSpPr txBox="1"/>
          <p:nvPr/>
        </p:nvSpPr>
        <p:spPr>
          <a:xfrm>
            <a:off x="934805" y="5684414"/>
            <a:ext cx="76587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Conclusion: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"Not Go"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at L1 due to:</a:t>
            </a: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Marginal strategic alignment with </a:t>
            </a:r>
            <a:r>
              <a:rPr lang="en-US" err="1">
                <a:solidFill>
                  <a:srgbClr val="404040"/>
                </a:solidFill>
                <a:latin typeface="DeepSeek-CJK-patch"/>
              </a:rPr>
              <a:t>MaxSolar’s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 renewable energy mission.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High resource commitment vs. projected ROI.</a:t>
            </a:r>
          </a:p>
        </p:txBody>
      </p:sp>
    </p:spTree>
    <p:extLst>
      <p:ext uri="{BB962C8B-B14F-4D97-AF65-F5344CB8AC3E}">
        <p14:creationId xmlns:p14="http://schemas.microsoft.com/office/powerpoint/2010/main" val="1637816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CC7FA-1A8C-CBAD-3DBA-C76FFFA6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>
                <a:ea typeface="+mj-lt"/>
                <a:cs typeface="+mj-lt"/>
              </a:rPr>
              <a:t>Risk Management Framework</a:t>
            </a:r>
          </a:p>
          <a:p>
            <a:pPr>
              <a:lnSpc>
                <a:spcPct val="90000"/>
              </a:lnSpc>
            </a:pPr>
            <a:br>
              <a:rPr lang="en-US" sz="2500" b="1">
                <a:ea typeface="+mj-lt"/>
                <a:cs typeface="+mj-lt"/>
              </a:rPr>
            </a:br>
            <a:r>
              <a:rPr lang="en-US" sz="2500" b="1">
                <a:ea typeface="+mj-lt"/>
                <a:cs typeface="+mj-lt"/>
              </a:rPr>
              <a:t>Risk Categories</a:t>
            </a:r>
            <a:r>
              <a:rPr lang="en-US" sz="2500">
                <a:ea typeface="+mj-lt"/>
                <a:cs typeface="+mj-lt"/>
              </a:rPr>
              <a:t> (aligned with PESTEL):</a:t>
            </a:r>
            <a:endParaRPr lang="en-US" sz="25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250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A1ECD5-1BB8-D2E7-6090-8F0B9D19B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37702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8310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5D495-050B-4D8C-68C1-AF89A47E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700" b="1">
                <a:solidFill>
                  <a:srgbClr val="FFFFFF"/>
                </a:solidFill>
                <a:latin typeface="Segoe UI"/>
                <a:cs typeface="Segoe UI"/>
              </a:rPr>
              <a:t> Risk Categories &amp; Tolerance Limits</a:t>
            </a:r>
            <a:endParaRPr lang="en-US" sz="2700">
              <a:solidFill>
                <a:srgbClr val="FFFFFF"/>
              </a:solidFill>
              <a:latin typeface="Segoe UI"/>
              <a:cs typeface="Segoe UI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700" i="1">
                <a:solidFill>
                  <a:srgbClr val="FFFFFF"/>
                </a:solidFill>
                <a:latin typeface="Segoe UI"/>
                <a:cs typeface="Segoe UI"/>
              </a:rPr>
              <a:t>(Aligned with PESTEL and EVM Data)</a:t>
            </a:r>
            <a:endParaRPr lang="en-US" sz="2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F8A3CD-6D8B-A818-2418-679A84F4F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217289"/>
              </p:ext>
            </p:extLst>
          </p:nvPr>
        </p:nvGraphicFramePr>
        <p:xfrm>
          <a:off x="794650" y="2112579"/>
          <a:ext cx="7572655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88">
                  <a:extLst>
                    <a:ext uri="{9D8B030D-6E8A-4147-A177-3AD203B41FA5}">
                      <a16:colId xmlns:a16="http://schemas.microsoft.com/office/drawing/2014/main" val="2010046630"/>
                    </a:ext>
                  </a:extLst>
                </a:gridCol>
                <a:gridCol w="1922916">
                  <a:extLst>
                    <a:ext uri="{9D8B030D-6E8A-4147-A177-3AD203B41FA5}">
                      <a16:colId xmlns:a16="http://schemas.microsoft.com/office/drawing/2014/main" val="2587863098"/>
                    </a:ext>
                  </a:extLst>
                </a:gridCol>
                <a:gridCol w="1871788">
                  <a:extLst>
                    <a:ext uri="{9D8B030D-6E8A-4147-A177-3AD203B41FA5}">
                      <a16:colId xmlns:a16="http://schemas.microsoft.com/office/drawing/2014/main" val="3184015347"/>
                    </a:ext>
                  </a:extLst>
                </a:gridCol>
                <a:gridCol w="1906163">
                  <a:extLst>
                    <a:ext uri="{9D8B030D-6E8A-4147-A177-3AD203B41FA5}">
                      <a16:colId xmlns:a16="http://schemas.microsoft.com/office/drawing/2014/main" val="4283030361"/>
                    </a:ext>
                  </a:extLst>
                </a:gridCol>
              </a:tblGrid>
              <a:tr h="615611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Risk Category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Tolerance Limit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Discount Rate (2025-26)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Trigger Metric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418320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Cost Overruns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CPI ≥ 0.90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8%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CPI &lt; 0.85 for 2 consecutive PIs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707065"/>
                  </a:ext>
                </a:extLst>
              </a:tr>
              <a:tr h="86518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Schedule Delays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SPI ≥ 0.95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SPI &lt; 0.90 + Strategic Debt &gt;20%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839042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Regulatory Compliance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Zero violations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12%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New policy impact &gt;€100k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902355"/>
                  </a:ext>
                </a:extLst>
              </a:tr>
              <a:tr h="86518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Technology Failure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R&amp;D budget ≤15% of BAC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10%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Technical feasibility score &lt;3/5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06429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ESG Non-Compliance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Carbon impact ≤5% over target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15%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ESG score &lt;4/5 in scoring model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729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C7E94A-A719-0C72-CB61-A50A62DC8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820400"/>
              </p:ext>
            </p:extLst>
          </p:nvPr>
        </p:nvGraphicFramePr>
        <p:xfrm>
          <a:off x="649941" y="2106705"/>
          <a:ext cx="808504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1260">
                  <a:extLst>
                    <a:ext uri="{9D8B030D-6E8A-4147-A177-3AD203B41FA5}">
                      <a16:colId xmlns:a16="http://schemas.microsoft.com/office/drawing/2014/main" val="3562234909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2505946033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1301481145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227661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Risk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Tolerance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Discount Rate (2025-26)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Trigger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762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42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CEF6E-5229-79E1-6D39-A0B97074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5 Portfolio Risks &amp; Mitigation Strategies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AB2697-8488-C6D0-FC8A-A9D5B2E52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73614"/>
              </p:ext>
            </p:extLst>
          </p:nvPr>
        </p:nvGraphicFramePr>
        <p:xfrm>
          <a:off x="621394" y="1966293"/>
          <a:ext cx="7901210" cy="445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702">
                  <a:extLst>
                    <a:ext uri="{9D8B030D-6E8A-4147-A177-3AD203B41FA5}">
                      <a16:colId xmlns:a16="http://schemas.microsoft.com/office/drawing/2014/main" val="3954616496"/>
                    </a:ext>
                  </a:extLst>
                </a:gridCol>
                <a:gridCol w="1486552">
                  <a:extLst>
                    <a:ext uri="{9D8B030D-6E8A-4147-A177-3AD203B41FA5}">
                      <a16:colId xmlns:a16="http://schemas.microsoft.com/office/drawing/2014/main" val="3135474849"/>
                    </a:ext>
                  </a:extLst>
                </a:gridCol>
                <a:gridCol w="1195071">
                  <a:extLst>
                    <a:ext uri="{9D8B030D-6E8A-4147-A177-3AD203B41FA5}">
                      <a16:colId xmlns:a16="http://schemas.microsoft.com/office/drawing/2014/main" val="2936178071"/>
                    </a:ext>
                  </a:extLst>
                </a:gridCol>
                <a:gridCol w="1143021">
                  <a:extLst>
                    <a:ext uri="{9D8B030D-6E8A-4147-A177-3AD203B41FA5}">
                      <a16:colId xmlns:a16="http://schemas.microsoft.com/office/drawing/2014/main" val="141481006"/>
                    </a:ext>
                  </a:extLst>
                </a:gridCol>
                <a:gridCol w="2433864">
                  <a:extLst>
                    <a:ext uri="{9D8B030D-6E8A-4147-A177-3AD203B41FA5}">
                      <a16:colId xmlns:a16="http://schemas.microsoft.com/office/drawing/2014/main" val="3202661068"/>
                    </a:ext>
                  </a:extLst>
                </a:gridCol>
              </a:tblGrid>
              <a:tr h="554647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Project(s) Affected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Likelihood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Impact (€)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Mitigation Strategy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185383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Strategic Debt Accumulation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Beta (€500k), Delta (€124k)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624,000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Terminate Beta; freeze Delta until rescue plan approved.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56147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Regulatory Hurdles in Eastern Europe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New Segment, Carbon 2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300,000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Partner with local legal experts; diversify markets.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415182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Technology Maturity (AI/Blockchain)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Serve 1, IoT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450,000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Pilot phased rollout; secure tech partnerships.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57575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Supply Chain Disruptions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Carbon 1, Delta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Dual-source critical components; buffer inventory.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379534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Employee Attrition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All R&amp;D projects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150,000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Enhance retention packages; accelerate upskilling.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0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692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66BA5-78E7-9C12-1C12-024C3247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 b="1">
                <a:solidFill>
                  <a:srgbClr val="FFFFFF"/>
                </a:solidFill>
                <a:ea typeface="Calibri"/>
                <a:cs typeface="Calibri"/>
              </a:rPr>
              <a:t>Risk Governance Actions</a:t>
            </a:r>
            <a:endParaRPr lang="en-US" sz="32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376182-D2B9-71A8-01A0-813877D1D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6230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988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B2A6-99C2-43E3-3553-13BF724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134624" cy="128857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de-DE" sz="2400" err="1">
                <a:ea typeface="Calibri"/>
                <a:cs typeface="Calibri"/>
              </a:rPr>
              <a:t>Opportunities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4598-BA55-EC06-5B73-982A655E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sz="2400">
              <a:ea typeface="+mn-lt"/>
              <a:cs typeface="+mn-lt"/>
            </a:endParaRPr>
          </a:p>
          <a:p>
            <a:endParaRPr lang="de-DE" sz="2400">
              <a:ea typeface="Calibri"/>
              <a:cs typeface="Calibri"/>
            </a:endParaRPr>
          </a:p>
          <a:p>
            <a:pPr marL="285750" indent="-285750"/>
            <a:r>
              <a:rPr lang="de-DE" sz="1800" err="1">
                <a:ea typeface="Calibri"/>
                <a:cs typeface="Calibri"/>
              </a:rPr>
              <a:t>Planting</a:t>
            </a:r>
            <a:r>
              <a:rPr lang="de-DE" sz="1800">
                <a:ea typeface="Calibri"/>
                <a:cs typeface="Calibri"/>
              </a:rPr>
              <a:t> solar </a:t>
            </a:r>
            <a:r>
              <a:rPr lang="de-DE" sz="1800" err="1">
                <a:ea typeface="Calibri"/>
                <a:cs typeface="Calibri"/>
              </a:rPr>
              <a:t>panels</a:t>
            </a:r>
            <a:r>
              <a:rPr lang="de-DE" sz="1800">
                <a:ea typeface="Calibri"/>
                <a:cs typeface="Calibri"/>
              </a:rPr>
              <a:t> in </a:t>
            </a:r>
            <a:r>
              <a:rPr lang="de-DE" sz="1800" err="1">
                <a:ea typeface="Calibri"/>
                <a:cs typeface="Calibri"/>
              </a:rPr>
              <a:t>the</a:t>
            </a:r>
            <a:r>
              <a:rPr lang="de-DE" sz="1800">
                <a:ea typeface="Calibri"/>
                <a:cs typeface="Calibri"/>
              </a:rPr>
              <a:t> </a:t>
            </a:r>
            <a:r>
              <a:rPr lang="en-GB" sz="1800">
                <a:ea typeface="Calibri"/>
                <a:cs typeface="Calibri"/>
              </a:rPr>
              <a:t>ocean it is a </a:t>
            </a:r>
            <a:br>
              <a:rPr lang="en-GB" sz="1800">
                <a:ea typeface="Calibri"/>
                <a:cs typeface="Calibri"/>
              </a:rPr>
            </a:br>
            <a:r>
              <a:rPr lang="en-GB" sz="1800">
                <a:ea typeface="Calibri"/>
                <a:cs typeface="Calibri"/>
              </a:rPr>
              <a:t>very high scenario because low competition.</a:t>
            </a:r>
          </a:p>
          <a:p>
            <a:pPr marL="0" indent="0">
              <a:buNone/>
            </a:pPr>
            <a:endParaRPr lang="en-GB" sz="1800">
              <a:ea typeface="Calibri"/>
              <a:cs typeface="Calibri"/>
            </a:endParaRPr>
          </a:p>
          <a:p>
            <a:pPr marL="285750" indent="-285750"/>
            <a:r>
              <a:rPr lang="en-GB" sz="1800">
                <a:ea typeface="Calibri"/>
                <a:cs typeface="Calibri"/>
              </a:rPr>
              <a:t>Standing in position as market leader.</a:t>
            </a:r>
            <a:br>
              <a:rPr lang="en-GB" sz="1800">
                <a:ea typeface="Calibri"/>
                <a:cs typeface="Calibri"/>
              </a:rPr>
            </a:br>
            <a:r>
              <a:rPr lang="en-GB" sz="1800">
                <a:ea typeface="Calibri"/>
                <a:cs typeface="Calibri"/>
              </a:rPr>
              <a:t> </a:t>
            </a:r>
            <a:endParaRPr lang="de-DE" sz="1800">
              <a:ea typeface="Calibri"/>
              <a:cs typeface="Calibri"/>
            </a:endParaRPr>
          </a:p>
          <a:p>
            <a:pPr marL="285750" indent="-285750"/>
            <a:r>
              <a:rPr lang="en-GB" sz="1800">
                <a:ea typeface="Calibri"/>
                <a:cs typeface="Calibri"/>
              </a:rPr>
              <a:t>Control over service ecosystem.</a:t>
            </a:r>
            <a:endParaRPr lang="de-DE" sz="1800">
              <a:ea typeface="Calibri"/>
              <a:cs typeface="Calibri"/>
            </a:endParaRPr>
          </a:p>
          <a:p>
            <a:pPr marL="0" indent="0">
              <a:buNone/>
            </a:pPr>
            <a:endParaRPr lang="de-DE" sz="2400">
              <a:ea typeface="Calibri"/>
              <a:cs typeface="Calibri"/>
            </a:endParaRPr>
          </a:p>
        </p:txBody>
      </p:sp>
      <p:pic>
        <p:nvPicPr>
          <p:cNvPr id="4" name="Picture 3" descr="Blue arrows pointing at a red button">
            <a:extLst>
              <a:ext uri="{FF2B5EF4-FFF2-40B4-BE49-F238E27FC236}">
                <a16:creationId xmlns:a16="http://schemas.microsoft.com/office/drawing/2014/main" id="{E3D25CAC-B7E2-8B7C-0418-9CADE68AD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60" r="18185" b="-1"/>
          <a:stretch/>
        </p:blipFill>
        <p:spPr>
          <a:xfrm>
            <a:off x="5209816" y="900388"/>
            <a:ext cx="3934184" cy="51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7BE96-B8ED-9B9D-C30B-38624F8A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b="1">
                <a:solidFill>
                  <a:srgbClr val="FFFFFF"/>
                </a:solidFill>
                <a:latin typeface="Segoe UI"/>
                <a:cs typeface="Segoe UI"/>
              </a:rPr>
              <a:t>Forced Ranking Matrix for </a:t>
            </a:r>
            <a:r>
              <a:rPr lang="en-US" sz="2800" b="1" err="1">
                <a:solidFill>
                  <a:srgbClr val="FFFFFF"/>
                </a:solidFill>
                <a:latin typeface="Segoe UI"/>
                <a:cs typeface="Segoe UI"/>
              </a:rPr>
              <a:t>MaxSolar</a:t>
            </a:r>
            <a:r>
              <a:rPr lang="en-US" sz="2800" b="1">
                <a:solidFill>
                  <a:srgbClr val="FFFFFF"/>
                </a:solidFill>
                <a:latin typeface="Segoe UI"/>
                <a:cs typeface="Segoe UI"/>
              </a:rPr>
              <a:t> Projects</a:t>
            </a:r>
            <a:endParaRPr lang="en-US" sz="2800">
              <a:solidFill>
                <a:srgbClr val="FFFFFF"/>
              </a:solidFill>
              <a:latin typeface="Segoe UI"/>
              <a:cs typeface="Segoe UI"/>
            </a:endParaRPr>
          </a:p>
          <a:p>
            <a:r>
              <a:rPr lang="en-US" sz="2800" i="1">
                <a:solidFill>
                  <a:srgbClr val="FFFFFF"/>
                </a:solidFill>
                <a:latin typeface="Segoe UI"/>
                <a:cs typeface="Segoe UI"/>
              </a:rPr>
              <a:t>(Ranked by Strategic Fit, ROI, and Risk)</a:t>
            </a:r>
            <a:br>
              <a:rPr lang="en-US" sz="2800" i="1">
                <a:solidFill>
                  <a:srgbClr val="FFFFFF"/>
                </a:solidFill>
                <a:latin typeface="Segoe UI"/>
                <a:cs typeface="Segoe UI"/>
              </a:rPr>
            </a:br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Strategic Fit: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5=Perfect alignment with 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MaxSolar’s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mission, 1=No alignment.</a:t>
            </a:r>
            <a:endParaRPr lang="en-US" sz="28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ROI Potential: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5=CPI&gt;1.5, 1=CPI&lt;0.7 </a:t>
            </a:r>
            <a:endParaRPr lang="en-US"/>
          </a:p>
          <a:p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Level: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1=Low (SPI&gt;1.1, stable), 5=Critical (SPI&lt;0.9 or CPI&lt;0.6)</a:t>
            </a:r>
            <a:endParaRPr lang="en-US"/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sz="2800" i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F695A8-F63E-0876-FA8B-12E650489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715227"/>
              </p:ext>
            </p:extLst>
          </p:nvPr>
        </p:nvGraphicFramePr>
        <p:xfrm>
          <a:off x="759065" y="1800911"/>
          <a:ext cx="7625874" cy="43513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67009">
                  <a:extLst>
                    <a:ext uri="{9D8B030D-6E8A-4147-A177-3AD203B41FA5}">
                      <a16:colId xmlns:a16="http://schemas.microsoft.com/office/drawing/2014/main" val="2386839589"/>
                    </a:ext>
                  </a:extLst>
                </a:gridCol>
                <a:gridCol w="1394050">
                  <a:extLst>
                    <a:ext uri="{9D8B030D-6E8A-4147-A177-3AD203B41FA5}">
                      <a16:colId xmlns:a16="http://schemas.microsoft.com/office/drawing/2014/main" val="4220748310"/>
                    </a:ext>
                  </a:extLst>
                </a:gridCol>
                <a:gridCol w="944869">
                  <a:extLst>
                    <a:ext uri="{9D8B030D-6E8A-4147-A177-3AD203B41FA5}">
                      <a16:colId xmlns:a16="http://schemas.microsoft.com/office/drawing/2014/main" val="4106033101"/>
                    </a:ext>
                  </a:extLst>
                </a:gridCol>
                <a:gridCol w="858662">
                  <a:extLst>
                    <a:ext uri="{9D8B030D-6E8A-4147-A177-3AD203B41FA5}">
                      <a16:colId xmlns:a16="http://schemas.microsoft.com/office/drawing/2014/main" val="2556839673"/>
                    </a:ext>
                  </a:extLst>
                </a:gridCol>
                <a:gridCol w="661295">
                  <a:extLst>
                    <a:ext uri="{9D8B030D-6E8A-4147-A177-3AD203B41FA5}">
                      <a16:colId xmlns:a16="http://schemas.microsoft.com/office/drawing/2014/main" val="1301837315"/>
                    </a:ext>
                  </a:extLst>
                </a:gridCol>
                <a:gridCol w="615923">
                  <a:extLst>
                    <a:ext uri="{9D8B030D-6E8A-4147-A177-3AD203B41FA5}">
                      <a16:colId xmlns:a16="http://schemas.microsoft.com/office/drawing/2014/main" val="2678935598"/>
                    </a:ext>
                  </a:extLst>
                </a:gridCol>
                <a:gridCol w="994778">
                  <a:extLst>
                    <a:ext uri="{9D8B030D-6E8A-4147-A177-3AD203B41FA5}">
                      <a16:colId xmlns:a16="http://schemas.microsoft.com/office/drawing/2014/main" val="2386910724"/>
                    </a:ext>
                  </a:extLst>
                </a:gridCol>
                <a:gridCol w="889288">
                  <a:extLst>
                    <a:ext uri="{9D8B030D-6E8A-4147-A177-3AD203B41FA5}">
                      <a16:colId xmlns:a16="http://schemas.microsoft.com/office/drawing/2014/main" val="2820339580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Name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Strategic Fit (1-5)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ROI (CPI-Based)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Risk (1-5)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Total Score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Rank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Decision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Budget (€)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00056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Carbon 2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(ESG leader)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(CPI=1.29)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↑↑ Accelerate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890,000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17767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New Segment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(Market expansion)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(CPI=1.23)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(Medium)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↑ Invest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37895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Serve 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(Operational efficiency)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(CPI=1.08)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Monitor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720,000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446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Delta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(Tech innovation)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(CPI=0.95)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(High)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Pilot Phase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89642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Carbon 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(ESG)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(CPI=0.85)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(Medium)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Descope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7191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Beta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 alignment)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(CPI=0.56)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(Critical)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390,000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5940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IoT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(High cost)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(CPI=0.72)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(Critical)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2,300,000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8365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Delta 2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(Redundant)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(CPI=0.62)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(High)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440,000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00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764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FF1B9-E6B2-BC8F-9C22-4D3BC0C3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chemeClr val="tx2"/>
                </a:solidFill>
                <a:ea typeface="Calibri"/>
                <a:cs typeface="Calibri"/>
              </a:rPr>
              <a:t>How to Use This Matrix</a:t>
            </a:r>
            <a:endParaRPr lang="en-US" sz="35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7"/>
            <a:ext cx="1809167" cy="1810093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4" name="Content Placeholder 303">
            <a:extLst>
              <a:ext uri="{FF2B5EF4-FFF2-40B4-BE49-F238E27FC236}">
                <a16:creationId xmlns:a16="http://schemas.microsoft.com/office/drawing/2014/main" id="{CAB561C9-FEE0-5954-97AE-FED043A8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404040"/>
                </a:solidFill>
              </a:rPr>
              <a:t>             1. Top Quartile (Score: 10-15)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Carbon 2, New Segment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Full funding approval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Priority resource allocation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(team, budget, tools)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Accelerated execution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(fast-track approvals, remove bottlenecks)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Bi-weekly performance reviews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(track CPI/SPI)</a:t>
            </a:r>
            <a:endParaRPr lang="en-US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lang="en-US" sz="1200" b="1">
                <a:solidFill>
                  <a:srgbClr val="404040"/>
                </a:solidFill>
              </a:rPr>
              <a:t>2. Middle Quartile (Score: 7-9)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Serve 1, Delta</a:t>
            </a:r>
            <a:endParaRPr lang="en-US"/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Conditional funding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(partial budget with milestone gates)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Stage-gate approvals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(must hit CPI/SPI targets to unlock next phase)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Monthly risk reviews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(mitigate issues before escalation)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Re-evaluate in next PI Planning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(promote to Top Quartile if improved)</a:t>
            </a:r>
            <a:endParaRPr lang="en-US"/>
          </a:p>
          <a:p>
            <a:pPr marL="457200" lvl="1" indent="0">
              <a:buNone/>
            </a:pPr>
            <a:r>
              <a:rPr lang="en-US" sz="1200" b="1">
                <a:solidFill>
                  <a:srgbClr val="404040"/>
                </a:solidFill>
              </a:rPr>
              <a:t>3. Bottom Quartile (Score: ≤6)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Beta, IoT, Delta 2</a:t>
            </a:r>
            <a:endParaRPr lang="en-US"/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Terminate or descope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(free up resources)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Reallocate funds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to Top Quartile projects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9666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5FB03-A593-119E-26B6-C6E2516A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73" y="841924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  <a:ea typeface="+mj-lt"/>
                <a:cs typeface="+mj-lt"/>
              </a:rPr>
              <a:t>Key EVM Metrics &amp; Definitions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8399D-38BC-FBF7-846B-63E00C201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8317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46753455-8664-1CE1-3648-323BF8AD57D7}"/>
              </a:ext>
            </a:extLst>
          </p:cNvPr>
          <p:cNvSpPr txBox="1"/>
          <p:nvPr/>
        </p:nvSpPr>
        <p:spPr>
          <a:xfrm>
            <a:off x="309282" y="6304429"/>
            <a:ext cx="7315200" cy="3125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825"/>
              </a:lnSpc>
              <a:buFont typeface="Arial,Sans-Serif"/>
              <a:buChar char="•"/>
            </a:pPr>
            <a:r>
              <a:rPr lang="en-US" sz="1200">
                <a:cs typeface="Arial"/>
              </a:rPr>
              <a:t>Reference: </a:t>
            </a:r>
            <a:r>
              <a:rPr lang="en-US" sz="1200">
                <a:solidFill>
                  <a:srgbClr val="404040"/>
                </a:solidFill>
                <a:cs typeface="Arial"/>
              </a:rPr>
              <a:t>Fleming, Q. W., &amp; Koppelman, J. M. (2016). </a:t>
            </a:r>
            <a:r>
              <a:rPr lang="en-US" sz="1200" i="1">
                <a:solidFill>
                  <a:srgbClr val="404040"/>
                </a:solidFill>
                <a:cs typeface="Arial"/>
              </a:rPr>
              <a:t>Earned Value Project Management</a:t>
            </a:r>
            <a:r>
              <a:rPr lang="en-US" sz="1200">
                <a:solidFill>
                  <a:srgbClr val="404040"/>
                </a:solidFill>
                <a:cs typeface="Arial"/>
              </a:rPr>
              <a:t> (4th ed.). PMI.</a:t>
            </a:r>
            <a:r>
              <a:rPr lang="en-US" sz="1200">
                <a:cs typeface="Arial"/>
              </a:rPr>
              <a:t>​</a:t>
            </a:r>
          </a:p>
          <a:p>
            <a:pPr marL="228600" indent="-228600">
              <a:lnSpc>
                <a:spcPts val="825"/>
              </a:lnSpc>
              <a:buFont typeface="Arial,Sans-Serif"/>
              <a:buChar char="•"/>
            </a:pPr>
            <a:r>
              <a:rPr lang="en-US" sz="1200">
                <a:solidFill>
                  <a:srgbClr val="404040"/>
                </a:solidFill>
                <a:cs typeface="Arial"/>
              </a:rPr>
              <a:t>Teacher-provided EVM data (workshop).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CC1503-DF79-EC9A-111A-226F3081F50F}"/>
              </a:ext>
            </a:extLst>
          </p:cNvPr>
          <p:cNvSpPr txBox="1"/>
          <p:nvPr/>
        </p:nvSpPr>
        <p:spPr>
          <a:xfrm>
            <a:off x="487456" y="420220"/>
            <a:ext cx="834277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ea typeface="Calibri"/>
                <a:cs typeface="Calibri"/>
              </a:rPr>
              <a:t>Earned Value Management (EVM) Evaluation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92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5A3AB-112F-4AB9-E34F-97DCFA9E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ea typeface="+mj-lt"/>
                <a:cs typeface="+mj-lt"/>
              </a:rPr>
              <a:t>EVM Metrics - Project Alpha</a:t>
            </a: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8EAFC7-DD09-B0B8-3B3A-332BAD9FC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345840"/>
              </p:ext>
            </p:extLst>
          </p:nvPr>
        </p:nvGraphicFramePr>
        <p:xfrm>
          <a:off x="483042" y="2413410"/>
          <a:ext cx="8195869" cy="40748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513044">
                  <a:extLst>
                    <a:ext uri="{9D8B030D-6E8A-4147-A177-3AD203B41FA5}">
                      <a16:colId xmlns:a16="http://schemas.microsoft.com/office/drawing/2014/main" val="1747240578"/>
                    </a:ext>
                  </a:extLst>
                </a:gridCol>
                <a:gridCol w="1523007">
                  <a:extLst>
                    <a:ext uri="{9D8B030D-6E8A-4147-A177-3AD203B41FA5}">
                      <a16:colId xmlns:a16="http://schemas.microsoft.com/office/drawing/2014/main" val="3257214310"/>
                    </a:ext>
                  </a:extLst>
                </a:gridCol>
                <a:gridCol w="3159818">
                  <a:extLst>
                    <a:ext uri="{9D8B030D-6E8A-4147-A177-3AD203B41FA5}">
                      <a16:colId xmlns:a16="http://schemas.microsoft.com/office/drawing/2014/main" val="85178712"/>
                    </a:ext>
                  </a:extLst>
                </a:gridCol>
              </a:tblGrid>
              <a:tr h="338891"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Formula/Explanation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21297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Budget at Completion (BAC)</a:t>
                      </a: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€200,000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Total approved budget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908892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Planned Value (PV)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€76,000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Budgeted work to date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45757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Earned Value (EV)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€84,000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PV + Schedule Variance = 76k + 8k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09718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Actual Cost (AC)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€90,000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Actual spend to date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42281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Cost Variance (CV)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-€6,000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EV - AC = 84k - 90k </a:t>
                      </a:r>
                      <a:r>
                        <a:rPr lang="en-US" sz="1300" i="1" cap="none" spc="0">
                          <a:solidFill>
                            <a:schemeClr val="tx1"/>
                          </a:solidFill>
                          <a:effectLst/>
                        </a:rPr>
                        <a:t>(Over budget)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066841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Schedule Variance (SV)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+€8,000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EV - PV = 84k - 76k </a:t>
                      </a:r>
                      <a:r>
                        <a:rPr lang="en-US" sz="1100" i="1" cap="none" spc="0">
                          <a:solidFill>
                            <a:schemeClr val="tx1"/>
                          </a:solidFill>
                          <a:effectLst/>
                        </a:rPr>
                        <a:t>(Ahead of schedule)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762906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% Complete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42%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(EV / BAC) = 84k / 200k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52831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Variance at Completion (VAC)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+€2,000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BAC (200k) - EAC (198k)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286414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Strategic Debt(Strategic Debt=∑(Cost to fix deferred work)</a:t>
                      </a: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+€45,000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cap="none" spc="0" noProof="0">
                        <a:solidFill>
                          <a:srgbClr val="404040"/>
                        </a:solidFill>
                        <a:effectLst/>
                        <a:latin typeface="Calibri"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786998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Estimated New Length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15months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Original timeline (no change)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71773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1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*EAC = AC (90k) + ETC (100k) + Strategic Debt (8k) </a:t>
                      </a: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214 K</a:t>
                      </a: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840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A7D2-CF9C-4D83-783E-295902F0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53600CE-9439-3AAD-8AF2-B3EAE3E2B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45062"/>
              </p:ext>
            </p:extLst>
          </p:nvPr>
        </p:nvGraphicFramePr>
        <p:xfrm>
          <a:off x="193705" y="3108082"/>
          <a:ext cx="8478631" cy="3307818"/>
        </p:xfrm>
        <a:graphic>
          <a:graphicData uri="http://schemas.openxmlformats.org/drawingml/2006/table">
            <a:tbl>
              <a:tblPr/>
              <a:tblGrid>
                <a:gridCol w="201705">
                  <a:extLst>
                    <a:ext uri="{9D8B030D-6E8A-4147-A177-3AD203B41FA5}">
                      <a16:colId xmlns:a16="http://schemas.microsoft.com/office/drawing/2014/main" val="1559582588"/>
                    </a:ext>
                  </a:extLst>
                </a:gridCol>
                <a:gridCol w="376779">
                  <a:extLst>
                    <a:ext uri="{9D8B030D-6E8A-4147-A177-3AD203B41FA5}">
                      <a16:colId xmlns:a16="http://schemas.microsoft.com/office/drawing/2014/main" val="994191200"/>
                    </a:ext>
                  </a:extLst>
                </a:gridCol>
                <a:gridCol w="575508">
                  <a:extLst>
                    <a:ext uri="{9D8B030D-6E8A-4147-A177-3AD203B41FA5}">
                      <a16:colId xmlns:a16="http://schemas.microsoft.com/office/drawing/2014/main" val="3547592053"/>
                    </a:ext>
                  </a:extLst>
                </a:gridCol>
                <a:gridCol w="560559">
                  <a:extLst>
                    <a:ext uri="{9D8B030D-6E8A-4147-A177-3AD203B41FA5}">
                      <a16:colId xmlns:a16="http://schemas.microsoft.com/office/drawing/2014/main" val="1247716195"/>
                    </a:ext>
                  </a:extLst>
                </a:gridCol>
                <a:gridCol w="538137">
                  <a:extLst>
                    <a:ext uri="{9D8B030D-6E8A-4147-A177-3AD203B41FA5}">
                      <a16:colId xmlns:a16="http://schemas.microsoft.com/office/drawing/2014/main" val="2248050884"/>
                    </a:ext>
                  </a:extLst>
                </a:gridCol>
                <a:gridCol w="597930">
                  <a:extLst>
                    <a:ext uri="{9D8B030D-6E8A-4147-A177-3AD203B41FA5}">
                      <a16:colId xmlns:a16="http://schemas.microsoft.com/office/drawing/2014/main" val="2751736065"/>
                    </a:ext>
                  </a:extLst>
                </a:gridCol>
                <a:gridCol w="590456">
                  <a:extLst>
                    <a:ext uri="{9D8B030D-6E8A-4147-A177-3AD203B41FA5}">
                      <a16:colId xmlns:a16="http://schemas.microsoft.com/office/drawing/2014/main" val="201200359"/>
                    </a:ext>
                  </a:extLst>
                </a:gridCol>
                <a:gridCol w="680146">
                  <a:extLst>
                    <a:ext uri="{9D8B030D-6E8A-4147-A177-3AD203B41FA5}">
                      <a16:colId xmlns:a16="http://schemas.microsoft.com/office/drawing/2014/main" val="3107538947"/>
                    </a:ext>
                  </a:extLst>
                </a:gridCol>
                <a:gridCol w="605402">
                  <a:extLst>
                    <a:ext uri="{9D8B030D-6E8A-4147-A177-3AD203B41FA5}">
                      <a16:colId xmlns:a16="http://schemas.microsoft.com/office/drawing/2014/main" val="3981337741"/>
                    </a:ext>
                  </a:extLst>
                </a:gridCol>
                <a:gridCol w="620351">
                  <a:extLst>
                    <a:ext uri="{9D8B030D-6E8A-4147-A177-3AD203B41FA5}">
                      <a16:colId xmlns:a16="http://schemas.microsoft.com/office/drawing/2014/main" val="2444652495"/>
                    </a:ext>
                  </a:extLst>
                </a:gridCol>
                <a:gridCol w="657724">
                  <a:extLst>
                    <a:ext uri="{9D8B030D-6E8A-4147-A177-3AD203B41FA5}">
                      <a16:colId xmlns:a16="http://schemas.microsoft.com/office/drawing/2014/main" val="2854777054"/>
                    </a:ext>
                  </a:extLst>
                </a:gridCol>
                <a:gridCol w="657724">
                  <a:extLst>
                    <a:ext uri="{9D8B030D-6E8A-4147-A177-3AD203B41FA5}">
                      <a16:colId xmlns:a16="http://schemas.microsoft.com/office/drawing/2014/main" val="2150271206"/>
                    </a:ext>
                  </a:extLst>
                </a:gridCol>
                <a:gridCol w="605402">
                  <a:extLst>
                    <a:ext uri="{9D8B030D-6E8A-4147-A177-3AD203B41FA5}">
                      <a16:colId xmlns:a16="http://schemas.microsoft.com/office/drawing/2014/main" val="819086562"/>
                    </a:ext>
                  </a:extLst>
                </a:gridCol>
                <a:gridCol w="358757">
                  <a:extLst>
                    <a:ext uri="{9D8B030D-6E8A-4147-A177-3AD203B41FA5}">
                      <a16:colId xmlns:a16="http://schemas.microsoft.com/office/drawing/2014/main" val="212791121"/>
                    </a:ext>
                  </a:extLst>
                </a:gridCol>
                <a:gridCol w="388655">
                  <a:extLst>
                    <a:ext uri="{9D8B030D-6E8A-4147-A177-3AD203B41FA5}">
                      <a16:colId xmlns:a16="http://schemas.microsoft.com/office/drawing/2014/main" val="1458041116"/>
                    </a:ext>
                  </a:extLst>
                </a:gridCol>
                <a:gridCol w="463396">
                  <a:extLst>
                    <a:ext uri="{9D8B030D-6E8A-4147-A177-3AD203B41FA5}">
                      <a16:colId xmlns:a16="http://schemas.microsoft.com/office/drawing/2014/main" val="2586894579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Name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Budget at Completion (BAC)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Length (Months)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Planned Value (PV)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Schedule Variance (SV)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Actual Cost (AC)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Cost Variance (CV)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Earned Value (EV)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Estimated / New length (Months)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Strategic debt</a:t>
                      </a:r>
                      <a:endParaRPr lang="fi-FI" sz="600" b="1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Variance at Completion (VAC)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complete</a:t>
                      </a:r>
                      <a:endParaRPr lang="fi-FI" sz="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EAC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92867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Alpha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76 000 €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84 000 €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14,4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45 112,8 €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-14 286 €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42,00 %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214 286 €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69309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Beta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390 000 €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260 000 €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6,2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-225 000,0 €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-97 500 €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51,28 %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487 500 €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26360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280 000 €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225 000 €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19,3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71 111,1 €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-97 778 €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56,25 %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497 778 €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73955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Nord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1 900 000 €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35,5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-48 666,7 €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50 667 €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19,74 %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1 849 333 €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95763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Sky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95 333,3 €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9,09 %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89393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Carbon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31 000 €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17 714,3 €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-57 143 €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17,50 %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177 143 €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12236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Carbon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890 000 €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750 000 €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690 000 €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24,0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-68 233,3 €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37 083 €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80,90 %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852 917 €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905255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Serve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386 000 €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3 264,2 €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55,56 %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432331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440 000 €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76 000 €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-39 000 €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-338 000 €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6,3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-4 576 813,7 €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-4 019 459 €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8,41 %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4 459 459 €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990905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IoT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2 300 000 €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-12 000 €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-261 830,4 €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772 656 €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5,57 %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1 527 344 €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34716"/>
                  </a:ext>
                </a:extLst>
              </a:tr>
              <a:tr h="306033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new segment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800 000 €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34 000 €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319 000 €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454 000 €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38 514,8 €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562 115 €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56,75 %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3,36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237 885 €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113405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Process Transformation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-272 000 €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197 750,7 €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-630 725 €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43,13 %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950 725 €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94461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 3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88 000 €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-29 000 €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86 000 €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-9 117,3 €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-50 581 €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57,33 %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200 581 €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343117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Beta 2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275 000 €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87 000 €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88 000 €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175 000 €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18,7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45 571,4 €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138 286 €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63,64 %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2,01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136 714 €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20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EEACE5-0664-A17D-4A7F-676B3C4FA41A}"/>
              </a:ext>
            </a:extLst>
          </p:cNvPr>
          <p:cNvSpPr txBox="1"/>
          <p:nvPr/>
        </p:nvSpPr>
        <p:spPr>
          <a:xfrm>
            <a:off x="235458" y="1459683"/>
            <a:ext cx="8673083" cy="16435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ea typeface="+mn-lt"/>
                <a:cs typeface="+mn-lt"/>
              </a:rPr>
              <a:t>Objective:</a:t>
            </a:r>
            <a:r>
              <a:rPr lang="en-US" sz="1400">
                <a:ea typeface="+mn-lt"/>
                <a:cs typeface="+mn-lt"/>
              </a:rPr>
              <a:t> Assess cost/schedule health across all projects</a:t>
            </a:r>
            <a:endParaRPr lang="en-US" sz="14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Key Metrics: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>
                <a:latin typeface="Consolas"/>
              </a:rPr>
              <a:t>CPI = EV/AC</a:t>
            </a:r>
            <a:r>
              <a:rPr lang="en-US" sz="1400">
                <a:ea typeface="+mn-lt"/>
                <a:cs typeface="+mn-lt"/>
              </a:rPr>
              <a:t> (Cost Performance Index)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>
                <a:latin typeface="Consolas"/>
              </a:rPr>
              <a:t>SPI = EV/PV</a:t>
            </a:r>
            <a:r>
              <a:rPr lang="en-US" sz="1400">
                <a:ea typeface="+mn-lt"/>
                <a:cs typeface="+mn-lt"/>
              </a:rPr>
              <a:t> (Schedule Performance Index)</a:t>
            </a:r>
            <a:endParaRPr lang="en-US" sz="14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Thresholds: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Green Zone:</a:t>
            </a:r>
            <a:r>
              <a:rPr lang="en-US" sz="1400">
                <a:ea typeface="+mn-lt"/>
                <a:cs typeface="+mn-lt"/>
              </a:rPr>
              <a:t> CPI/SPI ≥ 1.0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Yellow Zone:</a:t>
            </a:r>
            <a:r>
              <a:rPr lang="en-US" sz="1400">
                <a:ea typeface="+mn-lt"/>
                <a:cs typeface="+mn-lt"/>
              </a:rPr>
              <a:t> 0.9 ≤ CPI/SPI &lt; 1.0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Red Zone:</a:t>
            </a:r>
            <a:r>
              <a:rPr lang="en-US" sz="1400">
                <a:ea typeface="+mn-lt"/>
                <a:cs typeface="+mn-lt"/>
              </a:rPr>
              <a:t> CPI/SPI &lt; 0.9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8B95F42-4444-EB14-61CA-760F30F8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Portfolio EVM Performance Summary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72CC51-F40C-44B6-A901-C8CD5E29D73B}"/>
              </a:ext>
            </a:extLst>
          </p:cNvPr>
          <p:cNvSpPr/>
          <p:nvPr/>
        </p:nvSpPr>
        <p:spPr>
          <a:xfrm>
            <a:off x="7490540" y="3626359"/>
            <a:ext cx="290898" cy="294155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FI" sz="11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544270-8215-D297-2525-EF0204F8D9F4}"/>
              </a:ext>
            </a:extLst>
          </p:cNvPr>
          <p:cNvSpPr/>
          <p:nvPr/>
        </p:nvSpPr>
        <p:spPr>
          <a:xfrm>
            <a:off x="7868809" y="3623424"/>
            <a:ext cx="304112" cy="295476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FI" sz="1100"/>
          </a:p>
        </p:txBody>
      </p:sp>
    </p:spTree>
    <p:extLst>
      <p:ext uri="{BB962C8B-B14F-4D97-AF65-F5344CB8AC3E}">
        <p14:creationId xmlns:p14="http://schemas.microsoft.com/office/powerpoint/2010/main" val="4208465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244EC69-3134-3CB6-C108-D78AF981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1" r="30193" b="9085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29BBD-77E8-F8DC-8516-6BEA6D32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120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b="1"/>
              <a:t>Portfolio EVM Bull’s-Eye Chart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8E831-AF45-5C0C-3EA0-E9D1B0DC1F82}"/>
              </a:ext>
            </a:extLst>
          </p:cNvPr>
          <p:cNvSpPr txBox="1"/>
          <p:nvPr/>
        </p:nvSpPr>
        <p:spPr>
          <a:xfrm>
            <a:off x="401053" y="6341489"/>
            <a:ext cx="60814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Calibri"/>
                <a:cs typeface="Calibri"/>
              </a:rPr>
              <a:t>Reference: </a:t>
            </a:r>
            <a:r>
              <a:rPr lang="en-US" sz="800">
                <a:solidFill>
                  <a:srgbClr val="404040"/>
                </a:solidFill>
                <a:ea typeface="+mn-lt"/>
                <a:cs typeface="+mn-lt"/>
              </a:rPr>
              <a:t>Cooper et al. (2001), pp. 145-150 (Visual portfolio tools).</a:t>
            </a:r>
            <a:endParaRPr lang="en-US" sz="800">
              <a:ea typeface="Calibri"/>
              <a:cs typeface="Calibri"/>
            </a:endParaRPr>
          </a:p>
          <a:p>
            <a:r>
              <a:rPr lang="en-US" sz="800">
                <a:solidFill>
                  <a:srgbClr val="404040"/>
                </a:solidFill>
                <a:ea typeface="+mn-lt"/>
                <a:cs typeface="+mn-lt"/>
              </a:rPr>
              <a:t>PMI (2017), p. 102 (EVM for portfolios)</a:t>
            </a:r>
            <a:endParaRPr lang="en-US" sz="80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99ADAC5-6BC5-ED56-CE69-B8187954B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97C5B-582F-FFF9-B7D9-5813FAE7DC54}"/>
              </a:ext>
            </a:extLst>
          </p:cNvPr>
          <p:cNvSpPr txBox="1"/>
          <p:nvPr/>
        </p:nvSpPr>
        <p:spPr>
          <a:xfrm>
            <a:off x="401053" y="5374548"/>
            <a:ext cx="51219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Elimination criteria</a:t>
            </a:r>
          </a:p>
          <a:p>
            <a:r>
              <a:rPr lang="en-US" sz="1000"/>
              <a:t>1. Cost Performance Index (CPI)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CPI &lt; 1 means the project is over budget (each unit of work has cost more than planned)</a:t>
            </a:r>
          </a:p>
          <a:p>
            <a:r>
              <a:rPr lang="en-US" sz="1000"/>
              <a:t>2. Schedule Performance Index (SPI)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CPI &lt; 1 means the project is behind the schedule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7616BFD-4D01-706D-2EDF-82FAEDD939F1}"/>
              </a:ext>
            </a:extLst>
          </p:cNvPr>
          <p:cNvSpPr/>
          <p:nvPr/>
        </p:nvSpPr>
        <p:spPr>
          <a:xfrm>
            <a:off x="5531614" y="6022142"/>
            <a:ext cx="612638" cy="414600"/>
          </a:xfrm>
          <a:prstGeom prst="rightArrow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5B565-FA49-D553-5329-9330001679C5}"/>
              </a:ext>
            </a:extLst>
          </p:cNvPr>
          <p:cNvSpPr txBox="1"/>
          <p:nvPr/>
        </p:nvSpPr>
        <p:spPr>
          <a:xfrm>
            <a:off x="6495741" y="5647179"/>
            <a:ext cx="2535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Decision for projects to be eliminated</a:t>
            </a:r>
          </a:p>
          <a:p>
            <a:endParaRPr lang="en-US" sz="1000"/>
          </a:p>
          <a:p>
            <a:r>
              <a:rPr lang="en-US" sz="1000"/>
              <a:t>2. Project Beta</a:t>
            </a:r>
          </a:p>
          <a:p>
            <a:r>
              <a:rPr lang="en-US" sz="1000"/>
              <a:t>9 Project Delta 2</a:t>
            </a:r>
          </a:p>
        </p:txBody>
      </p:sp>
      <p:pic>
        <p:nvPicPr>
          <p:cNvPr id="7" name="Picture 6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02EF96D8-6A81-C081-2614-B93F71C9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1300163"/>
            <a:ext cx="7058025" cy="394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44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8279C-1AF8-09D8-4421-A1B9FA13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Portfolio EVM Bull’s-Eye Chart</a:t>
            </a:r>
            <a:endParaRPr lang="en-US" sz="4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7A05B85-1FBC-D083-D97C-975F48DE44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683532"/>
              </p:ext>
            </p:extLst>
          </p:nvPr>
        </p:nvGraphicFramePr>
        <p:xfrm>
          <a:off x="128016" y="1416368"/>
          <a:ext cx="8705088" cy="505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7372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300"/>
              <a:t>Strategic Recommendations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DD771A8B-F34A-80D6-1468-660012C1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18" r="2803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575995"/>
            <a:ext cx="4688333" cy="34838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900"/>
              <a:t>Short-Term:</a:t>
            </a:r>
          </a:p>
          <a:p>
            <a:pPr marL="0" indent="0">
              <a:buNone/>
            </a:pPr>
            <a:r>
              <a:rPr lang="en-US" sz="1900"/>
              <a:t>- Focus on markets with strong government support.</a:t>
            </a:r>
            <a:endParaRPr lang="en-US" sz="190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1900"/>
              <a:t>Invest in digital tools for operational efficiency.</a:t>
            </a:r>
            <a:endParaRPr lang="en-US" sz="190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1900">
                <a:ea typeface="Calibri"/>
                <a:cs typeface="Calibri"/>
              </a:rPr>
              <a:t>Enhance customers engagement &amp; awareness.</a:t>
            </a:r>
          </a:p>
          <a:p>
            <a:pPr marL="0" indent="0">
              <a:buNone/>
            </a:pPr>
            <a:endParaRPr lang="en-US" sz="1900"/>
          </a:p>
          <a:p>
            <a:r>
              <a:rPr lang="en-US" sz="1900"/>
              <a:t>Long-Term:</a:t>
            </a: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/>
              <a:t>- Expand R&amp;D for innovative solutions (e.g., energy storage).</a:t>
            </a: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/>
              <a:t>- Diversify geographically to reduce risks.</a:t>
            </a:r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sz="1700"/>
              <a:t>Key Takeaways:</a:t>
            </a:r>
          </a:p>
          <a:p>
            <a:r>
              <a:rPr sz="1700"/>
              <a:t>- MaxSolar is well-positioned to capitalize on renewable energy trends.</a:t>
            </a:r>
          </a:p>
          <a:p>
            <a:r>
              <a:rPr sz="1700"/>
              <a:t>- Strategic focus on financial growth, customer satisfaction, and innovation is critical.</a:t>
            </a:r>
          </a:p>
          <a:p>
            <a:r>
              <a:rPr sz="1700"/>
              <a:t>- Proactive risk management and governance ensure long-term success.</a:t>
            </a:r>
          </a:p>
        </p:txBody>
      </p:sp>
      <p:pic>
        <p:nvPicPr>
          <p:cNvPr id="23" name="Picture 22" descr="A line graph adjacent to a stair">
            <a:extLst>
              <a:ext uri="{FF2B5EF4-FFF2-40B4-BE49-F238E27FC236}">
                <a16:creationId xmlns:a16="http://schemas.microsoft.com/office/drawing/2014/main" id="{3759E077-A408-0EE6-C398-513CFAFC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2" r="10521" b="-8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74E5D-13DB-FC08-7228-70D462AF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15" y="548640"/>
            <a:ext cx="2912066" cy="5431536"/>
          </a:xfrm>
        </p:spPr>
        <p:txBody>
          <a:bodyPr>
            <a:normAutofit/>
          </a:bodyPr>
          <a:lstStyle/>
          <a:p>
            <a:r>
              <a:rPr lang="en-US" sz="3600">
                <a:latin typeface="Consolas"/>
              </a:rPr>
              <a:t>References</a:t>
            </a:r>
            <a:endParaRPr lang="en-US" sz="3600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CBE35-2EA7-8B02-35C1-505FACDF2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>
                <a:latin typeface="Consolas"/>
              </a:rPr>
              <a:t>
- AXELOS. (2020). *Managing Successful Programmes (MSP)* (5th ed.).  
- Cooper, R. G., et al. (2001). *Portfolio Management for New Products*. Basic Books.  
- ISO 31000:2018. *Risk Management Guidelines*.  
- Kaplan, R. S., &amp; Norton, D. P. (1996). *The Balanced Scorecard*. HBP.  
- Kodukula, P. (2014). *Project Portfolio Management*. J. Ross Publishing.  
- PMI. (2017). *The Standard for Portfolio Management* (4th ed.).  
- Teacher-provided workshop materials (2025).  </a:t>
            </a:r>
            <a:endParaRPr lang="en-US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3406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61412A-23DA-59CA-8700-ECB6FF543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11982"/>
              </p:ext>
            </p:extLst>
          </p:nvPr>
        </p:nvGraphicFramePr>
        <p:xfrm>
          <a:off x="482600" y="705749"/>
          <a:ext cx="7971530" cy="522093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416843">
                  <a:extLst>
                    <a:ext uri="{9D8B030D-6E8A-4147-A177-3AD203B41FA5}">
                      <a16:colId xmlns:a16="http://schemas.microsoft.com/office/drawing/2014/main" val="857492651"/>
                    </a:ext>
                  </a:extLst>
                </a:gridCol>
                <a:gridCol w="1311505">
                  <a:extLst>
                    <a:ext uri="{9D8B030D-6E8A-4147-A177-3AD203B41FA5}">
                      <a16:colId xmlns:a16="http://schemas.microsoft.com/office/drawing/2014/main" val="4128054163"/>
                    </a:ext>
                  </a:extLst>
                </a:gridCol>
                <a:gridCol w="2121591">
                  <a:extLst>
                    <a:ext uri="{9D8B030D-6E8A-4147-A177-3AD203B41FA5}">
                      <a16:colId xmlns:a16="http://schemas.microsoft.com/office/drawing/2014/main" val="2852166320"/>
                    </a:ext>
                  </a:extLst>
                </a:gridCol>
                <a:gridCol w="2121591">
                  <a:extLst>
                    <a:ext uri="{9D8B030D-6E8A-4147-A177-3AD203B41FA5}">
                      <a16:colId xmlns:a16="http://schemas.microsoft.com/office/drawing/2014/main" val="1182656816"/>
                    </a:ext>
                  </a:extLst>
                </a:gridCol>
              </a:tblGrid>
              <a:tr h="81852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Student Name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Student Number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Contribution in the group work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85597"/>
                  </a:ext>
                </a:extLst>
              </a:tr>
              <a:tr h="4292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Workshop 1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Workshop 2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908634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Nasim Mahmoudi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effectLst/>
                        </a:rPr>
                        <a:t>2402263</a:t>
                      </a:r>
                      <a:endParaRPr lang="en-US"/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  <a:endParaRPr lang="en-US"/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605769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Juhani Eskola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2403897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Not attended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11293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  Chippy Chandra Pillai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2403836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 Not attended (Half day present in class)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              Attended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640194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Md Hossain Aman 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2500637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Not attended(Half day present in class)</a:t>
                      </a:r>
                      <a:endParaRPr lang="en-US" sz="1600" b="0" i="0" u="none" strike="noStrike" cap="none" spc="0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889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Redouane Afilali</a:t>
                      </a:r>
                      <a:endParaRPr lang="en-US" sz="1600" cap="none" spc="0" err="1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2403366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Not attended physically (but online)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</a:p>
                  </a:txBody>
                  <a:tcPr marL="18341" marR="18341" marT="17607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205353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Mikael Latva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2303978</a:t>
                      </a:r>
                      <a:endParaRPr lang="en-US"/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Not attended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Attended</a:t>
                      </a: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303411"/>
                  </a:ext>
                </a:extLst>
              </a:tr>
              <a:tr h="429229">
                <a:tc>
                  <a:txBody>
                    <a:bodyPr/>
                    <a:lstStyle/>
                    <a:p>
                      <a:pPr algn="ctr" fontAlgn="b"/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18341" marR="18341" marT="176072" marB="0" anchor="b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509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On-screen Show (4:3)</PresentationFormat>
  <Slides>47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Strategic Analysis of MaxSolar</vt:lpstr>
      <vt:lpstr>Agenda</vt:lpstr>
      <vt:lpstr>MaxSolar</vt:lpstr>
      <vt:lpstr>MaxSolar’s positioning in Renewable energy market</vt:lpstr>
      <vt:lpstr>Strategic Framework (Balanced Scorecard)</vt:lpstr>
      <vt:lpstr>Strategic Framework (Balanced Scorecard)</vt:lpstr>
      <vt:lpstr>MaxSolar: Balanced Scorecard</vt:lpstr>
      <vt:lpstr>PESTEL Analysis</vt:lpstr>
      <vt:lpstr>PESTEL Opportunities and Threats</vt:lpstr>
      <vt:lpstr>MaxSolar Project Portfolio Scoring Model - Integrated Renewable Energy Solutions and Project Portfolio Management at MaxSolar</vt:lpstr>
      <vt:lpstr>MaxSolar Project Portfolio Table for Proposed Project Portfolio Scoring Model</vt:lpstr>
      <vt:lpstr>Proposed Project Portfolio Scoring Model for MaxSolar </vt:lpstr>
      <vt:lpstr>Strategic Portfolio Buckets (Suggested Distribution)</vt:lpstr>
      <vt:lpstr>NPV vs. Risk portfolio balance chart, adapted for MaxSolar. The chart presents hypothetical projects represented as variable sized crosses Presenting strength of each project</vt:lpstr>
      <vt:lpstr>Portfolio Evaluation Charts To visualise and balance MaxSolar’s projectportfolio</vt:lpstr>
      <vt:lpstr>MaxSolar Project Portfolio Evaluation: Score – Ranking</vt:lpstr>
      <vt:lpstr>Recommendation Summary Summary for MaxSolar’s Strategic Project Portfolio</vt:lpstr>
      <vt:lpstr>MaxSolar Resource Allocation Plan</vt:lpstr>
      <vt:lpstr>MaxSolar Resource Allocation Plan</vt:lpstr>
      <vt:lpstr>Portfolio-Level Observations</vt:lpstr>
      <vt:lpstr>Discussion and Implications</vt:lpstr>
      <vt:lpstr>Scoring Model</vt:lpstr>
      <vt:lpstr>Scoring model</vt:lpstr>
      <vt:lpstr>Scoring model</vt:lpstr>
      <vt:lpstr>Scoring model</vt:lpstr>
      <vt:lpstr>Resource Allocation</vt:lpstr>
      <vt:lpstr>Governance Model</vt:lpstr>
      <vt:lpstr>PowerPoint Presentation</vt:lpstr>
      <vt:lpstr>Role of PMO in Portfolio Governance</vt:lpstr>
      <vt:lpstr>Screening of New Projects</vt:lpstr>
      <vt:lpstr>Level 1 (L1) Screening Using MaxSolar’s Scoring Model (Align with Strategic Buckets: Growth, Sustainability, Innovation) </vt:lpstr>
      <vt:lpstr>Risk Management Framework  Risk Categories (aligned with PESTEL): </vt:lpstr>
      <vt:lpstr> Risk Categories &amp; Tolerance Limits (Aligned with PESTEL and EVM Data)</vt:lpstr>
      <vt:lpstr>Top 5 Portfolio Risks &amp; Mitigation Strategies</vt:lpstr>
      <vt:lpstr>Risk Governance Actions</vt:lpstr>
      <vt:lpstr>Opportunities</vt:lpstr>
      <vt:lpstr>Forced Ranking Matrix for MaxSolar Projects (Ranked by Strategic Fit, ROI, and Risk) •Strategic Fit: 5=Perfect alignment with MaxSolar’s mission, 1=No alignment. •ROI Potential: 5=CPI&gt;1.5, 1=CPI&lt;0.7  •Risk Level: 1=Low (SPI&gt;1.1, stable), 5=Critical (SPI&lt;0.9 or CPI&lt;0.6) </vt:lpstr>
      <vt:lpstr>How to Use This Matrix</vt:lpstr>
      <vt:lpstr>Key EVM Metrics &amp; Definitions</vt:lpstr>
      <vt:lpstr>EVM Metrics - Project Alpha</vt:lpstr>
      <vt:lpstr>Portfolio EVM Performance Summary</vt:lpstr>
      <vt:lpstr>Portfolio EVM Bull’s-Eye Chart</vt:lpstr>
      <vt:lpstr>Portfolio EVM Bull’s-Eye Chart</vt:lpstr>
      <vt:lpstr>Strategic Recommendations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Nasim Mahmoudi Moghaddam;Mikael Latva;Juhani Eskola</dc:creator>
  <cp:keywords/>
  <dc:description>generated using python-pptx</dc:description>
  <cp:revision>4</cp:revision>
  <dcterms:created xsi:type="dcterms:W3CDTF">2013-01-27T09:14:16Z</dcterms:created>
  <dcterms:modified xsi:type="dcterms:W3CDTF">2025-04-04T13:53:49Z</dcterms:modified>
  <cp:category/>
</cp:coreProperties>
</file>