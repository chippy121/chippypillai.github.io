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rimson Pro" charset="1" panose="00000000000000000000"/>
      <p:regular r:id="rId22"/>
    </p:embeddedFont>
    <p:embeddedFont>
      <p:font typeface="HK Grotesk Semi-Bold" charset="1" panose="00000700000000000000"/>
      <p:regular r:id="rId23"/>
    </p:embeddedFont>
    <p:embeddedFont>
      <p:font typeface="HK Grotesk" charset="1" panose="00000500000000000000"/>
      <p:regular r:id="rId24"/>
    </p:embeddedFont>
    <p:embeddedFont>
      <p:font typeface="TT Norms" charset="1" panose="02000503030000020003"/>
      <p:regular r:id="rId25"/>
    </p:embeddedFont>
    <p:embeddedFont>
      <p:font typeface="TT Norms Ultra-Bold" charset="1" panose="02000503040000020004"/>
      <p:regular r:id="rId26"/>
    </p:embeddedFont>
    <p:embeddedFont>
      <p:font typeface="Horizon Outlined" charset="1" panose="02000500000000000000"/>
      <p:regular r:id="rId27"/>
    </p:embeddedFont>
    <p:embeddedFont>
      <p:font typeface="HK Grotesk Bold" charset="1" panose="00000800000000000000"/>
      <p:regular r:id="rId28"/>
    </p:embeddedFont>
    <p:embeddedFont>
      <p:font typeface="Noto Serif Display ExtraCondensed" charset="1" panose="02020506080505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10287000"/>
            <a:chOff x="0" y="0"/>
            <a:chExt cx="139303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303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93034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378" r="0" b="-378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cap="flat" w="19050">
            <a:solidFill>
              <a:srgbClr val="0D3B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1537561" y="273580"/>
            <a:ext cx="4685523" cy="2459899"/>
          </a:xfrm>
          <a:custGeom>
            <a:avLst/>
            <a:gdLst/>
            <a:ahLst/>
            <a:cxnLst/>
            <a:rect r="r" b="b" t="t" l="l"/>
            <a:pathLst>
              <a:path h="2459899" w="4685523">
                <a:moveTo>
                  <a:pt x="0" y="0"/>
                </a:moveTo>
                <a:lnTo>
                  <a:pt x="4685522" y="0"/>
                </a:lnTo>
                <a:lnTo>
                  <a:pt x="4685522" y="2459900"/>
                </a:lnTo>
                <a:lnTo>
                  <a:pt x="0" y="2459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2044527"/>
            <a:ext cx="8430482" cy="429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28"/>
              </a:lnSpc>
            </a:pPr>
            <a:r>
              <a:rPr lang="en-US" sz="8328" spc="-166">
                <a:solidFill>
                  <a:srgbClr val="0D3B66"/>
                </a:solidFill>
                <a:latin typeface="Crimson Pro"/>
                <a:ea typeface="Crimson Pro"/>
                <a:cs typeface="Crimson Pro"/>
                <a:sym typeface="Crimson Pro"/>
              </a:rPr>
              <a:t>IT T</a:t>
            </a:r>
            <a:r>
              <a:rPr lang="en-US" sz="8328" spc="-166">
                <a:solidFill>
                  <a:srgbClr val="0D3B66"/>
                </a:solidFill>
                <a:latin typeface="Crimson Pro"/>
                <a:ea typeface="Crimson Pro"/>
                <a:cs typeface="Crimson Pro"/>
                <a:sym typeface="Crimson Pro"/>
              </a:rPr>
              <a:t>ickets Handling Process Improvement</a:t>
            </a:r>
          </a:p>
          <a:p>
            <a:pPr algn="l" marL="0" indent="0" lvl="0">
              <a:lnSpc>
                <a:spcPts val="832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9427" y="5748119"/>
            <a:ext cx="4246006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b="true" sz="3099">
                <a:solidFill>
                  <a:srgbClr val="0D3B6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Lean Six Sigma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427" y="8462963"/>
            <a:ext cx="4806407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D3B6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Presented By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Chippy Chandra Pillai- 2403836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School of Technology and Innovations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Major in Strategic Project Management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0D3B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0D3B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033462" y="-316395"/>
            <a:ext cx="0" cy="11119792"/>
          </a:xfrm>
          <a:prstGeom prst="line">
            <a:avLst/>
          </a:prstGeom>
          <a:ln cap="flat" w="9525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33462" y="9244012"/>
            <a:ext cx="17474323" cy="0"/>
          </a:xfrm>
          <a:prstGeom prst="line">
            <a:avLst/>
          </a:prstGeom>
          <a:ln cap="flat" w="9525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756322" y="9672731"/>
            <a:ext cx="1853234" cy="208910"/>
          </a:xfrm>
          <a:custGeom>
            <a:avLst/>
            <a:gdLst/>
            <a:ahLst/>
            <a:cxnLst/>
            <a:rect r="r" b="b" t="t" l="l"/>
            <a:pathLst>
              <a:path h="208910" w="1853234">
                <a:moveTo>
                  <a:pt x="0" y="0"/>
                </a:moveTo>
                <a:lnTo>
                  <a:pt x="1853233" y="0"/>
                </a:lnTo>
                <a:lnTo>
                  <a:pt x="1853233" y="208910"/>
                </a:lnTo>
                <a:lnTo>
                  <a:pt x="0" y="208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8572" y="1028700"/>
            <a:ext cx="2458234" cy="2458234"/>
          </a:xfrm>
          <a:custGeom>
            <a:avLst/>
            <a:gdLst/>
            <a:ahLst/>
            <a:cxnLst/>
            <a:rect r="r" b="b" t="t" l="l"/>
            <a:pathLst>
              <a:path h="2458234" w="2458234">
                <a:moveTo>
                  <a:pt x="0" y="0"/>
                </a:moveTo>
                <a:lnTo>
                  <a:pt x="2458234" y="0"/>
                </a:lnTo>
                <a:lnTo>
                  <a:pt x="2458234" y="2458234"/>
                </a:lnTo>
                <a:lnTo>
                  <a:pt x="0" y="2458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323645" y="3892574"/>
            <a:ext cx="1991376" cy="637263"/>
            <a:chOff x="0" y="0"/>
            <a:chExt cx="524478" cy="1678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4478" cy="167839"/>
            </a:xfrm>
            <a:custGeom>
              <a:avLst/>
              <a:gdLst/>
              <a:ahLst/>
              <a:cxnLst/>
              <a:rect r="r" b="b" t="t" l="l"/>
              <a:pathLst>
                <a:path h="167839" w="524478">
                  <a:moveTo>
                    <a:pt x="83919" y="0"/>
                  </a:moveTo>
                  <a:lnTo>
                    <a:pt x="440558" y="0"/>
                  </a:lnTo>
                  <a:cubicBezTo>
                    <a:pt x="486906" y="0"/>
                    <a:pt x="524478" y="37572"/>
                    <a:pt x="524478" y="83919"/>
                  </a:cubicBezTo>
                  <a:lnTo>
                    <a:pt x="524478" y="83919"/>
                  </a:lnTo>
                  <a:cubicBezTo>
                    <a:pt x="524478" y="130267"/>
                    <a:pt x="486906" y="167839"/>
                    <a:pt x="440558" y="167839"/>
                  </a:cubicBezTo>
                  <a:lnTo>
                    <a:pt x="83919" y="167839"/>
                  </a:lnTo>
                  <a:cubicBezTo>
                    <a:pt x="37572" y="167839"/>
                    <a:pt x="0" y="130267"/>
                    <a:pt x="0" y="83919"/>
                  </a:cubicBezTo>
                  <a:lnTo>
                    <a:pt x="0" y="83919"/>
                  </a:lnTo>
                  <a:cubicBezTo>
                    <a:pt x="0" y="37572"/>
                    <a:pt x="37572" y="0"/>
                    <a:pt x="839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30303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24478" cy="215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46" strike="noStrike" u="none">
                  <a:solidFill>
                    <a:srgbClr val="0D3B66"/>
                  </a:solidFill>
                  <a:latin typeface="TT Norms"/>
                  <a:ea typeface="TT Norms"/>
                  <a:cs typeface="TT Norms"/>
                  <a:sym typeface="TT Norms"/>
                </a:rPr>
                <a:t>PAGE 03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465150" y="2396887"/>
            <a:ext cx="10838968" cy="174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999"/>
              </a:lnSpc>
            </a:pPr>
            <a:r>
              <a:rPr lang="en-US" b="true" sz="15999" spc="-1311">
                <a:solidFill>
                  <a:srgbClr val="0D3B66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CONTENTS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85412" y="1154494"/>
            <a:ext cx="10818705" cy="127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700"/>
              </a:lnSpc>
            </a:pPr>
            <a:r>
              <a:rPr lang="en-US" sz="11000" spc="-605">
                <a:solidFill>
                  <a:srgbClr val="303030"/>
                </a:solidFill>
                <a:latin typeface="Horizon Outlined"/>
                <a:ea typeface="Horizon Outlined"/>
                <a:cs typeface="Horizon Outlined"/>
                <a:sym typeface="Horizon Outlined"/>
              </a:rPr>
              <a:t>TABLE OF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09555" y="9570493"/>
            <a:ext cx="131292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spc="-46">
                <a:solidFill>
                  <a:srgbClr val="303030"/>
                </a:solidFill>
                <a:latin typeface="TT Norms"/>
                <a:ea typeface="TT Norms"/>
                <a:cs typeface="TT Norms"/>
                <a:sym typeface="TT Norms"/>
              </a:rPr>
              <a:t>PAGE 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92002" y="3958475"/>
            <a:ext cx="3094897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spc="-109">
                <a:solidFill>
                  <a:srgbClr val="0D3B66"/>
                </a:solidFill>
                <a:latin typeface="TT Norms"/>
                <a:ea typeface="TT Norms"/>
                <a:cs typeface="TT Norms"/>
                <a:sym typeface="TT Norms"/>
              </a:rPr>
              <a:t>Project Summary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92002" y="4700336"/>
            <a:ext cx="3094897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spc="-109">
                <a:solidFill>
                  <a:srgbClr val="0D3B66"/>
                </a:solidFill>
                <a:latin typeface="TT Norms"/>
                <a:ea typeface="TT Norms"/>
                <a:cs typeface="TT Norms"/>
                <a:sym typeface="TT Norms"/>
              </a:rPr>
              <a:t>Project Scope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92002" y="5537446"/>
            <a:ext cx="3094897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spc="-109">
                <a:solidFill>
                  <a:srgbClr val="0D3B66"/>
                </a:solidFill>
                <a:latin typeface="TT Norms"/>
                <a:ea typeface="TT Norms"/>
                <a:cs typeface="TT Norms"/>
                <a:sym typeface="TT Norms"/>
              </a:rPr>
              <a:t>Problem Statement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27533" y="4010596"/>
            <a:ext cx="2868505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spc="-109">
                <a:solidFill>
                  <a:srgbClr val="0D3B66"/>
                </a:solidFill>
                <a:latin typeface="TT Norms"/>
                <a:ea typeface="TT Norms"/>
                <a:cs typeface="TT Norms"/>
                <a:sym typeface="TT Norms"/>
              </a:rPr>
              <a:t>Resolution Times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27533" y="4752457"/>
            <a:ext cx="2868505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spc="-109">
                <a:solidFill>
                  <a:srgbClr val="0D3B66"/>
                </a:solidFill>
                <a:latin typeface="TT Norms"/>
                <a:ea typeface="TT Norms"/>
                <a:cs typeface="TT Norms"/>
                <a:sym typeface="TT Norms"/>
              </a:rPr>
              <a:t>Root cause Analysis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27533" y="5589567"/>
            <a:ext cx="3382022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spc="-109">
                <a:solidFill>
                  <a:srgbClr val="0D3B66"/>
                </a:solidFill>
                <a:latin typeface="TT Norms"/>
                <a:ea typeface="TT Norms"/>
                <a:cs typeface="TT Norms"/>
                <a:sym typeface="TT Norms"/>
              </a:rPr>
              <a:t>Implemented Solution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27533" y="6426677"/>
            <a:ext cx="3694947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spc="-109">
                <a:solidFill>
                  <a:srgbClr val="0D3B66"/>
                </a:solidFill>
                <a:latin typeface="TT Norms"/>
                <a:ea typeface="TT Norms"/>
                <a:cs typeface="TT Norms"/>
                <a:sym typeface="TT Norms"/>
              </a:rPr>
              <a:t>reduction in resolution time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323645" y="4634345"/>
            <a:ext cx="1991376" cy="637263"/>
            <a:chOff x="0" y="0"/>
            <a:chExt cx="524478" cy="16783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4478" cy="167839"/>
            </a:xfrm>
            <a:custGeom>
              <a:avLst/>
              <a:gdLst/>
              <a:ahLst/>
              <a:cxnLst/>
              <a:rect r="r" b="b" t="t" l="l"/>
              <a:pathLst>
                <a:path h="167839" w="524478">
                  <a:moveTo>
                    <a:pt x="83919" y="0"/>
                  </a:moveTo>
                  <a:lnTo>
                    <a:pt x="440558" y="0"/>
                  </a:lnTo>
                  <a:cubicBezTo>
                    <a:pt x="486906" y="0"/>
                    <a:pt x="524478" y="37572"/>
                    <a:pt x="524478" y="83919"/>
                  </a:cubicBezTo>
                  <a:lnTo>
                    <a:pt x="524478" y="83919"/>
                  </a:lnTo>
                  <a:cubicBezTo>
                    <a:pt x="524478" y="130267"/>
                    <a:pt x="486906" y="167839"/>
                    <a:pt x="440558" y="167839"/>
                  </a:cubicBezTo>
                  <a:lnTo>
                    <a:pt x="83919" y="167839"/>
                  </a:lnTo>
                  <a:cubicBezTo>
                    <a:pt x="37572" y="167839"/>
                    <a:pt x="0" y="130267"/>
                    <a:pt x="0" y="83919"/>
                  </a:cubicBezTo>
                  <a:lnTo>
                    <a:pt x="0" y="83919"/>
                  </a:lnTo>
                  <a:cubicBezTo>
                    <a:pt x="0" y="37572"/>
                    <a:pt x="37572" y="0"/>
                    <a:pt x="839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30303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524478" cy="215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46" strike="noStrike" u="none">
                  <a:solidFill>
                    <a:srgbClr val="0D3B66"/>
                  </a:solidFill>
                  <a:latin typeface="TT Norms"/>
                  <a:ea typeface="TT Norms"/>
                  <a:cs typeface="TT Norms"/>
                  <a:sym typeface="TT Norms"/>
                </a:rPr>
                <a:t>PAGE 04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323645" y="5471367"/>
            <a:ext cx="1991376" cy="637263"/>
            <a:chOff x="0" y="0"/>
            <a:chExt cx="524478" cy="16783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4478" cy="167839"/>
            </a:xfrm>
            <a:custGeom>
              <a:avLst/>
              <a:gdLst/>
              <a:ahLst/>
              <a:cxnLst/>
              <a:rect r="r" b="b" t="t" l="l"/>
              <a:pathLst>
                <a:path h="167839" w="524478">
                  <a:moveTo>
                    <a:pt x="83919" y="0"/>
                  </a:moveTo>
                  <a:lnTo>
                    <a:pt x="440558" y="0"/>
                  </a:lnTo>
                  <a:cubicBezTo>
                    <a:pt x="486906" y="0"/>
                    <a:pt x="524478" y="37572"/>
                    <a:pt x="524478" y="83919"/>
                  </a:cubicBezTo>
                  <a:lnTo>
                    <a:pt x="524478" y="83919"/>
                  </a:lnTo>
                  <a:cubicBezTo>
                    <a:pt x="524478" y="130267"/>
                    <a:pt x="486906" y="167839"/>
                    <a:pt x="440558" y="167839"/>
                  </a:cubicBezTo>
                  <a:lnTo>
                    <a:pt x="83919" y="167839"/>
                  </a:lnTo>
                  <a:cubicBezTo>
                    <a:pt x="37572" y="167839"/>
                    <a:pt x="0" y="130267"/>
                    <a:pt x="0" y="83919"/>
                  </a:cubicBezTo>
                  <a:lnTo>
                    <a:pt x="0" y="83919"/>
                  </a:lnTo>
                  <a:cubicBezTo>
                    <a:pt x="0" y="37572"/>
                    <a:pt x="37572" y="0"/>
                    <a:pt x="839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30303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524478" cy="215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46" strike="noStrike" u="none">
                  <a:solidFill>
                    <a:srgbClr val="0D3B66"/>
                  </a:solidFill>
                  <a:latin typeface="TT Norms"/>
                  <a:ea typeface="TT Norms"/>
                  <a:cs typeface="TT Norms"/>
                  <a:sym typeface="TT Norms"/>
                </a:rPr>
                <a:t>PAGE 05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4892002" y="6374557"/>
            <a:ext cx="3094897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spc="-109">
                <a:solidFill>
                  <a:srgbClr val="0D3B66"/>
                </a:solidFill>
                <a:latin typeface="TT Norms"/>
                <a:ea typeface="TT Norms"/>
                <a:cs typeface="TT Norms"/>
                <a:sym typeface="TT Norms"/>
              </a:rPr>
              <a:t>Voice Of Customer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2323645" y="6308655"/>
            <a:ext cx="1991376" cy="637263"/>
            <a:chOff x="0" y="0"/>
            <a:chExt cx="524478" cy="16783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24478" cy="167839"/>
            </a:xfrm>
            <a:custGeom>
              <a:avLst/>
              <a:gdLst/>
              <a:ahLst/>
              <a:cxnLst/>
              <a:rect r="r" b="b" t="t" l="l"/>
              <a:pathLst>
                <a:path h="167839" w="524478">
                  <a:moveTo>
                    <a:pt x="83919" y="0"/>
                  </a:moveTo>
                  <a:lnTo>
                    <a:pt x="440558" y="0"/>
                  </a:lnTo>
                  <a:cubicBezTo>
                    <a:pt x="486906" y="0"/>
                    <a:pt x="524478" y="37572"/>
                    <a:pt x="524478" y="83919"/>
                  </a:cubicBezTo>
                  <a:lnTo>
                    <a:pt x="524478" y="83919"/>
                  </a:lnTo>
                  <a:cubicBezTo>
                    <a:pt x="524478" y="130267"/>
                    <a:pt x="486906" y="167839"/>
                    <a:pt x="440558" y="167839"/>
                  </a:cubicBezTo>
                  <a:lnTo>
                    <a:pt x="83919" y="167839"/>
                  </a:lnTo>
                  <a:cubicBezTo>
                    <a:pt x="37572" y="167839"/>
                    <a:pt x="0" y="130267"/>
                    <a:pt x="0" y="83919"/>
                  </a:cubicBezTo>
                  <a:lnTo>
                    <a:pt x="0" y="83919"/>
                  </a:lnTo>
                  <a:cubicBezTo>
                    <a:pt x="0" y="37572"/>
                    <a:pt x="37572" y="0"/>
                    <a:pt x="839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303030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524478" cy="215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46" strike="noStrike" u="none">
                  <a:solidFill>
                    <a:srgbClr val="0D3B66"/>
                  </a:solidFill>
                  <a:latin typeface="TT Norms"/>
                  <a:ea typeface="TT Norms"/>
                  <a:cs typeface="TT Norms"/>
                  <a:sym typeface="TT Norms"/>
                </a:rPr>
                <a:t>PAGE 06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893258" y="3944695"/>
            <a:ext cx="1991376" cy="637263"/>
            <a:chOff x="0" y="0"/>
            <a:chExt cx="524478" cy="16783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24478" cy="167839"/>
            </a:xfrm>
            <a:custGeom>
              <a:avLst/>
              <a:gdLst/>
              <a:ahLst/>
              <a:cxnLst/>
              <a:rect r="r" b="b" t="t" l="l"/>
              <a:pathLst>
                <a:path h="167839" w="524478">
                  <a:moveTo>
                    <a:pt x="83919" y="0"/>
                  </a:moveTo>
                  <a:lnTo>
                    <a:pt x="440558" y="0"/>
                  </a:lnTo>
                  <a:cubicBezTo>
                    <a:pt x="486906" y="0"/>
                    <a:pt x="524478" y="37572"/>
                    <a:pt x="524478" y="83919"/>
                  </a:cubicBezTo>
                  <a:lnTo>
                    <a:pt x="524478" y="83919"/>
                  </a:lnTo>
                  <a:cubicBezTo>
                    <a:pt x="524478" y="130267"/>
                    <a:pt x="486906" y="167839"/>
                    <a:pt x="440558" y="167839"/>
                  </a:cubicBezTo>
                  <a:lnTo>
                    <a:pt x="83919" y="167839"/>
                  </a:lnTo>
                  <a:cubicBezTo>
                    <a:pt x="37572" y="167839"/>
                    <a:pt x="0" y="130267"/>
                    <a:pt x="0" y="83919"/>
                  </a:cubicBezTo>
                  <a:lnTo>
                    <a:pt x="0" y="83919"/>
                  </a:lnTo>
                  <a:cubicBezTo>
                    <a:pt x="0" y="37572"/>
                    <a:pt x="37572" y="0"/>
                    <a:pt x="839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303030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524478" cy="215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46" strike="noStrike" u="none">
                  <a:solidFill>
                    <a:srgbClr val="0D3B66"/>
                  </a:solidFill>
                  <a:latin typeface="TT Norms"/>
                  <a:ea typeface="TT Norms"/>
                  <a:cs typeface="TT Norms"/>
                  <a:sym typeface="TT Norms"/>
                </a:rPr>
                <a:t>PAGE 09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893258" y="4686466"/>
            <a:ext cx="1991376" cy="637263"/>
            <a:chOff x="0" y="0"/>
            <a:chExt cx="524478" cy="16783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4478" cy="167839"/>
            </a:xfrm>
            <a:custGeom>
              <a:avLst/>
              <a:gdLst/>
              <a:ahLst/>
              <a:cxnLst/>
              <a:rect r="r" b="b" t="t" l="l"/>
              <a:pathLst>
                <a:path h="167839" w="524478">
                  <a:moveTo>
                    <a:pt x="83919" y="0"/>
                  </a:moveTo>
                  <a:lnTo>
                    <a:pt x="440558" y="0"/>
                  </a:lnTo>
                  <a:cubicBezTo>
                    <a:pt x="486906" y="0"/>
                    <a:pt x="524478" y="37572"/>
                    <a:pt x="524478" y="83919"/>
                  </a:cubicBezTo>
                  <a:lnTo>
                    <a:pt x="524478" y="83919"/>
                  </a:lnTo>
                  <a:cubicBezTo>
                    <a:pt x="524478" y="130267"/>
                    <a:pt x="486906" y="167839"/>
                    <a:pt x="440558" y="167839"/>
                  </a:cubicBezTo>
                  <a:lnTo>
                    <a:pt x="83919" y="167839"/>
                  </a:lnTo>
                  <a:cubicBezTo>
                    <a:pt x="37572" y="167839"/>
                    <a:pt x="0" y="130267"/>
                    <a:pt x="0" y="83919"/>
                  </a:cubicBezTo>
                  <a:lnTo>
                    <a:pt x="0" y="83919"/>
                  </a:lnTo>
                  <a:cubicBezTo>
                    <a:pt x="0" y="37572"/>
                    <a:pt x="37572" y="0"/>
                    <a:pt x="839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303030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524478" cy="215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46" strike="noStrike" u="none">
                  <a:solidFill>
                    <a:srgbClr val="0D3B66"/>
                  </a:solidFill>
                  <a:latin typeface="TT Norms"/>
                  <a:ea typeface="TT Norms"/>
                  <a:cs typeface="TT Norms"/>
                  <a:sym typeface="TT Norms"/>
                </a:rPr>
                <a:t>PAGE 10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893258" y="5523488"/>
            <a:ext cx="1991376" cy="637263"/>
            <a:chOff x="0" y="0"/>
            <a:chExt cx="524478" cy="16783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24478" cy="167839"/>
            </a:xfrm>
            <a:custGeom>
              <a:avLst/>
              <a:gdLst/>
              <a:ahLst/>
              <a:cxnLst/>
              <a:rect r="r" b="b" t="t" l="l"/>
              <a:pathLst>
                <a:path h="167839" w="524478">
                  <a:moveTo>
                    <a:pt x="83919" y="0"/>
                  </a:moveTo>
                  <a:lnTo>
                    <a:pt x="440558" y="0"/>
                  </a:lnTo>
                  <a:cubicBezTo>
                    <a:pt x="486906" y="0"/>
                    <a:pt x="524478" y="37572"/>
                    <a:pt x="524478" y="83919"/>
                  </a:cubicBezTo>
                  <a:lnTo>
                    <a:pt x="524478" y="83919"/>
                  </a:lnTo>
                  <a:cubicBezTo>
                    <a:pt x="524478" y="130267"/>
                    <a:pt x="486906" y="167839"/>
                    <a:pt x="440558" y="167839"/>
                  </a:cubicBezTo>
                  <a:lnTo>
                    <a:pt x="83919" y="167839"/>
                  </a:lnTo>
                  <a:cubicBezTo>
                    <a:pt x="37572" y="167839"/>
                    <a:pt x="0" y="130267"/>
                    <a:pt x="0" y="83919"/>
                  </a:cubicBezTo>
                  <a:lnTo>
                    <a:pt x="0" y="83919"/>
                  </a:lnTo>
                  <a:cubicBezTo>
                    <a:pt x="0" y="37572"/>
                    <a:pt x="37572" y="0"/>
                    <a:pt x="839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303030"/>
              </a:solidFill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524478" cy="215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46" strike="noStrike" u="none">
                  <a:solidFill>
                    <a:srgbClr val="0D3B66"/>
                  </a:solidFill>
                  <a:latin typeface="TT Norms"/>
                  <a:ea typeface="TT Norms"/>
                  <a:cs typeface="TT Norms"/>
                  <a:sym typeface="TT Norms"/>
                </a:rPr>
                <a:t>PAGE 11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893258" y="6360776"/>
            <a:ext cx="1991376" cy="637263"/>
            <a:chOff x="0" y="0"/>
            <a:chExt cx="524478" cy="16783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4478" cy="167839"/>
            </a:xfrm>
            <a:custGeom>
              <a:avLst/>
              <a:gdLst/>
              <a:ahLst/>
              <a:cxnLst/>
              <a:rect r="r" b="b" t="t" l="l"/>
              <a:pathLst>
                <a:path h="167839" w="524478">
                  <a:moveTo>
                    <a:pt x="83919" y="0"/>
                  </a:moveTo>
                  <a:lnTo>
                    <a:pt x="440558" y="0"/>
                  </a:lnTo>
                  <a:cubicBezTo>
                    <a:pt x="486906" y="0"/>
                    <a:pt x="524478" y="37572"/>
                    <a:pt x="524478" y="83919"/>
                  </a:cubicBezTo>
                  <a:lnTo>
                    <a:pt x="524478" y="83919"/>
                  </a:lnTo>
                  <a:cubicBezTo>
                    <a:pt x="524478" y="130267"/>
                    <a:pt x="486906" y="167839"/>
                    <a:pt x="440558" y="167839"/>
                  </a:cubicBezTo>
                  <a:lnTo>
                    <a:pt x="83919" y="167839"/>
                  </a:lnTo>
                  <a:cubicBezTo>
                    <a:pt x="37572" y="167839"/>
                    <a:pt x="0" y="130267"/>
                    <a:pt x="0" y="83919"/>
                  </a:cubicBezTo>
                  <a:lnTo>
                    <a:pt x="0" y="83919"/>
                  </a:lnTo>
                  <a:cubicBezTo>
                    <a:pt x="0" y="37572"/>
                    <a:pt x="37572" y="0"/>
                    <a:pt x="839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303030"/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524478" cy="215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46" strike="noStrike" u="none">
                  <a:solidFill>
                    <a:srgbClr val="0D3B66"/>
                  </a:solidFill>
                  <a:latin typeface="TT Norms"/>
                  <a:ea typeface="TT Norms"/>
                  <a:cs typeface="TT Norms"/>
                  <a:sym typeface="TT Norms"/>
                </a:rPr>
                <a:t>PAGE 12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4892002" y="7213392"/>
            <a:ext cx="3094897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spc="-109">
                <a:solidFill>
                  <a:srgbClr val="0D3B66"/>
                </a:solidFill>
                <a:latin typeface="TT Norms"/>
                <a:ea typeface="TT Norms"/>
                <a:cs typeface="TT Norms"/>
                <a:sym typeface="TT Norms"/>
              </a:rPr>
              <a:t>Baseline Performance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2323645" y="7145943"/>
            <a:ext cx="1991376" cy="637263"/>
            <a:chOff x="0" y="0"/>
            <a:chExt cx="524478" cy="16783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24478" cy="167839"/>
            </a:xfrm>
            <a:custGeom>
              <a:avLst/>
              <a:gdLst/>
              <a:ahLst/>
              <a:cxnLst/>
              <a:rect r="r" b="b" t="t" l="l"/>
              <a:pathLst>
                <a:path h="167839" w="524478">
                  <a:moveTo>
                    <a:pt x="83919" y="0"/>
                  </a:moveTo>
                  <a:lnTo>
                    <a:pt x="440558" y="0"/>
                  </a:lnTo>
                  <a:cubicBezTo>
                    <a:pt x="486906" y="0"/>
                    <a:pt x="524478" y="37572"/>
                    <a:pt x="524478" y="83919"/>
                  </a:cubicBezTo>
                  <a:lnTo>
                    <a:pt x="524478" y="83919"/>
                  </a:lnTo>
                  <a:cubicBezTo>
                    <a:pt x="524478" y="130267"/>
                    <a:pt x="486906" y="167839"/>
                    <a:pt x="440558" y="167839"/>
                  </a:cubicBezTo>
                  <a:lnTo>
                    <a:pt x="83919" y="167839"/>
                  </a:lnTo>
                  <a:cubicBezTo>
                    <a:pt x="37572" y="167839"/>
                    <a:pt x="0" y="130267"/>
                    <a:pt x="0" y="83919"/>
                  </a:cubicBezTo>
                  <a:lnTo>
                    <a:pt x="0" y="83919"/>
                  </a:lnTo>
                  <a:cubicBezTo>
                    <a:pt x="0" y="37572"/>
                    <a:pt x="37572" y="0"/>
                    <a:pt x="839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303030"/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524478" cy="215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46" strike="noStrike" u="none">
                  <a:solidFill>
                    <a:srgbClr val="0D3B66"/>
                  </a:solidFill>
                  <a:latin typeface="TT Norms"/>
                  <a:ea typeface="TT Norms"/>
                  <a:cs typeface="TT Norms"/>
                  <a:sym typeface="TT Norms"/>
                </a:rPr>
                <a:t>PAGE 07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4728642" y="8052227"/>
            <a:ext cx="4525137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spc="-109">
                <a:solidFill>
                  <a:srgbClr val="0D3B66"/>
                </a:solidFill>
                <a:latin typeface="TT Norms"/>
                <a:ea typeface="TT Norms"/>
                <a:cs typeface="TT Norms"/>
                <a:sym typeface="TT Norms"/>
              </a:rPr>
              <a:t>Pareto Analysis of Delayed reason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2247207" y="8118347"/>
            <a:ext cx="1991376" cy="637263"/>
            <a:chOff x="0" y="0"/>
            <a:chExt cx="524478" cy="16783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24478" cy="167839"/>
            </a:xfrm>
            <a:custGeom>
              <a:avLst/>
              <a:gdLst/>
              <a:ahLst/>
              <a:cxnLst/>
              <a:rect r="r" b="b" t="t" l="l"/>
              <a:pathLst>
                <a:path h="167839" w="524478">
                  <a:moveTo>
                    <a:pt x="83919" y="0"/>
                  </a:moveTo>
                  <a:lnTo>
                    <a:pt x="440558" y="0"/>
                  </a:lnTo>
                  <a:cubicBezTo>
                    <a:pt x="486906" y="0"/>
                    <a:pt x="524478" y="37572"/>
                    <a:pt x="524478" y="83919"/>
                  </a:cubicBezTo>
                  <a:lnTo>
                    <a:pt x="524478" y="83919"/>
                  </a:lnTo>
                  <a:cubicBezTo>
                    <a:pt x="524478" y="130267"/>
                    <a:pt x="486906" y="167839"/>
                    <a:pt x="440558" y="167839"/>
                  </a:cubicBezTo>
                  <a:lnTo>
                    <a:pt x="83919" y="167839"/>
                  </a:lnTo>
                  <a:cubicBezTo>
                    <a:pt x="37572" y="167839"/>
                    <a:pt x="0" y="130267"/>
                    <a:pt x="0" y="83919"/>
                  </a:cubicBezTo>
                  <a:lnTo>
                    <a:pt x="0" y="83919"/>
                  </a:lnTo>
                  <a:cubicBezTo>
                    <a:pt x="0" y="37572"/>
                    <a:pt x="37572" y="0"/>
                    <a:pt x="839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303030"/>
              </a:solidFill>
              <a:prstDash val="solid"/>
              <a:round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524478" cy="215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46" strike="noStrike" u="none">
                  <a:solidFill>
                    <a:srgbClr val="0D3B66"/>
                  </a:solidFill>
                  <a:latin typeface="TT Norms"/>
                  <a:ea typeface="TT Norms"/>
                  <a:cs typeface="TT Norms"/>
                  <a:sym typeface="TT Norms"/>
                </a:rPr>
                <a:t>PAGE 08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3227533" y="7088793"/>
            <a:ext cx="2455405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spc="-109">
                <a:solidFill>
                  <a:srgbClr val="0D3B66"/>
                </a:solidFill>
                <a:latin typeface="TT Norms"/>
                <a:ea typeface="TT Norms"/>
                <a:cs typeface="TT Norms"/>
                <a:sym typeface="TT Norms"/>
              </a:rPr>
              <a:t>Control Plan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273622" y="7988669"/>
            <a:ext cx="29654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spc="-57">
                <a:solidFill>
                  <a:srgbClr val="0D3B66"/>
                </a:solidFill>
                <a:latin typeface="TT Norms"/>
                <a:ea typeface="TT Norms"/>
                <a:cs typeface="TT Norms"/>
                <a:sym typeface="TT Norms"/>
              </a:rPr>
              <a:t>Sustainability Actions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0899077" y="7198064"/>
            <a:ext cx="1991376" cy="637263"/>
            <a:chOff x="0" y="0"/>
            <a:chExt cx="524478" cy="16783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24478" cy="167839"/>
            </a:xfrm>
            <a:custGeom>
              <a:avLst/>
              <a:gdLst/>
              <a:ahLst/>
              <a:cxnLst/>
              <a:rect r="r" b="b" t="t" l="l"/>
              <a:pathLst>
                <a:path h="167839" w="524478">
                  <a:moveTo>
                    <a:pt x="83919" y="0"/>
                  </a:moveTo>
                  <a:lnTo>
                    <a:pt x="440558" y="0"/>
                  </a:lnTo>
                  <a:cubicBezTo>
                    <a:pt x="486906" y="0"/>
                    <a:pt x="524478" y="37572"/>
                    <a:pt x="524478" y="83919"/>
                  </a:cubicBezTo>
                  <a:lnTo>
                    <a:pt x="524478" y="83919"/>
                  </a:lnTo>
                  <a:cubicBezTo>
                    <a:pt x="524478" y="130267"/>
                    <a:pt x="486906" y="167839"/>
                    <a:pt x="440558" y="167839"/>
                  </a:cubicBezTo>
                  <a:lnTo>
                    <a:pt x="83919" y="167839"/>
                  </a:lnTo>
                  <a:cubicBezTo>
                    <a:pt x="37572" y="167839"/>
                    <a:pt x="0" y="130267"/>
                    <a:pt x="0" y="83919"/>
                  </a:cubicBezTo>
                  <a:lnTo>
                    <a:pt x="0" y="83919"/>
                  </a:lnTo>
                  <a:cubicBezTo>
                    <a:pt x="0" y="37572"/>
                    <a:pt x="37572" y="0"/>
                    <a:pt x="839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303030"/>
              </a:solidFill>
              <a:prstDash val="solid"/>
              <a:round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524478" cy="215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46" strike="noStrike" u="none">
                  <a:solidFill>
                    <a:srgbClr val="0D3B66"/>
                  </a:solidFill>
                  <a:latin typeface="TT Norms"/>
                  <a:ea typeface="TT Norms"/>
                  <a:cs typeface="TT Norms"/>
                  <a:sym typeface="TT Norms"/>
                </a:rPr>
                <a:t>PAGE 13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051477" y="7937857"/>
            <a:ext cx="1833156" cy="534734"/>
            <a:chOff x="0" y="0"/>
            <a:chExt cx="482807" cy="14083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82807" cy="140835"/>
            </a:xfrm>
            <a:custGeom>
              <a:avLst/>
              <a:gdLst/>
              <a:ahLst/>
              <a:cxnLst/>
              <a:rect r="r" b="b" t="t" l="l"/>
              <a:pathLst>
                <a:path h="140835" w="482807">
                  <a:moveTo>
                    <a:pt x="70418" y="0"/>
                  </a:moveTo>
                  <a:lnTo>
                    <a:pt x="412389" y="0"/>
                  </a:lnTo>
                  <a:cubicBezTo>
                    <a:pt x="451279" y="0"/>
                    <a:pt x="482807" y="31527"/>
                    <a:pt x="482807" y="70418"/>
                  </a:cubicBezTo>
                  <a:lnTo>
                    <a:pt x="482807" y="70418"/>
                  </a:lnTo>
                  <a:cubicBezTo>
                    <a:pt x="482807" y="89093"/>
                    <a:pt x="475388" y="107004"/>
                    <a:pt x="462182" y="120210"/>
                  </a:cubicBezTo>
                  <a:cubicBezTo>
                    <a:pt x="448976" y="133416"/>
                    <a:pt x="431065" y="140835"/>
                    <a:pt x="412389" y="140835"/>
                  </a:cubicBezTo>
                  <a:lnTo>
                    <a:pt x="70418" y="140835"/>
                  </a:lnTo>
                  <a:cubicBezTo>
                    <a:pt x="51742" y="140835"/>
                    <a:pt x="33831" y="133416"/>
                    <a:pt x="20625" y="120210"/>
                  </a:cubicBezTo>
                  <a:cubicBezTo>
                    <a:pt x="7419" y="107004"/>
                    <a:pt x="0" y="89093"/>
                    <a:pt x="0" y="70418"/>
                  </a:cubicBezTo>
                  <a:lnTo>
                    <a:pt x="0" y="70418"/>
                  </a:lnTo>
                  <a:cubicBezTo>
                    <a:pt x="0" y="51742"/>
                    <a:pt x="7419" y="33831"/>
                    <a:pt x="20625" y="20625"/>
                  </a:cubicBezTo>
                  <a:cubicBezTo>
                    <a:pt x="33831" y="7419"/>
                    <a:pt x="51742" y="0"/>
                    <a:pt x="7041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303030"/>
              </a:solidFill>
              <a:prstDash val="solid"/>
              <a:round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482807" cy="188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46" strike="noStrike" u="none">
                  <a:solidFill>
                    <a:srgbClr val="0D3B66"/>
                  </a:solidFill>
                  <a:latin typeface="TT Norms"/>
                  <a:ea typeface="TT Norms"/>
                  <a:cs typeface="TT Norms"/>
                  <a:sym typeface="TT Norms"/>
                </a:rPr>
                <a:t>PAGE 14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9144000" y="8681731"/>
            <a:ext cx="3946029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spc="-57">
                <a:solidFill>
                  <a:srgbClr val="0D3B66"/>
                </a:solidFill>
                <a:latin typeface="TT Norms"/>
                <a:ea typeface="TT Norms"/>
                <a:cs typeface="TT Norms"/>
                <a:sym typeface="TT Norms"/>
              </a:rPr>
              <a:t>Benefits and lesson Learned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6991211" y="8621037"/>
            <a:ext cx="1991376" cy="637263"/>
            <a:chOff x="0" y="0"/>
            <a:chExt cx="524478" cy="16783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24478" cy="167839"/>
            </a:xfrm>
            <a:custGeom>
              <a:avLst/>
              <a:gdLst/>
              <a:ahLst/>
              <a:cxnLst/>
              <a:rect r="r" b="b" t="t" l="l"/>
              <a:pathLst>
                <a:path h="167839" w="524478">
                  <a:moveTo>
                    <a:pt x="83919" y="0"/>
                  </a:moveTo>
                  <a:lnTo>
                    <a:pt x="440558" y="0"/>
                  </a:lnTo>
                  <a:cubicBezTo>
                    <a:pt x="486906" y="0"/>
                    <a:pt x="524478" y="37572"/>
                    <a:pt x="524478" y="83919"/>
                  </a:cubicBezTo>
                  <a:lnTo>
                    <a:pt x="524478" y="83919"/>
                  </a:lnTo>
                  <a:cubicBezTo>
                    <a:pt x="524478" y="130267"/>
                    <a:pt x="486906" y="167839"/>
                    <a:pt x="440558" y="167839"/>
                  </a:cubicBezTo>
                  <a:lnTo>
                    <a:pt x="83919" y="167839"/>
                  </a:lnTo>
                  <a:cubicBezTo>
                    <a:pt x="37572" y="167839"/>
                    <a:pt x="0" y="130267"/>
                    <a:pt x="0" y="83919"/>
                  </a:cubicBezTo>
                  <a:lnTo>
                    <a:pt x="0" y="83919"/>
                  </a:lnTo>
                  <a:cubicBezTo>
                    <a:pt x="0" y="37572"/>
                    <a:pt x="37572" y="0"/>
                    <a:pt x="839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303030"/>
              </a:solidFill>
              <a:prstDash val="solid"/>
              <a:round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524478" cy="215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46" strike="noStrike" u="none">
                  <a:solidFill>
                    <a:srgbClr val="0D3B66"/>
                  </a:solidFill>
                  <a:latin typeface="TT Norms"/>
                  <a:ea typeface="TT Norms"/>
                  <a:cs typeface="TT Norms"/>
                  <a:sym typeface="TT Norms"/>
                </a:rPr>
                <a:t>PAGE 15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8988" y="3362325"/>
            <a:ext cx="5630963" cy="178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1"/>
              </a:lnSpc>
              <a:spcBef>
                <a:spcPct val="0"/>
              </a:spcBef>
            </a:pP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Th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is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 project 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alyzed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IT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 helpdesk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 ticket handling 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 id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ntify and r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es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olve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 in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effi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ci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ie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s.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U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sin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 t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he DMAIC meth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ol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ogy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, 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w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e 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exa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m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ed 2,347 t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ic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ke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s over s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x m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on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ths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, 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fo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us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ng 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on redu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cing 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res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olu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tim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s 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an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 i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mprov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in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g 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nsist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cy</a:t>
            </a:r>
            <a:r>
              <a:rPr lang="en-US" sz="1993" strike="noStrike" u="non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.</a:t>
            </a:r>
          </a:p>
          <a:p>
            <a:pPr algn="l" marL="0" indent="0" lvl="0">
              <a:lnSpc>
                <a:spcPts val="2391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9669544" y="1127427"/>
            <a:ext cx="8325069" cy="1847850"/>
            <a:chOff x="0" y="0"/>
            <a:chExt cx="11100091" cy="24638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11100091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0D3B6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Key Findings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273175"/>
              <a:ext cx="11100091" cy="1190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91"/>
                </a:lnSpc>
                <a:spcBef>
                  <a:spcPct val="0"/>
                </a:spcBef>
              </a:pPr>
              <a:r>
                <a:rPr lang="en-US" sz="1993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32% 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of res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lu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tion tim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 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wa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con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su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b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y 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du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nd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ant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in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fo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ation 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at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ering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an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22%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o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ticket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 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sr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oute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.</a:t>
              </a:r>
            </a:p>
            <a:p>
              <a:pPr algn="l" marL="0" indent="0" lvl="0">
                <a:lnSpc>
                  <a:spcPts val="239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884566" y="4529435"/>
            <a:ext cx="8110046" cy="1819275"/>
            <a:chOff x="0" y="0"/>
            <a:chExt cx="10813394" cy="24257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10813394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0D3B6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Achiev</a:t>
              </a:r>
              <a:r>
                <a:rPr lang="en-US" b="true" sz="2799" strike="noStrike" u="none">
                  <a:solidFill>
                    <a:srgbClr val="0D3B6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ed</a:t>
              </a:r>
              <a:r>
                <a:rPr lang="en-US" b="true" sz="2799" strike="noStrike" u="none">
                  <a:solidFill>
                    <a:srgbClr val="0D3B6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 Impr</a:t>
              </a:r>
              <a:r>
                <a:rPr lang="en-US" b="true" sz="2799" strike="noStrike" u="none">
                  <a:solidFill>
                    <a:srgbClr val="0D3B6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o</a:t>
              </a:r>
              <a:r>
                <a:rPr lang="en-US" b="true" sz="2799" strike="noStrike" u="none">
                  <a:solidFill>
                    <a:srgbClr val="0D3B6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vements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235075"/>
              <a:ext cx="10813394" cy="1190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91"/>
                </a:lnSpc>
                <a:spcBef>
                  <a:spcPct val="0"/>
                </a:spcBef>
              </a:pP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ve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ra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ge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Reso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ut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on 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im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 r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ed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uced b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y 48%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y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 h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igh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/m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dium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pr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ori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ty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ti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k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et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du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ce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 by 52%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an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custome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 sa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ac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ti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on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inc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sed 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by 32%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.</a:t>
              </a:r>
            </a:p>
            <a:p>
              <a:pPr algn="l" marL="0" indent="0" lvl="0">
                <a:lnSpc>
                  <a:spcPts val="239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57359" y="1251252"/>
            <a:ext cx="6961891" cy="1064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00"/>
              </a:lnSpc>
            </a:pPr>
            <a:r>
              <a:rPr lang="en-US" sz="7800" spc="-156">
                <a:solidFill>
                  <a:srgbClr val="0D3B66"/>
                </a:solidFill>
                <a:latin typeface="Crimson Pro"/>
                <a:ea typeface="Crimson Pro"/>
                <a:cs typeface="Crimson Pro"/>
                <a:sym typeface="Crimson Pro"/>
              </a:rPr>
              <a:t>Project Summary</a:t>
            </a:r>
          </a:p>
        </p:txBody>
      </p:sp>
      <p:sp>
        <p:nvSpPr>
          <p:cNvPr name="AutoShape 10" id="10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0D3B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0D3B6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619750"/>
            <a:ext cx="4010025" cy="2705100"/>
            <a:chOff x="0" y="0"/>
            <a:chExt cx="5346700" cy="36068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0D3B6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In-Scope Areas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235075"/>
              <a:ext cx="5346700" cy="2371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91"/>
                </a:lnSpc>
                <a:spcBef>
                  <a:spcPct val="0"/>
                </a:spcBef>
              </a:pP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project focuses on improving </a:t>
              </a:r>
              <a:r>
                <a:rPr lang="en-US" b="true" sz="1993" strike="noStrike" u="none">
                  <a:solidFill>
                    <a:srgbClr val="0D3B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IT ticket handling processes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including ticket resolution protocols, customer communication, and escalation procedures to enhance efficiency and satisfaction.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619750"/>
            <a:ext cx="4010025" cy="3028950"/>
            <a:chOff x="0" y="0"/>
            <a:chExt cx="5346700" cy="40386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0D3B6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Out-of-Scope Areas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73175"/>
              <a:ext cx="5346700" cy="2765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91"/>
                </a:lnSpc>
                <a:spcBef>
                  <a:spcPct val="0"/>
                </a:spcBef>
              </a:pP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Out-of-scope areas include </a:t>
              </a:r>
              <a:r>
                <a:rPr lang="en-US" b="true" sz="1993" strike="noStrike" u="none">
                  <a:solidFill>
                    <a:srgbClr val="0D3B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hardware issues</a:t>
              </a: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third-party vendor interactions, and network outages, ensuring that the project remains focused on internal ticket management without external complexities.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619750"/>
            <a:ext cx="4010025" cy="3295650"/>
            <a:chOff x="0" y="0"/>
            <a:chExt cx="5346700" cy="43942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0D3B6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Methodology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235075"/>
              <a:ext cx="5346700" cy="315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91"/>
                </a:lnSpc>
                <a:spcBef>
                  <a:spcPct val="0"/>
                </a:spcBef>
              </a:pPr>
              <a:r>
                <a:rPr lang="en-US" sz="1993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DMAIC approach facilitates structured problem-solving, encompassing defining the problem, measuring current performance, analyzing root causes, implementing improvements, and controlling future processes for sustained success.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71450"/>
              <a:ext cx="22606000" cy="1779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Project Scope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799" strike="noStrike" u="none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Defining Boundaries and Objectives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0D3B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0D3B6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6886575" cy="2343150"/>
            <a:chOff x="0" y="0"/>
            <a:chExt cx="9182100" cy="3124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0D3B6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Inefficient Ticket Handling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93800"/>
              <a:ext cx="9182100" cy="193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current IT ticket handling process is marked by delays, resulting in prolonged resolution times that impact service quality and overall customer satisfaction significantly.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038850"/>
            <a:ext cx="6886575" cy="2343150"/>
            <a:chOff x="0" y="0"/>
            <a:chExt cx="9182100" cy="31242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0D3B6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Project Goals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800"/>
              <a:ext cx="9182100" cy="193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Our project aims to reduce ticket resolution time by 30%, improve First Contact Resolution (FCR) to 80%, and enhance customer satisfaction ratings by 15% within six months.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71450"/>
              <a:ext cx="22606000" cy="1779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Problem Statement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0D3B6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Identifying Key Process Inefficiencies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0D3B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0D3B6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619750"/>
            <a:ext cx="4010025" cy="3267075"/>
            <a:chOff x="0" y="0"/>
            <a:chExt cx="5346700" cy="43561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0D3B6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Customer Feedback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235075"/>
              <a:ext cx="5346700" cy="312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64"/>
                </a:lnSpc>
                <a:spcBef>
                  <a:spcPct val="0"/>
                </a:spcBef>
              </a:pPr>
              <a:r>
                <a:rPr lang="en-US" sz="2220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Comprehensive customer feedback was gathered through various channels, including surveys and interviews, to understand pain points and expectations regarding the IT ticket handling process.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619750"/>
            <a:ext cx="4010025" cy="3295650"/>
            <a:chOff x="0" y="0"/>
            <a:chExt cx="5346700" cy="43942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0D3B6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Complaint Analysis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73175"/>
              <a:ext cx="5346700" cy="312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64"/>
                </a:lnSpc>
                <a:spcBef>
                  <a:spcPct val="0"/>
                </a:spcBef>
              </a:pPr>
              <a:r>
                <a:rPr lang="en-US" sz="2220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Analyzing complaints revealed recurring themes, particularly regarding long resolution times and lack of communication, which highlighted critical areas needing improvement for enhancing customer satisfaction.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619750"/>
            <a:ext cx="4010025" cy="3267075"/>
            <a:chOff x="0" y="0"/>
            <a:chExt cx="5346700" cy="43561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0D3B6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Focus Group Insights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235075"/>
              <a:ext cx="5346700" cy="312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64"/>
                </a:lnSpc>
                <a:spcBef>
                  <a:spcPct val="0"/>
                </a:spcBef>
              </a:pPr>
              <a:r>
                <a:rPr lang="en-US" sz="2220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Focus groups provided qualitative insights on customer experiences, allowing us to identify specific needs and expectations that informed our process improvement initiatives for IT ticket handling.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71450"/>
              <a:ext cx="22606000" cy="1779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Voice of Customer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799" strike="noStrike" u="none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Gathering Insights on Customer Needs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0D3B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0D3B6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0D3B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0D3B66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4" id="4"/>
          <p:cNvGraphicFramePr/>
          <p:nvPr/>
        </p:nvGraphicFramePr>
        <p:xfrm>
          <a:off x="1028700" y="4737735"/>
          <a:ext cx="3771900" cy="4400550"/>
        </p:xfrm>
        <a:graphic>
          <a:graphicData uri="http://schemas.openxmlformats.org/presentationml/2006/ole">
            <p:oleObj imgW="4648200" imgH="5270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5" id="5"/>
          <p:cNvGrpSpPr/>
          <p:nvPr/>
        </p:nvGrpSpPr>
        <p:grpSpPr>
          <a:xfrm rot="0">
            <a:off x="304800" y="994410"/>
            <a:ext cx="16954500" cy="2209800"/>
            <a:chOff x="0" y="0"/>
            <a:chExt cx="22606000" cy="29464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22606000" cy="1779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Basel</a:t>
              </a:r>
              <a:r>
                <a:rPr lang="en-US" sz="9600" spc="-192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ine Performance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799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                               B</a:t>
              </a:r>
              <a:r>
                <a:rPr lang="en-US" sz="2799" strike="noStrike" u="none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a</a:t>
              </a:r>
              <a:r>
                <a:rPr lang="en-US" sz="2799" strike="noStrike" u="none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s</a:t>
              </a:r>
              <a:r>
                <a:rPr lang="en-US" sz="2799" strike="noStrike" u="none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e</a:t>
              </a:r>
              <a:r>
                <a:rPr lang="en-US" sz="2799" strike="noStrike" u="none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l</a:t>
              </a:r>
              <a:r>
                <a:rPr lang="en-US" sz="2799" strike="noStrike" u="none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in</a:t>
              </a:r>
              <a:r>
                <a:rPr lang="en-US" sz="2799" strike="noStrike" u="none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e</a:t>
              </a:r>
              <a:r>
                <a:rPr lang="en-US" sz="2799" strike="noStrike" u="none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 </a:t>
              </a:r>
              <a:r>
                <a:rPr lang="en-US" sz="2799" strike="noStrike" u="none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Da</a:t>
              </a:r>
              <a:r>
                <a:rPr lang="en-US" sz="2799" strike="noStrike" u="none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t</a:t>
              </a:r>
              <a:r>
                <a:rPr lang="en-US" sz="2799" strike="noStrike" u="none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a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629964" y="4829175"/>
            <a:ext cx="6502824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b="true" sz="2600">
                <a:solidFill>
                  <a:srgbClr val="0D3B66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Average resolution time is 9.75 days, with nearly 29% of tickets experiencing delays.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142292"/>
            <a:ext cx="6888718" cy="4002416"/>
          </a:xfrm>
          <a:custGeom>
            <a:avLst/>
            <a:gdLst/>
            <a:ahLst/>
            <a:cxnLst/>
            <a:rect r="r" b="b" t="t" l="l"/>
            <a:pathLst>
              <a:path h="4002416" w="6888718">
                <a:moveTo>
                  <a:pt x="0" y="0"/>
                </a:moveTo>
                <a:lnTo>
                  <a:pt x="6888718" y="0"/>
                </a:lnTo>
                <a:lnTo>
                  <a:pt x="6888718" y="4002416"/>
                </a:lnTo>
                <a:lnTo>
                  <a:pt x="0" y="4002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804" r="0" b="-84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964511" y="980571"/>
            <a:ext cx="8294789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9"/>
              </a:lnSpc>
              <a:spcBef>
                <a:spcPct val="0"/>
              </a:spcBef>
            </a:pPr>
            <a:r>
              <a:rPr lang="en-US" sz="6399" spc="-127">
                <a:solidFill>
                  <a:srgbClr val="0D3B66"/>
                </a:solidFill>
                <a:latin typeface="Noto Serif Display ExtraCondensed"/>
                <a:ea typeface="Noto Serif Display ExtraCondensed"/>
                <a:cs typeface="Noto Serif Display ExtraCondensed"/>
                <a:sym typeface="Noto Serif Display ExtraCondensed"/>
              </a:rPr>
              <a:t>Pareto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64511" y="1837821"/>
            <a:ext cx="8294789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3600" strike="noStrik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Identifying Key Delay Reasons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64511" y="7098113"/>
            <a:ext cx="8294789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 strike="noStrik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Priority Levels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64511" y="7717560"/>
            <a:ext cx="8294789" cy="154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sz="2060" strike="noStrik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By evaluating priority levels, we find that </a:t>
            </a:r>
            <a:r>
              <a:rPr lang="en-US" sz="2060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high-priority tickets experience longer resolution times when compounded by workload variations, indicating a need for better resource allocation and management strategies.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64511" y="5035402"/>
            <a:ext cx="8294789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 strike="noStrik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Frequency Distribution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64511" y="5652622"/>
            <a:ext cx="8294789" cy="11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sz="2060" strike="noStrik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A frequency distribution highlights that </a:t>
            </a:r>
            <a:r>
              <a:rPr lang="en-US" sz="2060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over 70% of delays stem from just a few key issues, underscoring the importance of targeted interventions to enhance efficiency and service delivery.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64511" y="2972692"/>
            <a:ext cx="8294789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 strike="noStrik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Delay Factors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64511" y="3589912"/>
            <a:ext cx="8294789" cy="11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sz="2060" strike="noStrike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Analyzing delay factors reveals that </a:t>
            </a:r>
            <a:r>
              <a:rPr lang="en-US" sz="2060">
                <a:solidFill>
                  <a:srgbClr val="0D3B66"/>
                </a:solidFill>
                <a:latin typeface="HK Grotesk"/>
                <a:ea typeface="HK Grotesk"/>
                <a:cs typeface="HK Grotesk"/>
                <a:sym typeface="HK Grotesk"/>
              </a:rPr>
              <a:t>password resets and access requests are the primary contributors to ticket delays, significantly impacting overall resolution times and customer satisfaction.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619750"/>
            <a:ext cx="4010025" cy="3028950"/>
            <a:chOff x="0" y="0"/>
            <a:chExt cx="5346700" cy="40386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5346700" cy="50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65"/>
                </a:lnSpc>
                <a:spcBef>
                  <a:spcPct val="0"/>
                </a:spcBef>
              </a:pPr>
              <a:r>
                <a:rPr lang="en-US" b="true" sz="2554" strike="noStrike" u="none">
                  <a:solidFill>
                    <a:srgbClr val="0D3B6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Priority Impact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93800"/>
              <a:ext cx="5346700" cy="284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71"/>
                </a:lnSpc>
                <a:spcBef>
                  <a:spcPct val="0"/>
                </a:spcBef>
              </a:pPr>
              <a:r>
                <a:rPr lang="en-US" sz="2059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Higher priority tickets show increased resolution times, with technicians overwhelmed by urgent requests. This pattern highlights the need for streamlined processes to minimize delays in ticket handling.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619750"/>
            <a:ext cx="4010025" cy="3362325"/>
            <a:chOff x="0" y="0"/>
            <a:chExt cx="5346700" cy="44831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5346700" cy="50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65"/>
                </a:lnSpc>
                <a:spcBef>
                  <a:spcPct val="0"/>
                </a:spcBef>
              </a:pPr>
              <a:r>
                <a:rPr lang="en-US" b="true" sz="2554" strike="noStrike" u="none">
                  <a:solidFill>
                    <a:srgbClr val="0D3B6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Technician Workload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31900"/>
              <a:ext cx="5346700" cy="325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71"/>
                </a:lnSpc>
                <a:spcBef>
                  <a:spcPct val="0"/>
                </a:spcBef>
              </a:pPr>
              <a:r>
                <a:rPr lang="en-US" sz="2059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Workload variations among technicians can cause inconsistencies in resolution times. Addressing these disparities through balanced ticket assignments can significantly enhance overall efficiency and performance.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619750"/>
            <a:ext cx="4010025" cy="3028950"/>
            <a:chOff x="0" y="0"/>
            <a:chExt cx="5346700" cy="40386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346700" cy="50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65"/>
                </a:lnSpc>
                <a:spcBef>
                  <a:spcPct val="0"/>
                </a:spcBef>
              </a:pPr>
              <a:r>
                <a:rPr lang="en-US" b="true" sz="2554" strike="noStrike" u="none">
                  <a:solidFill>
                    <a:srgbClr val="0D3B6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Improvement Opportunities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93800"/>
              <a:ext cx="5346700" cy="284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71"/>
                </a:lnSpc>
                <a:spcBef>
                  <a:spcPct val="0"/>
                </a:spcBef>
              </a:pPr>
              <a:r>
                <a:rPr lang="en-US" sz="2059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Analyzing priority and workload variations reveals potential improvements. Implementing targeted training and support can help technicians manage their tasks more effectively, leading to better customer satisfaction.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2171700"/>
            <a:chOff x="0" y="0"/>
            <a:chExt cx="22606000" cy="28956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71450"/>
              <a:ext cx="22606000" cy="1779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Resolution Times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378075"/>
              <a:ext cx="22606000" cy="517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65"/>
                </a:lnSpc>
              </a:pPr>
              <a:r>
                <a:rPr lang="en-US" sz="2554" strike="noStrike" u="none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Analyzing Workload and Prioritization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0D3B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0D3B6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5300" y="-280630"/>
            <a:ext cx="19278600" cy="5568347"/>
            <a:chOff x="0" y="0"/>
            <a:chExt cx="6521403" cy="1883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21403" cy="1883614"/>
            </a:xfrm>
            <a:custGeom>
              <a:avLst/>
              <a:gdLst/>
              <a:ahLst/>
              <a:cxnLst/>
              <a:rect r="r" b="b" t="t" l="l"/>
              <a:pathLst>
                <a:path h="1883614" w="6521403">
                  <a:moveTo>
                    <a:pt x="0" y="0"/>
                  </a:moveTo>
                  <a:lnTo>
                    <a:pt x="6521403" y="0"/>
                  </a:lnTo>
                  <a:lnTo>
                    <a:pt x="6521403" y="1883614"/>
                  </a:lnTo>
                  <a:lnTo>
                    <a:pt x="0" y="1883614"/>
                  </a:lnTo>
                  <a:close/>
                </a:path>
              </a:pathLst>
            </a:custGeom>
            <a:solidFill>
              <a:srgbClr val="EDE5D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28700"/>
            <a:ext cx="10038045" cy="2306040"/>
            <a:chOff x="0" y="0"/>
            <a:chExt cx="13384061" cy="307471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57150"/>
              <a:ext cx="11564163" cy="1398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20"/>
                </a:lnSpc>
                <a:spcBef>
                  <a:spcPct val="0"/>
                </a:spcBef>
              </a:pPr>
              <a:r>
                <a:rPr lang="en-US" sz="7200" spc="-144" strike="noStrike" u="none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Root Cause Analysis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269539"/>
              <a:ext cx="13384061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40"/>
                </a:lnSpc>
                <a:spcBef>
                  <a:spcPct val="0"/>
                </a:spcBef>
              </a:pPr>
              <a:r>
                <a:rPr lang="en-US" sz="3600" spc="-72" strike="noStrike" u="none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Understanding Delays in Ticket Handling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6514703"/>
            <a:ext cx="7442331" cy="2420503"/>
            <a:chOff x="0" y="0"/>
            <a:chExt cx="9923108" cy="322733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927190"/>
              <a:ext cx="9923108" cy="2300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83"/>
                </a:lnSpc>
                <a:spcBef>
                  <a:spcPct val="0"/>
                </a:spcBef>
              </a:pPr>
              <a:r>
                <a:rPr lang="en-US" sz="2488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Human error and lack of training contribute significantly to delays in ticket resolution. Employees require ongoing education to enhance their skills and knowledge about the ticketing system.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76200"/>
              <a:ext cx="9923108" cy="7057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23"/>
                </a:lnSpc>
                <a:spcBef>
                  <a:spcPct val="0"/>
                </a:spcBef>
              </a:pPr>
              <a:r>
                <a:rPr lang="en-US" sz="3159" spc="-63" strike="noStrike" u="none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People Factors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32620" y="6514703"/>
            <a:ext cx="7442331" cy="2391928"/>
            <a:chOff x="0" y="0"/>
            <a:chExt cx="9923108" cy="318923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889090"/>
              <a:ext cx="9923108" cy="2300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83"/>
                </a:lnSpc>
                <a:spcBef>
                  <a:spcPct val="0"/>
                </a:spcBef>
              </a:pPr>
              <a:r>
                <a:rPr lang="en-US" sz="2488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Outdated processes often lead to bottlenecks in ticket handling. Regular review and optimization of these workflows are essential to streamline operations and improve overall efficiency.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76200"/>
              <a:ext cx="9923108" cy="7057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23"/>
                </a:lnSpc>
                <a:spcBef>
                  <a:spcPct val="0"/>
                </a:spcBef>
              </a:pPr>
              <a:r>
                <a:rPr lang="en-US" sz="3159" spc="-63" strike="noStrike" u="none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Process Inefficiencies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91273" y="0"/>
            <a:ext cx="5996727" cy="5255863"/>
            <a:chOff x="0" y="0"/>
            <a:chExt cx="927372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7372" cy="812800"/>
            </a:xfrm>
            <a:custGeom>
              <a:avLst/>
              <a:gdLst/>
              <a:ahLst/>
              <a:cxnLst/>
              <a:rect r="r" b="b" t="t" l="l"/>
              <a:pathLst>
                <a:path h="812800" w="927372">
                  <a:moveTo>
                    <a:pt x="0" y="0"/>
                  </a:moveTo>
                  <a:lnTo>
                    <a:pt x="927372" y="0"/>
                  </a:lnTo>
                  <a:lnTo>
                    <a:pt x="927372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8430" t="0" r="-843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67800" y="3051247"/>
            <a:ext cx="7835900" cy="4184505"/>
            <a:chOff x="0" y="0"/>
            <a:chExt cx="10447867" cy="557934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4450099"/>
              <a:ext cx="10447867" cy="11292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Comprehensive training programs were implemented for technicians, equipping them with essential skills and knowledge, resulting in increased efficiency and better handling of ticket resolutions.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863405"/>
              <a:ext cx="10447867" cy="11292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 enhanced knowledge base was created, providing staff with quick access to information and solutions, which reduced ticket volume and improved resolution times for common issues.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86694"/>
              <a:ext cx="10447867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0D3B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Training Programs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0"/>
              <a:ext cx="10447867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0D3B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Knowledge Base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84300" y="3654857"/>
            <a:ext cx="5280172" cy="2977287"/>
            <a:chOff x="0" y="0"/>
            <a:chExt cx="7040229" cy="396971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00025"/>
              <a:ext cx="7040229" cy="2379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47"/>
                </a:lnSpc>
                <a:spcBef>
                  <a:spcPct val="0"/>
                </a:spcBef>
              </a:pPr>
              <a:r>
                <a:rPr lang="en-US" sz="7275" spc="-145" strike="noStrike" u="none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Implemented Solutions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969590"/>
              <a:ext cx="7040229" cy="1000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Enhancements for IT Ticket Handling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flipV="true">
            <a:off x="7521575" y="-504394"/>
            <a:ext cx="0" cy="18267368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13898" y="2873240"/>
            <a:ext cx="10260205" cy="4540519"/>
            <a:chOff x="0" y="0"/>
            <a:chExt cx="13680273" cy="605402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491486"/>
              <a:ext cx="13680273" cy="22532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3716"/>
                </a:lnSpc>
              </a:pPr>
              <a:r>
                <a:rPr lang="en-US" sz="10800" spc="-216" strike="noStrike">
                  <a:solidFill>
                    <a:srgbClr val="0D3B66"/>
                  </a:solidFill>
                  <a:latin typeface="Noto Serif Display ExtraCondensed"/>
                  <a:ea typeface="Noto Serif Display ExtraCondensed"/>
                  <a:cs typeface="Noto Serif Display ExtraCondensed"/>
                  <a:sym typeface="Noto Serif Display ExtraCondensed"/>
                </a:rPr>
                <a:t>85%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446043" y="-57150"/>
              <a:ext cx="10788187" cy="512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17"/>
                </a:lnSpc>
                <a:spcBef>
                  <a:spcPct val="0"/>
                </a:spcBef>
              </a:pPr>
              <a:r>
                <a:rPr lang="en-US" sz="2298" strike="noStrik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Reduction in Resolution Time</a:t>
              </a:r>
            </a:p>
          </p:txBody>
        </p:sp>
        <p:sp>
          <p:nvSpPr>
            <p:cNvPr name="AutoShape 5" id="5"/>
            <p:cNvSpPr/>
            <p:nvPr/>
          </p:nvSpPr>
          <p:spPr>
            <a:xfrm rot="0">
              <a:off x="197061" y="821853"/>
              <a:ext cx="13286151" cy="118335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name="AutoShape 6" id="6"/>
            <p:cNvSpPr/>
            <p:nvPr/>
          </p:nvSpPr>
          <p:spPr>
            <a:xfrm rot="0">
              <a:off x="197061" y="4121061"/>
              <a:ext cx="13286151" cy="118335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446043" y="4819586"/>
              <a:ext cx="10788187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pilot project demonstrated an </a:t>
              </a:r>
              <a:r>
                <a:rPr lang="en-US" sz="1800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85% reduction in resolution time, significantly enhancing efficiency and customer satisfaction, and showcasing the effectiveness of the implemented solutions in the IT ticket handling process.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6886575" cy="2705100"/>
            <a:chOff x="0" y="0"/>
            <a:chExt cx="9182100" cy="36068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0D3B6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KPI Monitoring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Regular monitoring of key performance indicators (KPIs) is essential to ensure sustained improvements. Dashboards will provide real-time insights into IT ticket handling performance and trends.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038850"/>
            <a:ext cx="6886575" cy="2705100"/>
            <a:chOff x="0" y="0"/>
            <a:chExt cx="9182100" cy="36068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0D3B66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Audit Procedures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Scheduled audits will assess the effectiveness of current processes and compliance with updated standard operating procedures (SOPs), ensuring adherence to quality standards and identifying areas for further enhancement.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71450"/>
              <a:ext cx="22606000" cy="1779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Control Plan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799" strike="noStrike" u="none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Ensuring Continuous Improvement and Quality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0D3B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0D3B6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56042" y="1832049"/>
            <a:ext cx="4603258" cy="6270478"/>
            <a:chOff x="0" y="0"/>
            <a:chExt cx="6137678" cy="836063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5561347"/>
              <a:ext cx="6137678" cy="2799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Frequent reviews of key performance indicators allow for proactive adjustments to processes, ensuring sustained compliance with goals and continuous improvement of ticket handling efficiency and customer satisfaction.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818954"/>
              <a:ext cx="6137678" cy="2329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Regular training sessions equip team members with the latest best practices, fostering a culture of excellence and ensuring efficient IT ticket handling processes are consistently maintained.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666193"/>
              <a:ext cx="6137678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50"/>
                </a:lnSpc>
                <a:spcBef>
                  <a:spcPct val="0"/>
                </a:spcBef>
              </a:pPr>
              <a:r>
                <a:rPr lang="en-US" sz="2500" strike="noStrik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KPI Reviews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76200"/>
              <a:ext cx="6137678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50"/>
                </a:lnSpc>
                <a:spcBef>
                  <a:spcPct val="0"/>
                </a:spcBef>
              </a:pPr>
              <a:r>
                <a:rPr lang="en-US" sz="2500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Continuous Training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4222071"/>
            <a:ext cx="8836146" cy="1842859"/>
            <a:chOff x="0" y="0"/>
            <a:chExt cx="11781529" cy="245714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11781529" cy="1533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00"/>
                </a:lnSpc>
                <a:spcBef>
                  <a:spcPct val="0"/>
                </a:spcBef>
              </a:pPr>
              <a:r>
                <a:rPr lang="en-US" sz="7500" spc="-150" strike="noStrike" u="none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Sustainability Actions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771345"/>
              <a:ext cx="11781529" cy="685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0D3B66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Ensuring Long-Term Performance and Improvement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flipV="true">
            <a:off x="11344464" y="0"/>
            <a:ext cx="0" cy="1028700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5300" y="-280630"/>
            <a:ext cx="19278600" cy="5568347"/>
            <a:chOff x="0" y="0"/>
            <a:chExt cx="6521403" cy="1883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21403" cy="1883614"/>
            </a:xfrm>
            <a:custGeom>
              <a:avLst/>
              <a:gdLst/>
              <a:ahLst/>
              <a:cxnLst/>
              <a:rect r="r" b="b" t="t" l="l"/>
              <a:pathLst>
                <a:path h="1883614" w="6521403">
                  <a:moveTo>
                    <a:pt x="0" y="0"/>
                  </a:moveTo>
                  <a:lnTo>
                    <a:pt x="6521403" y="0"/>
                  </a:lnTo>
                  <a:lnTo>
                    <a:pt x="6521403" y="1883614"/>
                  </a:lnTo>
                  <a:lnTo>
                    <a:pt x="0" y="188361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28700"/>
            <a:ext cx="10038045" cy="2306040"/>
            <a:chOff x="0" y="0"/>
            <a:chExt cx="13384061" cy="307471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57150"/>
              <a:ext cx="11564163" cy="1398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20"/>
                </a:lnSpc>
                <a:spcBef>
                  <a:spcPct val="0"/>
                </a:spcBef>
              </a:pPr>
              <a:r>
                <a:rPr lang="en-US" sz="7200" spc="-144" u="none">
                  <a:solidFill>
                    <a:srgbClr val="F7F7F7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Benefits and Lessons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269539"/>
              <a:ext cx="13384061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40"/>
                </a:lnSpc>
                <a:spcBef>
                  <a:spcPct val="0"/>
                </a:spcBef>
              </a:pPr>
              <a:r>
                <a:rPr lang="en-US" sz="3600" strike="noStrike" u="none">
                  <a:solidFill>
                    <a:srgbClr val="F7F7F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Key Takeaways from the Project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6514703"/>
            <a:ext cx="7442331" cy="2383086"/>
            <a:chOff x="0" y="0"/>
            <a:chExt cx="9923108" cy="3177449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927190"/>
              <a:ext cx="9923108" cy="2250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46"/>
                </a:lnSpc>
                <a:spcBef>
                  <a:spcPct val="0"/>
                </a:spcBef>
              </a:pPr>
              <a:r>
                <a:rPr lang="en-US" sz="2461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project resulted in </a:t>
              </a:r>
              <a:r>
                <a:rPr lang="en-US" sz="2461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significant improvements such as reduced SLA penalties, increased productivity, and enhanced customer satisfaction, ultimately leading to better service quality and improved team morale.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9923108" cy="69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23"/>
                </a:lnSpc>
                <a:spcBef>
                  <a:spcPct val="0"/>
                </a:spcBef>
              </a:pPr>
              <a:r>
                <a:rPr lang="en-US" sz="3159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Achieved Benefits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32620" y="6514703"/>
            <a:ext cx="7442331" cy="2354511"/>
            <a:chOff x="0" y="0"/>
            <a:chExt cx="9923108" cy="3139349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889090"/>
              <a:ext cx="9923108" cy="2250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46"/>
                </a:lnSpc>
                <a:spcBef>
                  <a:spcPct val="0"/>
                </a:spcBef>
              </a:pPr>
              <a:r>
                <a:rPr lang="en-US" sz="2461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Key success factors included strong </a:t>
              </a:r>
              <a:r>
                <a:rPr lang="en-US" sz="2461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executive support and effective pilot testing, while challenges such as change resistance and data quality highlighted areas for further improvement in future projects.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9923108" cy="69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23"/>
                </a:lnSpc>
                <a:spcBef>
                  <a:spcPct val="0"/>
                </a:spcBef>
              </a:pPr>
              <a:r>
                <a:rPr lang="en-US" sz="3159" strike="noStrike" u="none">
                  <a:solidFill>
                    <a:srgbClr val="0D3B66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Lessons Learned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91273" y="0"/>
            <a:ext cx="5996727" cy="5255863"/>
            <a:chOff x="0" y="0"/>
            <a:chExt cx="927372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7372" cy="812800"/>
            </a:xfrm>
            <a:custGeom>
              <a:avLst/>
              <a:gdLst/>
              <a:ahLst/>
              <a:cxnLst/>
              <a:rect r="r" b="b" t="t" l="l"/>
              <a:pathLst>
                <a:path h="812800" w="927372">
                  <a:moveTo>
                    <a:pt x="0" y="0"/>
                  </a:moveTo>
                  <a:lnTo>
                    <a:pt x="927372" y="0"/>
                  </a:lnTo>
                  <a:lnTo>
                    <a:pt x="927372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15734" t="0" r="-15734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198308" y="2965450"/>
            <a:ext cx="6357253" cy="450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599"/>
              </a:lnSpc>
            </a:pPr>
            <a:r>
              <a:rPr lang="en-US" sz="15999" spc="-319">
                <a:solidFill>
                  <a:srgbClr val="0D3B66"/>
                </a:solidFill>
                <a:latin typeface="Crimson Pro"/>
                <a:ea typeface="Crimson Pro"/>
                <a:cs typeface="Crimson Pro"/>
                <a:sym typeface="Crimson Pro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36914" y="1365479"/>
            <a:ext cx="7556073" cy="7556043"/>
            <a:chOff x="0" y="0"/>
            <a:chExt cx="6350000" cy="63499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890" t="0" r="-89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Six Sigma</dc:description>
  <dc:identifier>DAG-PcMQdsQ</dc:identifier>
  <dcterms:modified xsi:type="dcterms:W3CDTF">2011-08-01T06:04:30Z</dcterms:modified>
  <cp:revision>1</cp:revision>
  <dc:title>Presentation - Six Sigma Project</dc:title>
</cp:coreProperties>
</file>